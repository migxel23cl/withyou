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3182376fa_0_0:notes"/>
          <p:cNvSpPr txBox="1">
            <a:spLocks noGrp="1"/>
          </p:cNvSpPr>
          <p:nvPr>
            <p:ph type="body" idx="1"/>
          </p:nvPr>
        </p:nvSpPr>
        <p:spPr>
          <a:xfrm>
            <a:off x="685583" y="4400004"/>
            <a:ext cx="5486700" cy="36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22700" rIns="45425" bIns="22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endParaRPr/>
          </a:p>
        </p:txBody>
      </p:sp>
      <p:sp>
        <p:nvSpPr>
          <p:cNvPr id="68" name="Google Shape;68;g383182376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71659" y="1143642"/>
            <a:ext cx="2314800" cy="3085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63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8319dd5654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8319dd5654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80"/>
            <a:ext cx="9143683" cy="514331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ctrTitle"/>
          </p:nvPr>
        </p:nvSpPr>
        <p:spPr>
          <a:xfrm>
            <a:off x="1290910" y="3957015"/>
            <a:ext cx="30846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7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1290910" y="4371687"/>
            <a:ext cx="3962700" cy="1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1290910" y="4304541"/>
            <a:ext cx="4022703" cy="0"/>
          </a:xfrm>
          <a:custGeom>
            <a:avLst/>
            <a:gdLst/>
            <a:ahLst/>
            <a:cxnLst/>
            <a:rect l="l" t="t" r="r" b="b"/>
            <a:pathLst>
              <a:path w="8841105" h="120000" extrusionOk="0">
                <a:moveTo>
                  <a:pt x="0" y="0"/>
                </a:moveTo>
                <a:lnTo>
                  <a:pt x="8840652" y="0"/>
                </a:lnTo>
              </a:path>
            </a:pathLst>
          </a:custGeom>
          <a:noFill/>
          <a:ln w="47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-2888" y="298402"/>
            <a:ext cx="1020772" cy="482505"/>
          </a:xfrm>
          <a:custGeom>
            <a:avLst/>
            <a:gdLst/>
            <a:ahLst/>
            <a:cxnLst/>
            <a:rect l="l" t="t" r="r" b="b"/>
            <a:pathLst>
              <a:path w="2243455" h="1060450" extrusionOk="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7704146" y="4640017"/>
            <a:ext cx="717111" cy="232585"/>
          </a:xfrm>
          <a:custGeom>
            <a:avLst/>
            <a:gdLst/>
            <a:ahLst/>
            <a:cxnLst/>
            <a:rect l="l" t="t" r="r" b="b"/>
            <a:pathLst>
              <a:path w="1576069" h="511175" extrusionOk="0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 extrusionOk="0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 extrusionOk="0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 extrusionOk="0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8470593" y="4659573"/>
            <a:ext cx="172199" cy="213804"/>
          </a:xfrm>
          <a:custGeom>
            <a:avLst/>
            <a:gdLst/>
            <a:ahLst/>
            <a:cxnLst/>
            <a:rect l="l" t="t" r="r" b="b"/>
            <a:pathLst>
              <a:path w="378459" h="469900" extrusionOk="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" name="Google Shape;60;p14"/>
          <p:cNvGrpSpPr/>
          <p:nvPr/>
        </p:nvGrpSpPr>
        <p:grpSpPr>
          <a:xfrm>
            <a:off x="8665722" y="4601531"/>
            <a:ext cx="194206" cy="271780"/>
            <a:chOff x="19053919" y="10117702"/>
            <a:chExt cx="427015" cy="597582"/>
          </a:xfrm>
        </p:grpSpPr>
        <p:sp>
          <p:nvSpPr>
            <p:cNvPr id="61" name="Google Shape;61;p14"/>
            <p:cNvSpPr/>
            <p:nvPr/>
          </p:nvSpPr>
          <p:spPr>
            <a:xfrm>
              <a:off x="19053919" y="10237764"/>
              <a:ext cx="366394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 extrusionOk="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" name="Google Shape;62;p1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9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2180581" y="3160899"/>
            <a:ext cx="4449300" cy="6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ctrTitle"/>
          </p:nvPr>
        </p:nvSpPr>
        <p:spPr>
          <a:xfrm>
            <a:off x="1290896" y="3957025"/>
            <a:ext cx="43587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s"/>
              <a:t>APP de Accesibilidad Adulto Mayor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br>
              <a:rPr lang="es" sz="1700"/>
            </a:br>
            <a:endParaRPr sz="1700"/>
          </a:p>
        </p:txBody>
      </p:sp>
      <p:sp>
        <p:nvSpPr>
          <p:cNvPr id="71" name="Google Shape;71;p16"/>
          <p:cNvSpPr txBox="1">
            <a:spLocks noGrp="1"/>
          </p:cNvSpPr>
          <p:nvPr>
            <p:ph type="subTitle" idx="1"/>
          </p:nvPr>
        </p:nvSpPr>
        <p:spPr>
          <a:xfrm>
            <a:off x="1290900" y="4371665"/>
            <a:ext cx="3962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" sz="700" b="1"/>
              <a:t>Profesor: Aldo Martinez</a:t>
            </a:r>
            <a:endParaRPr sz="700"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" sz="700" b="1"/>
              <a:t>Integrantes: Miguel Pereira, Baltazar Ordoñez, Jose Luis Donoso, Joaquin Mendoza</a:t>
            </a:r>
            <a:endParaRPr sz="13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 b="1">
                <a:solidFill>
                  <a:srgbClr val="1A1A1A"/>
                </a:solidFill>
                <a:latin typeface="Arial"/>
              </a:rPr>
              <a:t>Índice</a:t>
            </a:r>
            <a:endParaRPr b="1"/>
          </a:p>
        </p:txBody>
      </p:sp>
      <p:sp>
        <p:nvSpPr>
          <p:cNvPr id="77" name="TextBox 76"/>
          <p:cNvSpPr txBox="1"/>
          <p:nvPr/>
        </p:nvSpPr>
        <p:spPr>
          <a:xfrm>
            <a:off x="502920" y="1097280"/>
            <a:ext cx="38404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1. Introducción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2. Contexto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3. Problemática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4. Solución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5. Metodología / Plan / Roles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6. Mapa Tecnológico / Arquitectura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09159" y="1097280"/>
            <a:ext cx="38404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7. Competencias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8. Riesgos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9. Seguridad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10. Modelo de Negocio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11. Mockup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12. Conclusión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Introducción</a:t>
            </a:r>
            <a:endParaRPr b="1"/>
          </a:p>
        </p:txBody>
      </p:sp>
      <p:sp>
        <p:nvSpPr>
          <p:cNvPr id="77" name="TextBox 76"/>
          <p:cNvSpPr txBox="1"/>
          <p:nvPr/>
        </p:nvSpPr>
        <p:spPr>
          <a:xfrm>
            <a:off x="502920" y="1005840"/>
            <a:ext cx="813816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El uso de smartphones se ha vuelto esencial para comunicarse, acceder a información y gestionar actividades cotidianas, pero no todas las personas pueden utilizarlos con la misma facilidad.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Los adultos mayores enfrentan barreras visuales, motoras, cognitivas y de familiaridad tecnológica que dificultan su interacción con interfaces complejas.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Una revisión sistemática (Amouzadeh et al., 2025) analizó 132 estudios sobre diseño de apps para mayores de 60 años, identificando la navegación simplificada, los objetivos táctiles grandes y la interacción por voz como elementos clave.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43D73"/>
                </a:solidFill>
                <a:latin typeface="Arial"/>
              </a:rPr>
              <a:t>A partir de este contexto, el proyecto propone una aplicación móvil de accesibilidad para adultos mayores basada en lenguaje natural y comandos de voz.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" y="3749039"/>
            <a:ext cx="8138160" cy="8686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Ins="228600" bIns="128016" rtlCol="0" anchor="ctr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1">
                <a:solidFill>
                  <a:srgbClr val="143D73"/>
                </a:solidFill>
                <a:latin typeface="Arial"/>
              </a:rPr>
              <a:t>Enfoque diferenciador: integrar interacción por voz + lenguaje natural + interfaz simplificada, considerando además la compatibilidad con dispositivos Android de recursos limitados.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Contexto</a:t>
            </a:r>
            <a:endParaRPr b="1"/>
          </a:p>
        </p:txBody>
      </p:sp>
      <p:sp>
        <p:nvSpPr>
          <p:cNvPr id="77" name="TextBox 76"/>
          <p:cNvSpPr txBox="1"/>
          <p:nvPr/>
        </p:nvSpPr>
        <p:spPr>
          <a:xfrm>
            <a:off x="502920" y="100584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43D73"/>
                </a:solidFill>
                <a:latin typeface="Arial"/>
              </a:rPr>
              <a:t>Brecha digital en adultos mayores</a:t>
            </a:r>
          </a:p>
          <a:p>
            <a:pPr marL="182880" indent="-182880" algn="l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El envejecimiento puede afectar capacidades visuales, motoras y cognitivas, generando dificultad para recordar rutas de navegación y temor a cometer errores.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43D73"/>
                </a:solidFill>
                <a:latin typeface="Arial"/>
              </a:rPr>
              <a:t>Accesibilidad ya integrada en los sistemas operativos</a:t>
            </a:r>
          </a:p>
          <a:p>
            <a:pPr marL="182880" indent="-182880" algn="l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Android e iOS incorporan lectores de pantalla, control por voz y modos simplificados (ej. TalkBack, modo fácil de Samsung), pero pensados para discapacidad específica, no para el perfil del adulto mayor.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43D73"/>
                </a:solidFill>
                <a:latin typeface="Arial"/>
              </a:rPr>
              <a:t>Soluciones de terceros parciales</a:t>
            </a:r>
          </a:p>
          <a:p>
            <a:pPr marL="182880" indent="-182880" algn="l">
              <a:lnSpc>
                <a:spcPct val="110000"/>
              </a:lnSpc>
              <a:spcAft>
                <a:spcPts val="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Existen apps de accesibilidad y launchers simplificados, pero abordan necesidades puntuales sin ofrecer una experiencia unificada de control del teléfono.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40680" y="1005840"/>
            <a:ext cx="3200400" cy="320040"/>
          </a:xfrm>
          <a:prstGeom prst="rect">
            <a:avLst/>
          </a:prstGeom>
          <a:solidFill>
            <a:srgbClr val="257CE1"/>
          </a:solidFill>
        </p:spPr>
        <p:txBody>
          <a:bodyPr wrap="square" lIns="109728" tIns="54864" rIns="0" bIns="54864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Cifras del estado del arte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40680" y="146304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57CE1"/>
                </a:solidFill>
                <a:latin typeface="Arial"/>
              </a:rPr>
              <a:t>132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46520" y="150876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estudios analizados sobre diseño de apps para mayores de 60 años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40680" y="242316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57CE1"/>
                </a:solidFill>
                <a:latin typeface="Arial"/>
              </a:rPr>
              <a:t>499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46520" y="246888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estudios revisados sobre asistentes de voz y adultos mayores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40680" y="3383280"/>
            <a:ext cx="1005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57CE1"/>
                </a:solidFill>
                <a:latin typeface="Arial"/>
              </a:rPr>
              <a:t>2M+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46520" y="3429000"/>
            <a:ext cx="22402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555555"/>
                </a:solidFill>
                <a:latin typeface="Arial"/>
              </a:rPr>
              <a:t>usuarios de BIG Launcher, interfaz simplificada para Android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Problemática</a:t>
            </a:r>
            <a:endParaRPr b="1"/>
          </a:p>
        </p:txBody>
      </p:sp>
      <p:sp>
        <p:nvSpPr>
          <p:cNvPr id="77" name="TextBox 76"/>
          <p:cNvSpPr txBox="1"/>
          <p:nvPr/>
        </p:nvSpPr>
        <p:spPr>
          <a:xfrm>
            <a:off x="502920" y="1005840"/>
            <a:ext cx="81381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Arial"/>
              </a:rPr>
              <a:t>Los adultos mayores pueden presentar dificultades al utilizar smartphones debido a la complejidad de sus interfaces, la cantidad de pasos necesarios para realizar tareas y la menor familiaridad con la tecnología.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1">
                <a:solidFill>
                  <a:srgbClr val="555555"/>
                </a:solidFill>
                <a:latin typeface="Arial"/>
              </a:rPr>
              <a:t>Las soluciones existentes suelen abordar sólo un aspecto del problema (interfaz simplificada o control por voz), sin integrar ambos enfoques.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" y="23774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91440" rtlCol="0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143D73"/>
                </a:solidFill>
                <a:latin typeface="Arial"/>
              </a:rPr>
              <a:t>Interfaces complejas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Demasiados pasos y menús para completar tareas simples.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560320" y="23774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91440" rtlCol="0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143D73"/>
                </a:solidFill>
                <a:latin typeface="Arial"/>
              </a:rPr>
              <a:t>Dificultad de navegación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Problemas para recordar rutas dentro de la aplicación.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617720" y="23774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91440" rtlCol="0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143D73"/>
                </a:solidFill>
                <a:latin typeface="Arial"/>
              </a:rPr>
              <a:t>Temor al error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Miedo a realizar acciones incorrectas en el dispositivo.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675120" y="23774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91440" rtlCol="0" anchor="ctr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143D73"/>
                </a:solidFill>
                <a:latin typeface="Arial"/>
              </a:rPr>
              <a:t>Soluciones parciales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Accesibilidad nativa no pensada para el perfil del adulto mayor.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Solución</a:t>
            </a:r>
            <a:endParaRPr b="1"/>
          </a:p>
        </p:txBody>
      </p:sp>
      <p:sp>
        <p:nvSpPr>
          <p:cNvPr id="77" name="TextBox 76"/>
          <p:cNvSpPr txBox="1"/>
          <p:nvPr/>
        </p:nvSpPr>
        <p:spPr>
          <a:xfrm>
            <a:off x="502920" y="960120"/>
            <a:ext cx="8138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555555"/>
                </a:solidFill>
                <a:latin typeface="Arial"/>
              </a:rPr>
              <a:t>Una capa de accesibilidad sobre Android que interpreta lenguaje natural para ejecutar tareas cotidianas.</a:t>
            </a:r>
          </a:p>
        </p:txBody>
      </p:sp>
      <p:sp>
        <p:nvSpPr>
          <p:cNvPr id="78" name="Oval 77"/>
          <p:cNvSpPr/>
          <p:nvPr/>
        </p:nvSpPr>
        <p:spPr>
          <a:xfrm>
            <a:off x="1239012" y="1554480"/>
            <a:ext cx="402336" cy="402336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2084832"/>
            <a:ext cx="187451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143D73"/>
                </a:solidFill>
                <a:latin typeface="Arial"/>
              </a:rPr>
              <a:t>Instrucción hablada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“Quiero poner una alarma para mañana a las ocho.”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359151" y="1746504"/>
            <a:ext cx="155448" cy="0"/>
          </a:xfrm>
          <a:prstGeom prst="line">
            <a:avLst/>
          </a:prstGeom>
          <a:ln w="2540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3232403" y="1554480"/>
            <a:ext cx="402336" cy="402336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96311" y="2084832"/>
            <a:ext cx="187451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143D73"/>
                </a:solidFill>
                <a:latin typeface="Arial"/>
              </a:rPr>
              <a:t>Reconocimiento e interpretación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Voz a texto → identificación de intención y parámetros.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352544" y="1746504"/>
            <a:ext cx="155448" cy="0"/>
          </a:xfrm>
          <a:prstGeom prst="line">
            <a:avLst/>
          </a:prstGeom>
          <a:ln w="2540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5225795" y="1554480"/>
            <a:ext cx="402336" cy="402336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89703" y="2084832"/>
            <a:ext cx="187451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143D73"/>
                </a:solidFill>
                <a:latin typeface="Arial"/>
              </a:rPr>
              <a:t>Confirmación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“Entendí que quieres una alarma para mañana a las ocho. ¿La configuro?”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345936" y="1746504"/>
            <a:ext cx="155447" cy="0"/>
          </a:xfrm>
          <a:prstGeom prst="line">
            <a:avLst/>
          </a:prstGeom>
          <a:ln w="2540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7219187" y="1554480"/>
            <a:ext cx="402336" cy="402336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483095" y="2084832"/>
            <a:ext cx="1874519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200" b="1" i="0">
                <a:solidFill>
                  <a:srgbClr val="143D73"/>
                </a:solidFill>
                <a:latin typeface="Arial"/>
              </a:rPr>
              <a:t>Ejecución y retroalimentación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Arial"/>
              </a:rPr>
              <a:t>Se ejecuta la acción y se confirma por voz y en pantalla.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920" y="3749039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1">
                <a:solidFill>
                  <a:srgbClr val="555555"/>
                </a:solidFill>
                <a:latin typeface="Arial"/>
              </a:rPr>
              <a:t>El modelo busca reducir la cantidad de pasos que el usuario necesita conocer para completar una tarea, incorporando confirmación de acciones críticas y tolerancia a errores.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Solución — Funcionalidades</a:t>
            </a:r>
            <a:endParaRPr b="1"/>
          </a:p>
        </p:txBody>
      </p: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502920" y="1005840"/>
          <a:ext cx="8138160" cy="2333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Funcionalidad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Ejemplo de instrucción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Módulo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Alarmas y recordatorios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“Pon una alarma para las 7 de la mañana.”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Ejecución de acciones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Llamadas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“Llama a mi hija.”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Ejecución de acciones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Mensajes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“Mándale un mensaje a Pedro diciéndole que voy a llegar tarde.”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Ejecución de acciones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Funciones del dispositivo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“Enciende la linterna.” / “Sube el volumen.”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Ejecución de acciones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Orientación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“¿Qué hora es?” / “¿Qué temperatura hace?”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A1A1A"/>
                          </a:solidFill>
                          <a:latin typeface="Arial"/>
                        </a:rPr>
                        <a:t>Consulta e interpretación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502920" y="3566160"/>
            <a:ext cx="81381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1">
                <a:solidFill>
                  <a:srgbClr val="555555"/>
                </a:solidFill>
                <a:latin typeface="Arial"/>
              </a:rPr>
              <a:t>El conjunto definitivo de funcionalidades se priorizará durante el levantamiento de requisitos, seleccionando tareas de alta frecuencia y bajo riesgo para el alcance del MVP.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Metodología de Trabajo</a:t>
            </a:r>
            <a:endParaRPr b="1"/>
          </a:p>
        </p:txBody>
      </p:sp>
      <p:sp>
        <p:nvSpPr>
          <p:cNvPr id="77" name="TextBox 76"/>
          <p:cNvSpPr txBox="1"/>
          <p:nvPr/>
        </p:nvSpPr>
        <p:spPr>
          <a:xfrm>
            <a:off x="502920" y="960120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El proyecto se desarrolla bajo la metodología Cascada (Waterfall): cada fase se completa y valida antes de iniciar la siguiente, adecuada a un Capstone que requiere requerimientos estables y entregas académicas secuenciales.</a:t>
            </a:r>
          </a:p>
        </p:txBody>
      </p:sp>
      <p:sp>
        <p:nvSpPr>
          <p:cNvPr id="78" name="Oval 77"/>
          <p:cNvSpPr/>
          <p:nvPr/>
        </p:nvSpPr>
        <p:spPr>
          <a:xfrm>
            <a:off x="1007364" y="2011680"/>
            <a:ext cx="347472" cy="347472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354836" y="2185416"/>
            <a:ext cx="1008888" cy="0"/>
          </a:xfrm>
          <a:prstGeom prst="line">
            <a:avLst/>
          </a:prstGeom>
          <a:ln w="1651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02920" y="2450592"/>
            <a:ext cx="1283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43D73"/>
                </a:solidFill>
                <a:latin typeface="Arial"/>
              </a:rPr>
              <a:t>Inicio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2920" y="2788920"/>
            <a:ext cx="128320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Definición del problema, justificación, objetivos y Acta de Constitución.</a:t>
            </a:r>
          </a:p>
        </p:txBody>
      </p:sp>
      <p:sp>
        <p:nvSpPr>
          <p:cNvPr id="82" name="Oval 81"/>
          <p:cNvSpPr/>
          <p:nvPr/>
        </p:nvSpPr>
        <p:spPr>
          <a:xfrm>
            <a:off x="2363724" y="2011680"/>
            <a:ext cx="347472" cy="347472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711196" y="2185416"/>
            <a:ext cx="1008888" cy="0"/>
          </a:xfrm>
          <a:prstGeom prst="line">
            <a:avLst/>
          </a:prstGeom>
          <a:ln w="1651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859280" y="2450592"/>
            <a:ext cx="1283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43D73"/>
                </a:solidFill>
                <a:latin typeface="Arial"/>
              </a:rPr>
              <a:t>Análisis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59280" y="2788920"/>
            <a:ext cx="128320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Requerimientos funcionales y no funcionales, estado del arte.</a:t>
            </a:r>
          </a:p>
        </p:txBody>
      </p:sp>
      <p:sp>
        <p:nvSpPr>
          <p:cNvPr id="86" name="Oval 85"/>
          <p:cNvSpPr/>
          <p:nvPr/>
        </p:nvSpPr>
        <p:spPr>
          <a:xfrm>
            <a:off x="3720083" y="2011680"/>
            <a:ext cx="347472" cy="347472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4067556" y="2185416"/>
            <a:ext cx="1008888" cy="0"/>
          </a:xfrm>
          <a:prstGeom prst="line">
            <a:avLst/>
          </a:prstGeom>
          <a:ln w="1651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3215640" y="2450592"/>
            <a:ext cx="1283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43D73"/>
                </a:solidFill>
                <a:latin typeface="Arial"/>
              </a:rPr>
              <a:t>Diseño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15640" y="2788920"/>
            <a:ext cx="128320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Arquitectura tecnológica, mockup y modelo de datos.</a:t>
            </a:r>
          </a:p>
        </p:txBody>
      </p:sp>
      <p:sp>
        <p:nvSpPr>
          <p:cNvPr id="90" name="Oval 89"/>
          <p:cNvSpPr/>
          <p:nvPr/>
        </p:nvSpPr>
        <p:spPr>
          <a:xfrm>
            <a:off x="5076444" y="2011680"/>
            <a:ext cx="347472" cy="347472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423916" y="2185416"/>
            <a:ext cx="1008888" cy="0"/>
          </a:xfrm>
          <a:prstGeom prst="line">
            <a:avLst/>
          </a:prstGeom>
          <a:ln w="1651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572000" y="2450592"/>
            <a:ext cx="1283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43D73"/>
                </a:solidFill>
                <a:latin typeface="Arial"/>
              </a:rPr>
              <a:t>Desarrollo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0" y="2788920"/>
            <a:ext cx="128320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Reconocimiento de voz, interpretación, ejecución de acciones e interfaz.</a:t>
            </a:r>
          </a:p>
        </p:txBody>
      </p:sp>
      <p:sp>
        <p:nvSpPr>
          <p:cNvPr id="94" name="Oval 93"/>
          <p:cNvSpPr/>
          <p:nvPr/>
        </p:nvSpPr>
        <p:spPr>
          <a:xfrm>
            <a:off x="6432803" y="2011680"/>
            <a:ext cx="347472" cy="347472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6780276" y="2185416"/>
            <a:ext cx="1008888" cy="0"/>
          </a:xfrm>
          <a:prstGeom prst="line">
            <a:avLst/>
          </a:prstGeom>
          <a:ln w="16510">
            <a:solidFill>
              <a:srgbClr val="257C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5928360" y="2450592"/>
            <a:ext cx="1283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43D73"/>
                </a:solidFill>
                <a:latin typeface="Arial"/>
              </a:rPr>
              <a:t>Pruebas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928360" y="2788920"/>
            <a:ext cx="128320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Pruebas funcionales, usabilidad con adultos mayores y compatibilidad.</a:t>
            </a:r>
          </a:p>
        </p:txBody>
      </p:sp>
      <p:sp>
        <p:nvSpPr>
          <p:cNvPr id="98" name="Oval 97"/>
          <p:cNvSpPr/>
          <p:nvPr/>
        </p:nvSpPr>
        <p:spPr>
          <a:xfrm>
            <a:off x="7789164" y="2011680"/>
            <a:ext cx="347472" cy="347472"/>
          </a:xfrm>
          <a:prstGeom prst="ellipse">
            <a:avLst/>
          </a:prstGeom>
          <a:solidFill>
            <a:srgbClr val="257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84720" y="2450592"/>
            <a:ext cx="128320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143D73"/>
                </a:solidFill>
                <a:latin typeface="Arial"/>
              </a:rPr>
              <a:t>Cierre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84720" y="2788920"/>
            <a:ext cx="1283208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Arial"/>
              </a:rPr>
              <a:t>Entrega final, documentación y presentación del proyecto.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Plan de Trabajo</a:t>
            </a:r>
            <a:endParaRPr b="1"/>
          </a:p>
        </p:txBody>
      </p: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502920" y="1051560"/>
          <a:ext cx="81381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Fase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Actividades principales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Duración estimada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Inicio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Estado del arte, problema, justificación, objetivos, Acta de Constitución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Semanas 1-2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Análisis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Requerimientos funcionales y no funcionales, casos de uso, mockup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Semanas 3-4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Diseño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Arquitectura tecnológica, modelo de datos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A definir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Desarrollo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Módulos de voz, interpretación, ejecución, interfaz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A definir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Pruebas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Pruebas funcionales, usabilidad y compatibilidad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A definir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85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Cierre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Documentación final, presentación y defensa del proyecto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A1A"/>
                          </a:solidFill>
                          <a:latin typeface="Arial"/>
                        </a:rPr>
                        <a:t>A definir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Roles y Responsabilidades</a:t>
            </a:r>
            <a:endParaRPr b="1"/>
          </a:p>
        </p:txBody>
      </p: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502920" y="1051560"/>
          <a:ext cx="81381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Integrante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Rol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Responsabilidades principales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Arial"/>
                        </a:rPr>
                        <a:t>Miguel Pereira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Arial"/>
                        </a:rPr>
                        <a:t>Jefe de Proyecto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Arial"/>
                        </a:rPr>
                        <a:t>Coordinación del equipo, gestión del cronograma, seguimiento de riesgos y consolidación de la documentación.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Arial"/>
                        </a:rPr>
                        <a:t>Baltazar Ordoñez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Arial"/>
                        </a:rPr>
                        <a:t>Desarrollador de Voz e Interpretación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Arial"/>
                        </a:rPr>
                        <a:t>Reconocimiento de voz y motor de interpretación de lenguaje natural / intención del usuario.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Arial"/>
                        </a:rPr>
                        <a:t>Jose Luis Donoso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Arial"/>
                        </a:rPr>
                        <a:t>Desarrollador de Interfaz y Accesibilidad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Arial"/>
                        </a:rPr>
                        <a:t>Diseño e implementación de la interfaz simplificada (UI/UX) con principios de accesibilidad.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Arial"/>
                        </a:rPr>
                        <a:t>Joaquin Mendoza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Arial"/>
                        </a:rPr>
                        <a:t>Encargado de Pruebas y Documentación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1A1A1A"/>
                          </a:solidFill>
                          <a:latin typeface="Arial"/>
                        </a:rPr>
                        <a:t>Pruebas funcionales y de usabilidad, documentación técnica y control de calidad.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Mapa Tecnológico</a:t>
            </a:r>
            <a:endParaRPr b="1"/>
          </a:p>
        </p:txBody>
      </p:sp>
      <p:sp>
        <p:nvSpPr>
          <p:cNvPr id="77" name="TextBox 76"/>
          <p:cNvSpPr txBox="1"/>
          <p:nvPr/>
        </p:nvSpPr>
        <p:spPr>
          <a:xfrm>
            <a:off x="502920" y="960120"/>
            <a:ext cx="8138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Aplicación móvil nativa para Android en Kotlin, con arquitectura por capas basada en el patrón MVVM, que separa presentación, lógica de negocio, acceso a datos e interacción con las APIs nativas de Android.</a:t>
            </a:r>
          </a:p>
        </p:txBody>
      </p:sp>
      <p:graphicFrame>
        <p:nvGraphicFramePr>
          <p:cNvPr id="78" name="Table 77"/>
          <p:cNvGraphicFramePr>
            <a:graphicFrameLocks noGrp="1"/>
          </p:cNvGraphicFramePr>
          <p:nvPr/>
        </p:nvGraphicFramePr>
        <p:xfrm>
          <a:off x="502920" y="1737360"/>
          <a:ext cx="8138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522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Tecnología definida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Arquitectura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Arquitectura por capas basada en MVVM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Lenguaje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Kotlin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Plataforma / UI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Android nativo + XML / Android Views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Reconocimiento de voz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android.speech.SpeechRecognizer + RecognitionListener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Síntesis de voz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android.speech.tts.TextToSpeech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Interpretación de intención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IntentParser local basado en reglas y patrones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Ejecución de acciones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AlarmManager, Intents, ACTION_DIAL, PackageManager, CameraManager, AudioManager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Almacenamiento local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Jetpack DataStore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Control de versiones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Git / GitHub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230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Pruebas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JUnit (lógica) + Espresso (interfaz)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Arquitectura — MVVM</a:t>
            </a:r>
            <a:endParaRPr b="1"/>
          </a:p>
        </p:txBody>
      </p:sp>
      <p:pic>
        <p:nvPicPr>
          <p:cNvPr id="77" name="Picture 76" descr="Diagrama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120640" cy="3181004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5943599" y="1280160"/>
            <a:ext cx="2697480" cy="3566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43D73"/>
                </a:solidFill>
                <a:latin typeface="Arial"/>
              </a:rPr>
              <a:t>Patrón MVVM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57CE1"/>
                </a:solidFill>
                <a:latin typeface="Arial"/>
              </a:rPr>
              <a:t>View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Interfaz de usuario; envía eventos a la capa ViewModel.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57CE1"/>
                </a:solidFill>
                <a:latin typeface="Arial"/>
              </a:rPr>
              <a:t>ViewModel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Procesa la lógica de presentación, notifica cambios a la View y envía peticiones al Model.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57CE1"/>
                </a:solidFill>
                <a:latin typeface="Arial"/>
              </a:rPr>
              <a:t>Model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Arial"/>
              </a:rPr>
              <a:t>Fuente de datos; al cambiar, notifica al ViewModel.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Competencias</a:t>
            </a:r>
            <a:endParaRPr b="1"/>
          </a:p>
        </p:txBody>
      </p: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502920" y="1051560"/>
          <a:ext cx="8138157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8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3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0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Solución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Adultos mayores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Voz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Interfaz simplificada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Dispositivos antiguos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Google Voice Access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No específica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Parcial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Depende del soporte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BIG Launcher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No principal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Action Blocks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Sí / cognitiva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Indirecta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Android 5.0+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Launchers especializados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Generalmente no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Variable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Asistentes comerciales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General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No necesariamente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A1A1A"/>
                          </a:solidFill>
                          <a:latin typeface="Arial"/>
                        </a:rPr>
                        <a:t>Variable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43D73"/>
                          </a:solidFill>
                          <a:latin typeface="Arial"/>
                        </a:rPr>
                        <a:t>Propuesta Capstone</a:t>
                      </a:r>
                    </a:p>
                  </a:txBody>
                  <a:tcPr marL="54864" marR="54864" marT="27432" marB="27432" anchor="ctr">
                    <a:solidFill>
                      <a:srgbClr val="DDE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43D73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27432" marB="27432" anchor="ctr">
                    <a:solidFill>
                      <a:srgbClr val="DDE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43D73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27432" marB="27432" anchor="ctr">
                    <a:solidFill>
                      <a:srgbClr val="DDE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43D73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54864" marR="54864" marT="27432" marB="27432" anchor="ctr">
                    <a:solidFill>
                      <a:srgbClr val="DDEA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43D73"/>
                          </a:solidFill>
                          <a:latin typeface="Arial"/>
                        </a:rPr>
                        <a:t>Criterio diferenciador</a:t>
                      </a:r>
                    </a:p>
                  </a:txBody>
                  <a:tcPr marL="54864" marR="54864" marT="27432" marB="27432" anchor="ctr">
                    <a:solidFill>
                      <a:srgbClr val="DDE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502920" y="4206240"/>
            <a:ext cx="8138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555555"/>
                </a:solidFill>
                <a:latin typeface="Arial"/>
              </a:rPr>
              <a:t>Oportunidad: integrar voz, lenguaje natural, simplificación de interfaz y compatibilidad con dispositivos limitados en una sola solución especializada.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Riesgos</a:t>
            </a:r>
            <a:endParaRPr b="1"/>
          </a:p>
        </p:txBody>
      </p:sp>
      <p:graphicFrame>
        <p:nvGraphicFramePr>
          <p:cNvPr id="77" name="Table 76"/>
          <p:cNvGraphicFramePr>
            <a:graphicFrameLocks noGrp="1"/>
          </p:cNvGraphicFramePr>
          <p:nvPr/>
        </p:nvGraphicFramePr>
        <p:xfrm>
          <a:off x="502920" y="1005840"/>
          <a:ext cx="81381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Riesgo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Categoría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Nivel</a:t>
                      </a:r>
                    </a:p>
                  </a:txBody>
                  <a:tcPr marL="54864" marR="54864" marT="27432" marB="27432" anchor="ctr">
                    <a:solidFill>
                      <a:srgbClr val="257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R4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Alcance excesivo del proyecto para el tiempo disponible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Gestión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R7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Problemas de interpretación de lenguaje natural / comandos ambiguos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Técnico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R12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Restricciones de tiempo del Capstone que limiten el alcance final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Gestión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Alto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R1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Limitaciones del reconocimiento de voz (acentos, ruido, dicción)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Técnico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67E22"/>
                          </a:solidFill>
                          <a:latin typeface="Arial"/>
                        </a:rPr>
                        <a:t>Medio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R5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Dificultades de usabilidad no anticipadas por el equipo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Externo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67E22"/>
                          </a:solidFill>
                          <a:latin typeface="Arial"/>
                        </a:rPr>
                        <a:t>Medio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R13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Problemas de privacidad o seguridad de datos personales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A1A1A"/>
                          </a:solidFill>
                          <a:latin typeface="Arial"/>
                        </a:rPr>
                        <a:t>Técnico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67E22"/>
                          </a:solidFill>
                          <a:latin typeface="Arial"/>
                        </a:rPr>
                        <a:t>Medio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502920" y="365760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Arial"/>
              </a:rPr>
              <a:t>Gestión mediante RBS (Estructura de Desglose de Riesgos) y matriz Probabilidad × Impacto, clasificando 15 riesgos identificados en categorías Técnico, Gestión del Proyecto, Organizacional y Externo.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1">
                <a:solidFill>
                  <a:srgbClr val="555555"/>
                </a:solidFill>
                <a:latin typeface="Arial"/>
              </a:rPr>
              <a:t>Estrategia principal: definir un MVP acotado, congelar el alcance al cierre de Análisis y planificar holguras en el cronograma.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Seguridad</a:t>
            </a:r>
            <a:endParaRPr b="1"/>
          </a:p>
        </p:txBody>
      </p:sp>
      <p:sp>
        <p:nvSpPr>
          <p:cNvPr id="77" name="TextBox 76"/>
          <p:cNvSpPr txBox="1"/>
          <p:nvPr/>
        </p:nvSpPr>
        <p:spPr>
          <a:xfrm>
            <a:off x="502920" y="1005840"/>
            <a:ext cx="39319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43D73"/>
                </a:solidFill>
                <a:latin typeface="Arial"/>
              </a:rPr>
              <a:t>Gestión de permisos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030" b="0" i="0">
                <a:solidFill>
                  <a:srgbClr val="1A1A1A"/>
                </a:solidFill>
                <a:latin typeface="Arial"/>
              </a:rPr>
              <a:t>Solicitar sólo los permisos estrictamente necesarios (mínimo privilegio).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030" b="0" i="0">
                <a:solidFill>
                  <a:srgbClr val="1A1A1A"/>
                </a:solidFill>
                <a:latin typeface="Arial"/>
              </a:rPr>
              <a:t>Usar permisos en tiempo de ejecución, explicando su propósito.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030" b="0" i="0">
                <a:solidFill>
                  <a:srgbClr val="1A1A1A"/>
                </a:solidFill>
                <a:latin typeface="Arial"/>
              </a:rPr>
              <a:t>Permitir que una persona de apoyo revise los permisos otorgados.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63440" y="1005840"/>
            <a:ext cx="39319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43D73"/>
                </a:solidFill>
                <a:latin typeface="Arial"/>
              </a:rPr>
              <a:t>Protección de datos personales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030" b="0" i="0">
                <a:solidFill>
                  <a:srgbClr val="1A1A1A"/>
                </a:solidFill>
                <a:latin typeface="Arial"/>
              </a:rPr>
              <a:t>Cifrar localmente contactos frecuentes e historial de comandos.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030" b="0" i="0">
                <a:solidFill>
                  <a:srgbClr val="1A1A1A"/>
                </a:solidFill>
                <a:latin typeface="Arial"/>
              </a:rPr>
              <a:t>No compartir datos con terceros sin consentimiento explícito.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030" b="0" i="0">
                <a:solidFill>
                  <a:srgbClr val="1A1A1A"/>
                </a:solidFill>
                <a:latin typeface="Arial"/>
              </a:rPr>
              <a:t>Considerar la Ley 19.628 sobre protección de la vida privada (Chile).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" y="2926080"/>
            <a:ext cx="39319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43D73"/>
                </a:solidFill>
                <a:latin typeface="Arial"/>
              </a:rPr>
              <a:t>Control de acciones críticas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030" b="0" i="0">
                <a:solidFill>
                  <a:srgbClr val="1A1A1A"/>
                </a:solidFill>
                <a:latin typeface="Arial"/>
              </a:rPr>
              <a:t>Confirmación antes de llamadas, mensajes o cambios de configuración.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030" b="0" i="0">
                <a:solidFill>
                  <a:srgbClr val="1A1A1A"/>
                </a:solidFill>
                <a:latin typeface="Arial"/>
              </a:rPr>
              <a:t>Mecanismo simple de bloqueo (PIN) ante cambios accidentales.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63440" y="2926080"/>
            <a:ext cx="3931920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43D73"/>
                </a:solidFill>
                <a:latin typeface="Arial"/>
              </a:rPr>
              <a:t>Buenas prácticas generales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030" b="0" i="0">
                <a:solidFill>
                  <a:srgbClr val="1A1A1A"/>
                </a:solidFill>
                <a:latin typeface="Arial"/>
              </a:rPr>
              <a:t>Validar y sanitizar instrucciones antes de ejecutarlas.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030" b="0" i="0">
                <a:solidFill>
                  <a:srgbClr val="1A1A1A"/>
                </a:solidFill>
                <a:latin typeface="Arial"/>
              </a:rPr>
              <a:t>Mantener actualizadas dependencias y el sistema.</a:t>
            </a:r>
          </a:p>
          <a:p>
            <a:pPr marL="182880" indent="-182880" algn="l">
              <a:lnSpc>
                <a:spcPct val="105000"/>
              </a:lnSpc>
              <a:spcAft>
                <a:spcPts val="400"/>
              </a:spcAft>
              <a:buFont typeface="Arial"/>
              <a:buChar char="•"/>
            </a:pPr>
            <a:r>
              <a:rPr sz="1030" b="0" i="0">
                <a:solidFill>
                  <a:srgbClr val="1A1A1A"/>
                </a:solidFill>
                <a:latin typeface="Arial"/>
              </a:rPr>
              <a:t>Definir respaldo y restauración de la configuración del usuario.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Modelo de Negocio</a:t>
            </a:r>
            <a:endParaRPr b="1"/>
          </a:p>
        </p:txBody>
      </p:sp>
      <p:pic>
        <p:nvPicPr>
          <p:cNvPr id="77" name="Picture 76" descr="Modelo_de_nego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930" y="1005840"/>
            <a:ext cx="5368138" cy="379475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title"/>
          </p:nvPr>
        </p:nvSpPr>
        <p:spPr>
          <a:xfrm>
            <a:off x="1106176" y="324998"/>
            <a:ext cx="77268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b="1">
                <a:solidFill>
                  <a:srgbClr val="1A1A1A"/>
                </a:solidFill>
                <a:latin typeface="Arial"/>
              </a:rPr>
              <a:t>Mockup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Conclusion"/>
          <p:cNvSpPr txBox="1">
            <a:spLocks noGrp="1"/>
          </p:cNvSpPr>
          <p:nvPr>
            <p:ph type="title"/>
          </p:nvPr>
        </p:nvSpPr>
        <p:spPr>
          <a:xfrm>
            <a:off x="490220" y="1050000"/>
            <a:ext cx="5486400" cy="60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1"/>
              <a:t>Conclusión</a:t>
            </a:r>
          </a:p>
        </p:txBody>
      </p:sp>
      <p:sp>
        <p:nvSpPr>
          <p:cNvPr id="91" name="BodyConclusion"/>
          <p:cNvSpPr txBox="1"/>
          <p:nvPr/>
        </p:nvSpPr>
        <p:spPr>
          <a:xfrm>
            <a:off x="490220" y="1750000"/>
            <a:ext cx="5486400" cy="3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l" rtl="0">
              <a:lnSpc>
                <a:spcPct val="115000"/>
              </a:lnSpc>
              <a:spcAft>
                <a:spcPts val="1000"/>
              </a:spcAft>
              <a:buNone/>
            </a:pPr>
            <a:r>
              <a:rPr sz="1250" b="0" i="0">
                <a:solidFill>
                  <a:srgbClr val="1A1A1A"/>
                </a:solidFill>
                <a:latin typeface="Arial"/>
              </a:rPr>
              <a:t>El estado del arte confirma que existen soluciones parciales de accesibilidad y control por voz, pero ninguna integra ambos enfoques específicamente para adultos mayores.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 i="0">
                <a:solidFill>
                  <a:srgbClr val="1A1A1A"/>
                </a:solidFill>
                <a:latin typeface="Arial"/>
              </a:rPr>
              <a:t>El proyecto propone una aplicación móvil que interpreta lenguaje natural para facilitar tareas cotidianas del smartphone, incorporando confirmación, tolerancia a errores y retroalimentación multimodal.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143D73"/>
                </a:solidFill>
                <a:latin typeface="Arial"/>
              </a:rPr>
              <a:t>La siguiente etapa: transformar esta propuesta en requisitos verificables, definir el MVP y avanzar hacia el Kick Off del 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1558</Words>
  <Application>Microsoft Office PowerPoint</Application>
  <PresentationFormat>Presentación en pantalla (16:9)</PresentationFormat>
  <Paragraphs>263</Paragraphs>
  <Slides>18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0" baseType="lpstr">
      <vt:lpstr>Arial</vt:lpstr>
      <vt:lpstr>Simple Light</vt:lpstr>
      <vt:lpstr>APP de Accesibilidad Adulto Mayor  </vt:lpstr>
      <vt:lpstr>Índice</vt:lpstr>
      <vt:lpstr>Introducción</vt:lpstr>
      <vt:lpstr>Contexto</vt:lpstr>
      <vt:lpstr>Problemática</vt:lpstr>
      <vt:lpstr>Solución</vt:lpstr>
      <vt:lpstr>Solución — Funcionalidades</vt:lpstr>
      <vt:lpstr>Metodología de Trabajo</vt:lpstr>
      <vt:lpstr>Plan de Trabajo</vt:lpstr>
      <vt:lpstr>Roles y Responsabilidades</vt:lpstr>
      <vt:lpstr>Mapa Tecnológico</vt:lpstr>
      <vt:lpstr>Arquitectura — MVVM</vt:lpstr>
      <vt:lpstr>Competencias</vt:lpstr>
      <vt:lpstr>Riesgos</vt:lpstr>
      <vt:lpstr>Seguridad</vt:lpstr>
      <vt:lpstr>Modelo de Negocio</vt:lpstr>
      <vt:lpstr>Mockup</vt:lpstr>
      <vt:lpstr>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MIGUEL ANGEL PEREIRA PALAVICINO</cp:lastModifiedBy>
  <cp:revision>1</cp:revision>
  <dcterms:modified xsi:type="dcterms:W3CDTF">2026-09-02T23:49:10Z</dcterms:modified>
</cp:coreProperties>
</file>