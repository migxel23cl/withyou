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2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8" r:id="rId12"/>
    <p:sldId id="267" r:id="rId13"/>
    <p:sldId id="269" r:id="rId14"/>
    <p:sldId id="270" r:id="rId15"/>
    <p:sldId id="271" r:id="rId16"/>
    <p:sldId id="272" r:id="rId17"/>
    <p:sldId id="274" r:id="rId1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20" d="100"/>
          <a:sy n="120" d="100"/>
        </p:scale>
        <p:origin x="1344" y="42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83182376fa_0_0:notes"/>
          <p:cNvSpPr txBox="1">
            <a:spLocks noGrp="1"/>
          </p:cNvSpPr>
          <p:nvPr>
            <p:ph type="body" idx="1"/>
          </p:nvPr>
        </p:nvSpPr>
        <p:spPr>
          <a:xfrm>
            <a:off x="685583" y="4400004"/>
            <a:ext cx="5486700" cy="360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425" tIns="22700" rIns="45425" bIns="22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endParaRPr/>
          </a:p>
        </p:txBody>
      </p:sp>
      <p:sp>
        <p:nvSpPr>
          <p:cNvPr id="68" name="Google Shape;68;g383182376f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63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8319dd5654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8319dd5654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obj">
  <p:cSld name="OBJEC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80"/>
            <a:ext cx="9143683" cy="5143319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3"/>
          <p:cNvSpPr txBox="1">
            <a:spLocks noGrp="1"/>
          </p:cNvSpPr>
          <p:nvPr>
            <p:ph type="ctrTitle"/>
          </p:nvPr>
        </p:nvSpPr>
        <p:spPr>
          <a:xfrm>
            <a:off x="1290910" y="3957015"/>
            <a:ext cx="3084600" cy="26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17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ubTitle" idx="1"/>
          </p:nvPr>
        </p:nvSpPr>
        <p:spPr>
          <a:xfrm>
            <a:off x="1290910" y="4371687"/>
            <a:ext cx="3962700" cy="1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3"/>
          <p:cNvSpPr/>
          <p:nvPr/>
        </p:nvSpPr>
        <p:spPr>
          <a:xfrm>
            <a:off x="1290910" y="4304541"/>
            <a:ext cx="4022703" cy="0"/>
          </a:xfrm>
          <a:custGeom>
            <a:avLst/>
            <a:gdLst/>
            <a:ahLst/>
            <a:cxnLst/>
            <a:rect l="l" t="t" r="r" b="b"/>
            <a:pathLst>
              <a:path w="8841105" h="120000" extrusionOk="0">
                <a:moveTo>
                  <a:pt x="0" y="0"/>
                </a:moveTo>
                <a:lnTo>
                  <a:pt x="8840652" y="0"/>
                </a:lnTo>
              </a:path>
            </a:pathLst>
          </a:custGeom>
          <a:noFill/>
          <a:ln w="47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">
  <p:cSld name="Diseño personalizado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>
            <a:spLocks noGrp="1"/>
          </p:cNvSpPr>
          <p:nvPr>
            <p:ph type="title"/>
          </p:nvPr>
        </p:nvSpPr>
        <p:spPr>
          <a:xfrm>
            <a:off x="1106176" y="324998"/>
            <a:ext cx="7726800" cy="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2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/>
          <p:nvPr/>
        </p:nvSpPr>
        <p:spPr>
          <a:xfrm>
            <a:off x="-2888" y="298402"/>
            <a:ext cx="1020772" cy="482505"/>
          </a:xfrm>
          <a:custGeom>
            <a:avLst/>
            <a:gdLst/>
            <a:ahLst/>
            <a:cxnLst/>
            <a:rect l="l" t="t" r="r" b="b"/>
            <a:pathLst>
              <a:path w="2243455" h="1060450" extrusionOk="0">
                <a:moveTo>
                  <a:pt x="2243429" y="0"/>
                </a:moveTo>
                <a:lnTo>
                  <a:pt x="0" y="0"/>
                </a:lnTo>
                <a:lnTo>
                  <a:pt x="0" y="1059999"/>
                </a:lnTo>
                <a:lnTo>
                  <a:pt x="2243429" y="1059999"/>
                </a:lnTo>
                <a:lnTo>
                  <a:pt x="2243429" y="0"/>
                </a:lnTo>
                <a:close/>
              </a:path>
            </a:pathLst>
          </a:custGeom>
          <a:solidFill>
            <a:srgbClr val="257CE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4"/>
          <p:cNvSpPr/>
          <p:nvPr/>
        </p:nvSpPr>
        <p:spPr>
          <a:xfrm>
            <a:off x="7704146" y="4640017"/>
            <a:ext cx="717111" cy="232585"/>
          </a:xfrm>
          <a:custGeom>
            <a:avLst/>
            <a:gdLst/>
            <a:ahLst/>
            <a:cxnLst/>
            <a:rect l="l" t="t" r="r" b="b"/>
            <a:pathLst>
              <a:path w="1576069" h="511175" extrusionOk="0">
                <a:moveTo>
                  <a:pt x="441172" y="241312"/>
                </a:moveTo>
                <a:lnTo>
                  <a:pt x="435267" y="179641"/>
                </a:lnTo>
                <a:lnTo>
                  <a:pt x="418414" y="127673"/>
                </a:lnTo>
                <a:lnTo>
                  <a:pt x="392747" y="86601"/>
                </a:lnTo>
                <a:lnTo>
                  <a:pt x="391845" y="85153"/>
                </a:lnTo>
                <a:lnTo>
                  <a:pt x="356819" y="51803"/>
                </a:lnTo>
                <a:lnTo>
                  <a:pt x="322008" y="30734"/>
                </a:lnTo>
                <a:lnTo>
                  <a:pt x="322008" y="245008"/>
                </a:lnTo>
                <a:lnTo>
                  <a:pt x="316534" y="299389"/>
                </a:lnTo>
                <a:lnTo>
                  <a:pt x="300723" y="343433"/>
                </a:lnTo>
                <a:lnTo>
                  <a:pt x="275463" y="377329"/>
                </a:lnTo>
                <a:lnTo>
                  <a:pt x="241617" y="401231"/>
                </a:lnTo>
                <a:lnTo>
                  <a:pt x="200088" y="415315"/>
                </a:lnTo>
                <a:lnTo>
                  <a:pt x="151752" y="419722"/>
                </a:lnTo>
                <a:lnTo>
                  <a:pt x="141351" y="419684"/>
                </a:lnTo>
                <a:lnTo>
                  <a:pt x="130746" y="419442"/>
                </a:lnTo>
                <a:lnTo>
                  <a:pt x="120827" y="418769"/>
                </a:lnTo>
                <a:lnTo>
                  <a:pt x="112496" y="417474"/>
                </a:lnTo>
                <a:lnTo>
                  <a:pt x="112496" y="91033"/>
                </a:lnTo>
                <a:lnTo>
                  <a:pt x="121107" y="89408"/>
                </a:lnTo>
                <a:lnTo>
                  <a:pt x="132499" y="87985"/>
                </a:lnTo>
                <a:lnTo>
                  <a:pt x="146659" y="86982"/>
                </a:lnTo>
                <a:lnTo>
                  <a:pt x="163588" y="86601"/>
                </a:lnTo>
                <a:lnTo>
                  <a:pt x="209257" y="90881"/>
                </a:lnTo>
                <a:lnTo>
                  <a:pt x="248094" y="103809"/>
                </a:lnTo>
                <a:lnTo>
                  <a:pt x="279438" y="125552"/>
                </a:lnTo>
                <a:lnTo>
                  <a:pt x="302653" y="156235"/>
                </a:lnTo>
                <a:lnTo>
                  <a:pt x="317055" y="196011"/>
                </a:lnTo>
                <a:lnTo>
                  <a:pt x="322008" y="245008"/>
                </a:lnTo>
                <a:lnTo>
                  <a:pt x="322008" y="30734"/>
                </a:lnTo>
                <a:lnTo>
                  <a:pt x="318211" y="28422"/>
                </a:lnTo>
                <a:lnTo>
                  <a:pt x="272313" y="12306"/>
                </a:lnTo>
                <a:lnTo>
                  <a:pt x="217411" y="2997"/>
                </a:lnTo>
                <a:lnTo>
                  <a:pt x="151752" y="0"/>
                </a:lnTo>
                <a:lnTo>
                  <a:pt x="110134" y="685"/>
                </a:lnTo>
                <a:lnTo>
                  <a:pt x="70319" y="2768"/>
                </a:lnTo>
                <a:lnTo>
                  <a:pt x="33286" y="6235"/>
                </a:lnTo>
                <a:lnTo>
                  <a:pt x="0" y="11099"/>
                </a:lnTo>
                <a:lnTo>
                  <a:pt x="0" y="500392"/>
                </a:lnTo>
                <a:lnTo>
                  <a:pt x="23342" y="503123"/>
                </a:lnTo>
                <a:lnTo>
                  <a:pt x="52374" y="505485"/>
                </a:lnTo>
                <a:lnTo>
                  <a:pt x="87236" y="507161"/>
                </a:lnTo>
                <a:lnTo>
                  <a:pt x="128054" y="507796"/>
                </a:lnTo>
                <a:lnTo>
                  <a:pt x="184556" y="505294"/>
                </a:lnTo>
                <a:lnTo>
                  <a:pt x="236435" y="497713"/>
                </a:lnTo>
                <a:lnTo>
                  <a:pt x="283159" y="484936"/>
                </a:lnTo>
                <a:lnTo>
                  <a:pt x="324205" y="466864"/>
                </a:lnTo>
                <a:lnTo>
                  <a:pt x="359016" y="443407"/>
                </a:lnTo>
                <a:lnTo>
                  <a:pt x="382054" y="419722"/>
                </a:lnTo>
                <a:lnTo>
                  <a:pt x="385749" y="415925"/>
                </a:lnTo>
                <a:lnTo>
                  <a:pt x="408393" y="382181"/>
                </a:lnTo>
                <a:lnTo>
                  <a:pt x="425894" y="341972"/>
                </a:lnTo>
                <a:lnTo>
                  <a:pt x="437172" y="295097"/>
                </a:lnTo>
                <a:lnTo>
                  <a:pt x="441172" y="241312"/>
                </a:lnTo>
                <a:close/>
              </a:path>
              <a:path w="1576069" h="511175" extrusionOk="0">
                <a:moveTo>
                  <a:pt x="827582" y="502602"/>
                </a:moveTo>
                <a:lnTo>
                  <a:pt x="826490" y="478307"/>
                </a:lnTo>
                <a:lnTo>
                  <a:pt x="825538" y="450888"/>
                </a:lnTo>
                <a:lnTo>
                  <a:pt x="824865" y="420268"/>
                </a:lnTo>
                <a:lnTo>
                  <a:pt x="824611" y="386397"/>
                </a:lnTo>
                <a:lnTo>
                  <a:pt x="824611" y="140639"/>
                </a:lnTo>
                <a:lnTo>
                  <a:pt x="712089" y="140639"/>
                </a:lnTo>
                <a:lnTo>
                  <a:pt x="712089" y="365671"/>
                </a:lnTo>
                <a:lnTo>
                  <a:pt x="710628" y="373811"/>
                </a:lnTo>
                <a:lnTo>
                  <a:pt x="688695" y="406768"/>
                </a:lnTo>
                <a:lnTo>
                  <a:pt x="651395" y="419722"/>
                </a:lnTo>
                <a:lnTo>
                  <a:pt x="625627" y="413918"/>
                </a:lnTo>
                <a:lnTo>
                  <a:pt x="607910" y="397230"/>
                </a:lnTo>
                <a:lnTo>
                  <a:pt x="597687" y="370674"/>
                </a:lnTo>
                <a:lnTo>
                  <a:pt x="594398" y="335330"/>
                </a:lnTo>
                <a:lnTo>
                  <a:pt x="594398" y="140639"/>
                </a:lnTo>
                <a:lnTo>
                  <a:pt x="481888" y="140639"/>
                </a:lnTo>
                <a:lnTo>
                  <a:pt x="481888" y="353072"/>
                </a:lnTo>
                <a:lnTo>
                  <a:pt x="488022" y="412394"/>
                </a:lnTo>
                <a:lnTo>
                  <a:pt x="505383" y="456869"/>
                </a:lnTo>
                <a:lnTo>
                  <a:pt x="532409" y="487451"/>
                </a:lnTo>
                <a:lnTo>
                  <a:pt x="567537" y="505091"/>
                </a:lnTo>
                <a:lnTo>
                  <a:pt x="609206" y="510768"/>
                </a:lnTo>
                <a:lnTo>
                  <a:pt x="652399" y="504634"/>
                </a:lnTo>
                <a:lnTo>
                  <a:pt x="684987" y="489483"/>
                </a:lnTo>
                <a:lnTo>
                  <a:pt x="707986" y="470154"/>
                </a:lnTo>
                <a:lnTo>
                  <a:pt x="722452" y="451535"/>
                </a:lnTo>
                <a:lnTo>
                  <a:pt x="724674" y="451535"/>
                </a:lnTo>
                <a:lnTo>
                  <a:pt x="729869" y="502602"/>
                </a:lnTo>
                <a:lnTo>
                  <a:pt x="827582" y="502602"/>
                </a:lnTo>
                <a:close/>
              </a:path>
              <a:path w="1576069" h="511175" extrusionOk="0">
                <a:moveTo>
                  <a:pt x="1244155" y="318274"/>
                </a:moveTo>
                <a:lnTo>
                  <a:pt x="1238161" y="266484"/>
                </a:lnTo>
                <a:lnTo>
                  <a:pt x="1220876" y="221424"/>
                </a:lnTo>
                <a:lnTo>
                  <a:pt x="1193355" y="184315"/>
                </a:lnTo>
                <a:lnTo>
                  <a:pt x="1156639" y="156324"/>
                </a:lnTo>
                <a:lnTo>
                  <a:pt x="1127175" y="144729"/>
                </a:lnTo>
                <a:lnTo>
                  <a:pt x="1127175" y="321259"/>
                </a:lnTo>
                <a:lnTo>
                  <a:pt x="1122210" y="365747"/>
                </a:lnTo>
                <a:lnTo>
                  <a:pt x="1107948" y="400088"/>
                </a:lnTo>
                <a:lnTo>
                  <a:pt x="1085354" y="422224"/>
                </a:lnTo>
                <a:lnTo>
                  <a:pt x="1055395" y="430072"/>
                </a:lnTo>
                <a:lnTo>
                  <a:pt x="1054658" y="430072"/>
                </a:lnTo>
                <a:lnTo>
                  <a:pt x="1023213" y="421817"/>
                </a:lnTo>
                <a:lnTo>
                  <a:pt x="1000239" y="399072"/>
                </a:lnTo>
                <a:lnTo>
                  <a:pt x="986155" y="364807"/>
                </a:lnTo>
                <a:lnTo>
                  <a:pt x="981367" y="322008"/>
                </a:lnTo>
                <a:lnTo>
                  <a:pt x="985443" y="282206"/>
                </a:lnTo>
                <a:lnTo>
                  <a:pt x="998397" y="247332"/>
                </a:lnTo>
                <a:lnTo>
                  <a:pt x="1021346" y="222580"/>
                </a:lnTo>
                <a:lnTo>
                  <a:pt x="1055395" y="213169"/>
                </a:lnTo>
                <a:lnTo>
                  <a:pt x="1088174" y="222580"/>
                </a:lnTo>
                <a:lnTo>
                  <a:pt x="1110437" y="247230"/>
                </a:lnTo>
                <a:lnTo>
                  <a:pt x="1123149" y="281889"/>
                </a:lnTo>
                <a:lnTo>
                  <a:pt x="1127175" y="321259"/>
                </a:lnTo>
                <a:lnTo>
                  <a:pt x="1127175" y="144729"/>
                </a:lnTo>
                <a:lnTo>
                  <a:pt x="1111783" y="138658"/>
                </a:lnTo>
                <a:lnTo>
                  <a:pt x="1059827" y="132511"/>
                </a:lnTo>
                <a:lnTo>
                  <a:pt x="1012253" y="136982"/>
                </a:lnTo>
                <a:lnTo>
                  <a:pt x="970229" y="150050"/>
                </a:lnTo>
                <a:lnTo>
                  <a:pt x="934402" y="171119"/>
                </a:lnTo>
                <a:lnTo>
                  <a:pt x="905395" y="199644"/>
                </a:lnTo>
                <a:lnTo>
                  <a:pt x="883894" y="235051"/>
                </a:lnTo>
                <a:lnTo>
                  <a:pt x="870508" y="276745"/>
                </a:lnTo>
                <a:lnTo>
                  <a:pt x="865911" y="324192"/>
                </a:lnTo>
                <a:lnTo>
                  <a:pt x="872426" y="378625"/>
                </a:lnTo>
                <a:lnTo>
                  <a:pt x="890930" y="424548"/>
                </a:lnTo>
                <a:lnTo>
                  <a:pt x="919835" y="461340"/>
                </a:lnTo>
                <a:lnTo>
                  <a:pt x="957567" y="488378"/>
                </a:lnTo>
                <a:lnTo>
                  <a:pt x="1002538" y="505066"/>
                </a:lnTo>
                <a:lnTo>
                  <a:pt x="1053160" y="510755"/>
                </a:lnTo>
                <a:lnTo>
                  <a:pt x="1053896" y="510755"/>
                </a:lnTo>
                <a:lnTo>
                  <a:pt x="1094740" y="507009"/>
                </a:lnTo>
                <a:lnTo>
                  <a:pt x="1133703" y="495655"/>
                </a:lnTo>
                <a:lnTo>
                  <a:pt x="1169187" y="476491"/>
                </a:lnTo>
                <a:lnTo>
                  <a:pt x="1199578" y="449364"/>
                </a:lnTo>
                <a:lnTo>
                  <a:pt x="1223276" y="414070"/>
                </a:lnTo>
                <a:lnTo>
                  <a:pt x="1238669" y="370433"/>
                </a:lnTo>
                <a:lnTo>
                  <a:pt x="1244155" y="318274"/>
                </a:lnTo>
                <a:close/>
              </a:path>
              <a:path w="1576069" h="511175" extrusionOk="0">
                <a:moveTo>
                  <a:pt x="1575854" y="146558"/>
                </a:moveTo>
                <a:lnTo>
                  <a:pt x="1556600" y="140614"/>
                </a:lnTo>
                <a:lnTo>
                  <a:pt x="1535125" y="136194"/>
                </a:lnTo>
                <a:lnTo>
                  <a:pt x="1512544" y="133451"/>
                </a:lnTo>
                <a:lnTo>
                  <a:pt x="1489964" y="132499"/>
                </a:lnTo>
                <a:lnTo>
                  <a:pt x="1436065" y="137604"/>
                </a:lnTo>
                <a:lnTo>
                  <a:pt x="1389964" y="152133"/>
                </a:lnTo>
                <a:lnTo>
                  <a:pt x="1351838" y="174917"/>
                </a:lnTo>
                <a:lnTo>
                  <a:pt x="1321866" y="204762"/>
                </a:lnTo>
                <a:lnTo>
                  <a:pt x="1300238" y="240499"/>
                </a:lnTo>
                <a:lnTo>
                  <a:pt x="1287132" y="280949"/>
                </a:lnTo>
                <a:lnTo>
                  <a:pt x="1282712" y="324942"/>
                </a:lnTo>
                <a:lnTo>
                  <a:pt x="1287195" y="371144"/>
                </a:lnTo>
                <a:lnTo>
                  <a:pt x="1300264" y="411645"/>
                </a:lnTo>
                <a:lnTo>
                  <a:pt x="1321346" y="445947"/>
                </a:lnTo>
                <a:lnTo>
                  <a:pt x="1349870" y="473532"/>
                </a:lnTo>
                <a:lnTo>
                  <a:pt x="1385277" y="493864"/>
                </a:lnTo>
                <a:lnTo>
                  <a:pt x="1426984" y="506450"/>
                </a:lnTo>
                <a:lnTo>
                  <a:pt x="1474431" y="510755"/>
                </a:lnTo>
                <a:lnTo>
                  <a:pt x="1505470" y="509460"/>
                </a:lnTo>
                <a:lnTo>
                  <a:pt x="1556994" y="500468"/>
                </a:lnTo>
                <a:lnTo>
                  <a:pt x="1561782" y="410832"/>
                </a:lnTo>
                <a:lnTo>
                  <a:pt x="1548282" y="415810"/>
                </a:lnTo>
                <a:lnTo>
                  <a:pt x="1533182" y="419531"/>
                </a:lnTo>
                <a:lnTo>
                  <a:pt x="1516278" y="421868"/>
                </a:lnTo>
                <a:lnTo>
                  <a:pt x="1497355" y="422681"/>
                </a:lnTo>
                <a:lnTo>
                  <a:pt x="1458760" y="416090"/>
                </a:lnTo>
                <a:lnTo>
                  <a:pt x="1427226" y="396582"/>
                </a:lnTo>
                <a:lnTo>
                  <a:pt x="1405966" y="364591"/>
                </a:lnTo>
                <a:lnTo>
                  <a:pt x="1398155" y="320522"/>
                </a:lnTo>
                <a:lnTo>
                  <a:pt x="1404683" y="279692"/>
                </a:lnTo>
                <a:lnTo>
                  <a:pt x="1424178" y="247599"/>
                </a:lnTo>
                <a:lnTo>
                  <a:pt x="1454924" y="226606"/>
                </a:lnTo>
                <a:lnTo>
                  <a:pt x="1495171" y="219087"/>
                </a:lnTo>
                <a:lnTo>
                  <a:pt x="1515630" y="219989"/>
                </a:lnTo>
                <a:lnTo>
                  <a:pt x="1532737" y="222427"/>
                </a:lnTo>
                <a:lnTo>
                  <a:pt x="1546796" y="225971"/>
                </a:lnTo>
                <a:lnTo>
                  <a:pt x="1558086" y="230212"/>
                </a:lnTo>
                <a:lnTo>
                  <a:pt x="1575854" y="14655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4"/>
          <p:cNvSpPr/>
          <p:nvPr/>
        </p:nvSpPr>
        <p:spPr>
          <a:xfrm>
            <a:off x="8470593" y="4659573"/>
            <a:ext cx="172199" cy="213804"/>
          </a:xfrm>
          <a:custGeom>
            <a:avLst/>
            <a:gdLst/>
            <a:ahLst/>
            <a:cxnLst/>
            <a:rect l="l" t="t" r="r" b="b"/>
            <a:pathLst>
              <a:path w="378459" h="469900" extrusionOk="0">
                <a:moveTo>
                  <a:pt x="377967" y="0"/>
                </a:moveTo>
                <a:lnTo>
                  <a:pt x="273688" y="0"/>
                </a:lnTo>
                <a:lnTo>
                  <a:pt x="273688" y="266117"/>
                </a:lnTo>
                <a:lnTo>
                  <a:pt x="268116" y="319317"/>
                </a:lnTo>
                <a:lnTo>
                  <a:pt x="251744" y="356757"/>
                </a:lnTo>
                <a:lnTo>
                  <a:pt x="225083" y="378889"/>
                </a:lnTo>
                <a:lnTo>
                  <a:pt x="188643" y="386166"/>
                </a:lnTo>
                <a:lnTo>
                  <a:pt x="152992" y="378600"/>
                </a:lnTo>
                <a:lnTo>
                  <a:pt x="126738" y="355987"/>
                </a:lnTo>
                <a:lnTo>
                  <a:pt x="110518" y="318451"/>
                </a:lnTo>
                <a:lnTo>
                  <a:pt x="104970" y="266117"/>
                </a:lnTo>
                <a:lnTo>
                  <a:pt x="104970" y="0"/>
                </a:lnTo>
                <a:lnTo>
                  <a:pt x="0" y="0"/>
                </a:lnTo>
                <a:lnTo>
                  <a:pt x="0" y="257897"/>
                </a:lnTo>
                <a:lnTo>
                  <a:pt x="4140" y="316080"/>
                </a:lnTo>
                <a:lnTo>
                  <a:pt x="16320" y="364420"/>
                </a:lnTo>
                <a:lnTo>
                  <a:pt x="36180" y="403244"/>
                </a:lnTo>
                <a:lnTo>
                  <a:pt x="63360" y="432875"/>
                </a:lnTo>
                <a:lnTo>
                  <a:pt x="97498" y="453638"/>
                </a:lnTo>
                <a:lnTo>
                  <a:pt x="138234" y="465858"/>
                </a:lnTo>
                <a:lnTo>
                  <a:pt x="185209" y="469860"/>
                </a:lnTo>
                <a:lnTo>
                  <a:pt x="233897" y="465682"/>
                </a:lnTo>
                <a:lnTo>
                  <a:pt x="276216" y="453068"/>
                </a:lnTo>
                <a:lnTo>
                  <a:pt x="311756" y="431899"/>
                </a:lnTo>
                <a:lnTo>
                  <a:pt x="340111" y="402056"/>
                </a:lnTo>
                <a:lnTo>
                  <a:pt x="360870" y="363417"/>
                </a:lnTo>
                <a:lnTo>
                  <a:pt x="373625" y="315865"/>
                </a:lnTo>
                <a:lnTo>
                  <a:pt x="377967" y="259280"/>
                </a:lnTo>
                <a:lnTo>
                  <a:pt x="377967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0" name="Google Shape;60;p14"/>
          <p:cNvGrpSpPr/>
          <p:nvPr/>
        </p:nvGrpSpPr>
        <p:grpSpPr>
          <a:xfrm>
            <a:off x="8665722" y="4601531"/>
            <a:ext cx="194206" cy="271780"/>
            <a:chOff x="19053919" y="10117702"/>
            <a:chExt cx="427015" cy="597582"/>
          </a:xfrm>
        </p:grpSpPr>
        <p:sp>
          <p:nvSpPr>
            <p:cNvPr id="61" name="Google Shape;61;p14"/>
            <p:cNvSpPr/>
            <p:nvPr/>
          </p:nvSpPr>
          <p:spPr>
            <a:xfrm>
              <a:off x="19053919" y="10237764"/>
              <a:ext cx="366394" cy="477520"/>
            </a:xfrm>
            <a:custGeom>
              <a:avLst/>
              <a:gdLst/>
              <a:ahLst/>
              <a:cxnLst/>
              <a:rect l="l" t="t" r="r" b="b"/>
              <a:pathLst>
                <a:path w="366394" h="477520" extrusionOk="0">
                  <a:moveTo>
                    <a:pt x="252421" y="0"/>
                  </a:moveTo>
                  <a:lnTo>
                    <a:pt x="206913" y="3226"/>
                  </a:lnTo>
                  <a:lnTo>
                    <a:pt x="164136" y="12810"/>
                  </a:lnTo>
                  <a:lnTo>
                    <a:pt x="124791" y="28603"/>
                  </a:lnTo>
                  <a:lnTo>
                    <a:pt x="89578" y="50459"/>
                  </a:lnTo>
                  <a:lnTo>
                    <a:pt x="59197" y="78232"/>
                  </a:lnTo>
                  <a:lnTo>
                    <a:pt x="34348" y="111776"/>
                  </a:lnTo>
                  <a:lnTo>
                    <a:pt x="15732" y="150943"/>
                  </a:lnTo>
                  <a:lnTo>
                    <a:pt x="4049" y="195587"/>
                  </a:lnTo>
                  <a:lnTo>
                    <a:pt x="0" y="245563"/>
                  </a:lnTo>
                  <a:lnTo>
                    <a:pt x="3849" y="293331"/>
                  </a:lnTo>
                  <a:lnTo>
                    <a:pt x="15359" y="337340"/>
                  </a:lnTo>
                  <a:lnTo>
                    <a:pt x="34475" y="376785"/>
                  </a:lnTo>
                  <a:lnTo>
                    <a:pt x="61138" y="410861"/>
                  </a:lnTo>
                  <a:lnTo>
                    <a:pt x="95292" y="438765"/>
                  </a:lnTo>
                  <a:lnTo>
                    <a:pt x="136882" y="459692"/>
                  </a:lnTo>
                  <a:lnTo>
                    <a:pt x="185849" y="472838"/>
                  </a:lnTo>
                  <a:lnTo>
                    <a:pt x="242139" y="477399"/>
                  </a:lnTo>
                  <a:lnTo>
                    <a:pt x="281711" y="475535"/>
                  </a:lnTo>
                  <a:lnTo>
                    <a:pt x="315367" y="470716"/>
                  </a:lnTo>
                  <a:lnTo>
                    <a:pt x="342072" y="464093"/>
                  </a:lnTo>
                  <a:lnTo>
                    <a:pt x="360795" y="456823"/>
                  </a:lnTo>
                  <a:lnTo>
                    <a:pt x="345036" y="375213"/>
                  </a:lnTo>
                  <a:lnTo>
                    <a:pt x="327174" y="381031"/>
                  </a:lnTo>
                  <a:lnTo>
                    <a:pt x="305583" y="385825"/>
                  </a:lnTo>
                  <a:lnTo>
                    <a:pt x="281936" y="389081"/>
                  </a:lnTo>
                  <a:lnTo>
                    <a:pt x="257908" y="390281"/>
                  </a:lnTo>
                  <a:lnTo>
                    <a:pt x="206680" y="383477"/>
                  </a:lnTo>
                  <a:lnTo>
                    <a:pt x="165463" y="363832"/>
                  </a:lnTo>
                  <a:lnTo>
                    <a:pt x="135046" y="332499"/>
                  </a:lnTo>
                  <a:lnTo>
                    <a:pt x="116217" y="290629"/>
                  </a:lnTo>
                  <a:lnTo>
                    <a:pt x="109766" y="239374"/>
                  </a:lnTo>
                  <a:lnTo>
                    <a:pt x="117134" y="183960"/>
                  </a:lnTo>
                  <a:lnTo>
                    <a:pt x="137767" y="141083"/>
                  </a:lnTo>
                  <a:lnTo>
                    <a:pt x="169464" y="110615"/>
                  </a:lnTo>
                  <a:lnTo>
                    <a:pt x="210018" y="92429"/>
                  </a:lnTo>
                  <a:lnTo>
                    <a:pt x="257227" y="86395"/>
                  </a:lnTo>
                  <a:lnTo>
                    <a:pt x="283580" y="87824"/>
                  </a:lnTo>
                  <a:lnTo>
                    <a:pt x="307041" y="91638"/>
                  </a:lnTo>
                  <a:lnTo>
                    <a:pt x="327548" y="97129"/>
                  </a:lnTo>
                  <a:lnTo>
                    <a:pt x="345036" y="103588"/>
                  </a:lnTo>
                  <a:lnTo>
                    <a:pt x="366302" y="20575"/>
                  </a:lnTo>
                  <a:lnTo>
                    <a:pt x="348314" y="13309"/>
                  </a:lnTo>
                  <a:lnTo>
                    <a:pt x="322736" y="6686"/>
                  </a:lnTo>
                  <a:lnTo>
                    <a:pt x="290470" y="1864"/>
                  </a:lnTo>
                  <a:lnTo>
                    <a:pt x="25242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62" name="Google Shape;62;p14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9368634" y="10117702"/>
              <a:ext cx="112300" cy="11226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29" y="0"/>
            <a:ext cx="91403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5"/>
          <p:cNvSpPr txBox="1">
            <a:spLocks noGrp="1"/>
          </p:cNvSpPr>
          <p:nvPr>
            <p:ph type="title"/>
          </p:nvPr>
        </p:nvSpPr>
        <p:spPr>
          <a:xfrm>
            <a:off x="2180581" y="3160899"/>
            <a:ext cx="4449300" cy="6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>
            <a:spLocks noGrp="1"/>
          </p:cNvSpPr>
          <p:nvPr>
            <p:ph type="ctrTitle"/>
          </p:nvPr>
        </p:nvSpPr>
        <p:spPr>
          <a:xfrm>
            <a:off x="1290896" y="3957025"/>
            <a:ext cx="43587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lang="es-CL" noProof="0" dirty="0"/>
              <a:t>APP de Accesibilidad Adulto Mayor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br>
              <a:rPr lang="es-CL" sz="1700" noProof="0" dirty="0"/>
            </a:br>
            <a:endParaRPr lang="es-CL" sz="1700" noProof="0" dirty="0"/>
          </a:p>
        </p:txBody>
      </p:sp>
      <p:sp>
        <p:nvSpPr>
          <p:cNvPr id="71" name="Google Shape;71;p16"/>
          <p:cNvSpPr txBox="1">
            <a:spLocks noGrp="1"/>
          </p:cNvSpPr>
          <p:nvPr>
            <p:ph type="subTitle" idx="1"/>
          </p:nvPr>
        </p:nvSpPr>
        <p:spPr>
          <a:xfrm>
            <a:off x="1290900" y="4371665"/>
            <a:ext cx="3962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</a:pPr>
            <a:r>
              <a:rPr lang="es-CL" sz="700" b="1" noProof="0" dirty="0"/>
              <a:t>Profesor: Aldo Martínez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</a:pPr>
            <a:r>
              <a:rPr lang="es-CL" sz="700" b="1" noProof="0" dirty="0"/>
              <a:t>Integrantes: Miguel Pereira, Baltasar Ordoñez, José Luis Donoso, Joaquin Mendoza</a:t>
            </a:r>
            <a:endParaRPr lang="es-CL" sz="1300" b="1" noProof="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>
            <a:spLocks noGrp="1"/>
          </p:cNvSpPr>
          <p:nvPr>
            <p:ph type="title"/>
          </p:nvPr>
        </p:nvSpPr>
        <p:spPr>
          <a:xfrm>
            <a:off x="1106176" y="324998"/>
            <a:ext cx="77268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 b="1" noProof="0" dirty="0">
                <a:solidFill>
                  <a:srgbClr val="1A1A1A"/>
                </a:solidFill>
                <a:latin typeface="Arial"/>
              </a:rPr>
              <a:t>Índice</a:t>
            </a:r>
            <a:endParaRPr lang="es-CL" b="1" noProof="0" dirty="0"/>
          </a:p>
        </p:txBody>
      </p:sp>
      <p:sp>
        <p:nvSpPr>
          <p:cNvPr id="77" name="TextBox 76"/>
          <p:cNvSpPr txBox="1"/>
          <p:nvPr/>
        </p:nvSpPr>
        <p:spPr>
          <a:xfrm>
            <a:off x="502920" y="1097280"/>
            <a:ext cx="3840480" cy="3566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800"/>
              </a:spcAft>
            </a:pPr>
            <a:r>
              <a:rPr lang="es-CL" sz="1500" b="0" i="0" noProof="0" dirty="0">
                <a:solidFill>
                  <a:srgbClr val="1A1A1A"/>
                </a:solidFill>
                <a:latin typeface="Arial"/>
              </a:rPr>
              <a:t>1. Introducción</a:t>
            </a:r>
          </a:p>
          <a:p>
            <a:pPr algn="l">
              <a:spcAft>
                <a:spcPts val="1800"/>
              </a:spcAft>
            </a:pPr>
            <a:r>
              <a:rPr lang="es-CL" sz="1500" b="0" i="0" noProof="0" dirty="0">
                <a:solidFill>
                  <a:srgbClr val="1A1A1A"/>
                </a:solidFill>
                <a:latin typeface="Arial"/>
              </a:rPr>
              <a:t>2. Contexto</a:t>
            </a:r>
          </a:p>
          <a:p>
            <a:pPr algn="l">
              <a:spcAft>
                <a:spcPts val="1800"/>
              </a:spcAft>
            </a:pPr>
            <a:r>
              <a:rPr lang="es-CL" sz="1500" b="0" i="0" noProof="0" dirty="0">
                <a:solidFill>
                  <a:srgbClr val="1A1A1A"/>
                </a:solidFill>
                <a:latin typeface="Arial"/>
              </a:rPr>
              <a:t>3. Problemática</a:t>
            </a:r>
          </a:p>
          <a:p>
            <a:pPr algn="l">
              <a:spcAft>
                <a:spcPts val="1800"/>
              </a:spcAft>
            </a:pPr>
            <a:r>
              <a:rPr lang="es-CL" sz="1500" b="0" i="0" noProof="0" dirty="0">
                <a:solidFill>
                  <a:srgbClr val="1A1A1A"/>
                </a:solidFill>
                <a:latin typeface="Arial"/>
              </a:rPr>
              <a:t>4. Solución</a:t>
            </a:r>
          </a:p>
          <a:p>
            <a:pPr algn="l">
              <a:spcAft>
                <a:spcPts val="1800"/>
              </a:spcAft>
            </a:pPr>
            <a:r>
              <a:rPr lang="es-CL" sz="1500" b="0" i="0" noProof="0" dirty="0">
                <a:solidFill>
                  <a:srgbClr val="1A1A1A"/>
                </a:solidFill>
                <a:latin typeface="Arial"/>
              </a:rPr>
              <a:t>5. Metodología / Plan / Roles</a:t>
            </a:r>
          </a:p>
          <a:p>
            <a:pPr algn="l">
              <a:spcAft>
                <a:spcPts val="1800"/>
              </a:spcAft>
            </a:pPr>
            <a:r>
              <a:rPr lang="es-CL" sz="1500" b="0" i="0" noProof="0" dirty="0">
                <a:solidFill>
                  <a:srgbClr val="1A1A1A"/>
                </a:solidFill>
                <a:latin typeface="Arial"/>
              </a:rPr>
              <a:t>6. Mapa Tecnológico / Arquitectura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709159" y="1097280"/>
            <a:ext cx="3840480" cy="3566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800"/>
              </a:spcAft>
            </a:pPr>
            <a:r>
              <a:rPr lang="es-CL" sz="1500" b="0" i="0" noProof="0" dirty="0">
                <a:solidFill>
                  <a:srgbClr val="1A1A1A"/>
                </a:solidFill>
                <a:latin typeface="Arial"/>
              </a:rPr>
              <a:t>7. Competencias</a:t>
            </a:r>
          </a:p>
          <a:p>
            <a:pPr algn="l">
              <a:spcAft>
                <a:spcPts val="1800"/>
              </a:spcAft>
            </a:pPr>
            <a:r>
              <a:rPr lang="es-CL" sz="1500" b="0" i="0" noProof="0" dirty="0">
                <a:solidFill>
                  <a:srgbClr val="1A1A1A"/>
                </a:solidFill>
                <a:latin typeface="Arial"/>
              </a:rPr>
              <a:t>8. Riesgos</a:t>
            </a:r>
          </a:p>
          <a:p>
            <a:pPr algn="l">
              <a:spcAft>
                <a:spcPts val="1800"/>
              </a:spcAft>
            </a:pPr>
            <a:r>
              <a:rPr lang="es-CL" sz="1500" b="0" i="0" noProof="0" dirty="0">
                <a:solidFill>
                  <a:srgbClr val="1A1A1A"/>
                </a:solidFill>
                <a:latin typeface="Arial"/>
              </a:rPr>
              <a:t>9. Seguridad</a:t>
            </a:r>
          </a:p>
          <a:p>
            <a:pPr algn="l">
              <a:spcAft>
                <a:spcPts val="1800"/>
              </a:spcAft>
            </a:pPr>
            <a:r>
              <a:rPr lang="es-CL" sz="1500" b="0" i="0" noProof="0" dirty="0">
                <a:solidFill>
                  <a:srgbClr val="1A1A1A"/>
                </a:solidFill>
                <a:latin typeface="Arial"/>
              </a:rPr>
              <a:t>10. Modelo de Negocio</a:t>
            </a:r>
          </a:p>
          <a:p>
            <a:pPr algn="l">
              <a:spcAft>
                <a:spcPts val="1800"/>
              </a:spcAft>
            </a:pPr>
            <a:r>
              <a:rPr lang="es-CL" sz="1500" b="0" i="0" noProof="0" dirty="0">
                <a:solidFill>
                  <a:srgbClr val="1A1A1A"/>
                </a:solidFill>
                <a:latin typeface="Arial"/>
              </a:rPr>
              <a:t>11. Mockup</a:t>
            </a:r>
          </a:p>
          <a:p>
            <a:pPr algn="l">
              <a:spcAft>
                <a:spcPts val="1800"/>
              </a:spcAft>
            </a:pPr>
            <a:r>
              <a:rPr lang="es-CL" sz="1500" b="0" i="0" noProof="0" dirty="0">
                <a:solidFill>
                  <a:srgbClr val="1A1A1A"/>
                </a:solidFill>
                <a:latin typeface="Arial"/>
              </a:rPr>
              <a:t>12. Conclusión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>
            <a:spLocks noGrp="1"/>
          </p:cNvSpPr>
          <p:nvPr>
            <p:ph type="title"/>
          </p:nvPr>
        </p:nvSpPr>
        <p:spPr>
          <a:xfrm>
            <a:off x="1106176" y="324998"/>
            <a:ext cx="77268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 b="1" noProof="0" dirty="0">
                <a:solidFill>
                  <a:srgbClr val="1A1A1A"/>
                </a:solidFill>
                <a:latin typeface="Arial"/>
              </a:rPr>
              <a:t>Introducción</a:t>
            </a:r>
            <a:endParaRPr lang="es-CL" b="1" noProof="0" dirty="0"/>
          </a:p>
        </p:txBody>
      </p:sp>
      <p:sp>
        <p:nvSpPr>
          <p:cNvPr id="77" name="TextBox 76"/>
          <p:cNvSpPr txBox="1"/>
          <p:nvPr/>
        </p:nvSpPr>
        <p:spPr>
          <a:xfrm>
            <a:off x="502920" y="1005840"/>
            <a:ext cx="813816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s-CL" sz="1200" noProof="0" dirty="0"/>
              <a:t>En esta presentación mostraremos el desarrollo de la Fase 1Inicio de nuestro proyecto </a:t>
            </a:r>
            <a:r>
              <a:rPr lang="es-CL" sz="1200" noProof="0" dirty="0" err="1"/>
              <a:t>Capstone</a:t>
            </a:r>
            <a:r>
              <a:rPr lang="es-CL" sz="1200" noProof="0" dirty="0"/>
              <a:t>: una aplicación Android que permite a los adultos mayores realizar tareas cotidianas del teléfono, como llamar, enviar mensajes o poner una alarma, simplemente hablándole con lenguaje natural.</a:t>
            </a:r>
            <a:endParaRPr lang="es-CL" sz="1350" b="1" i="0" noProof="0" dirty="0">
              <a:solidFill>
                <a:srgbClr val="143D73"/>
              </a:solidFill>
              <a:latin typeface="Arial"/>
            </a:endParaRPr>
          </a:p>
        </p:txBody>
      </p:sp>
      <p:sp>
        <p:nvSpPr>
          <p:cNvPr id="78" name="Rounded Rectangle 77"/>
          <p:cNvSpPr/>
          <p:nvPr/>
        </p:nvSpPr>
        <p:spPr>
          <a:xfrm>
            <a:off x="564797" y="1901980"/>
            <a:ext cx="8138160" cy="86868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28016" rIns="228600" bIns="128016" rtlCol="0" anchor="ctr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s-CL" sz="1200" b="0" i="1" noProof="0" dirty="0">
                <a:solidFill>
                  <a:srgbClr val="143D73"/>
                </a:solidFill>
                <a:latin typeface="Arial"/>
              </a:rPr>
              <a:t>Enfoque diferenciador: integrar interacción por voz + lenguaje natural + interfaz simplificada, considerando además la compatibilidad con dispositivos Android de recursos limitados.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>
            <a:spLocks noGrp="1"/>
          </p:cNvSpPr>
          <p:nvPr>
            <p:ph type="title"/>
          </p:nvPr>
        </p:nvSpPr>
        <p:spPr>
          <a:xfrm>
            <a:off x="1106176" y="324998"/>
            <a:ext cx="77268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 b="1" noProof="0" dirty="0">
                <a:solidFill>
                  <a:srgbClr val="1A1A1A"/>
                </a:solidFill>
                <a:latin typeface="Arial"/>
              </a:rPr>
              <a:t>Contexto</a:t>
            </a:r>
            <a:endParaRPr lang="es-CL" b="1" noProof="0" dirty="0"/>
          </a:p>
        </p:txBody>
      </p:sp>
      <p:sp>
        <p:nvSpPr>
          <p:cNvPr id="77" name="TextBox 76"/>
          <p:cNvSpPr txBox="1"/>
          <p:nvPr/>
        </p:nvSpPr>
        <p:spPr>
          <a:xfrm>
            <a:off x="502920" y="1005840"/>
            <a:ext cx="4663440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s-CL" sz="1400" b="1" i="0" noProof="0" dirty="0">
                <a:solidFill>
                  <a:srgbClr val="143D73"/>
                </a:solidFill>
                <a:latin typeface="Arial"/>
              </a:rPr>
              <a:t>Brecha digital en adultos mayores</a:t>
            </a:r>
          </a:p>
          <a:p>
            <a:pPr marL="182880" indent="-182880" algn="l">
              <a:lnSpc>
                <a:spcPct val="110000"/>
              </a:lnSpc>
              <a:spcAft>
                <a:spcPts val="1000"/>
              </a:spcAft>
              <a:buFont typeface="Arial"/>
              <a:buChar char="•"/>
            </a:pPr>
            <a:r>
              <a:rPr lang="es-CL" sz="1250" b="0" i="0" noProof="0" dirty="0">
                <a:solidFill>
                  <a:srgbClr val="1A1A1A"/>
                </a:solidFill>
                <a:latin typeface="Arial"/>
              </a:rPr>
              <a:t>El envejecimiento puede afectar capacidades visuales, motoras y cognitivas, generando dificultad para recordar rutas de navegación y temor a cometer errores.</a:t>
            </a:r>
          </a:p>
          <a:p>
            <a:pPr algn="l">
              <a:spcAft>
                <a:spcPts val="600"/>
              </a:spcAft>
            </a:pPr>
            <a:r>
              <a:rPr lang="es-CL" sz="1400" b="1" i="0" noProof="0" dirty="0">
                <a:solidFill>
                  <a:srgbClr val="143D73"/>
                </a:solidFill>
                <a:latin typeface="Arial"/>
              </a:rPr>
              <a:t>Accesibilidad ya integrada en los sistemas operativos</a:t>
            </a:r>
          </a:p>
          <a:p>
            <a:pPr marL="182880" indent="-182880" algn="l">
              <a:lnSpc>
                <a:spcPct val="110000"/>
              </a:lnSpc>
              <a:spcAft>
                <a:spcPts val="1000"/>
              </a:spcAft>
              <a:buFont typeface="Arial"/>
              <a:buChar char="•"/>
            </a:pPr>
            <a:r>
              <a:rPr lang="es-CL" sz="1250" b="0" i="0" noProof="0" dirty="0">
                <a:solidFill>
                  <a:srgbClr val="1A1A1A"/>
                </a:solidFill>
                <a:latin typeface="Arial"/>
              </a:rPr>
              <a:t>Android e iOS incorporan lectores de pantalla, control por voz y modos simplificados (ej. </a:t>
            </a:r>
            <a:r>
              <a:rPr lang="es-CL" sz="1250" b="0" i="0" noProof="0" dirty="0" err="1">
                <a:solidFill>
                  <a:srgbClr val="1A1A1A"/>
                </a:solidFill>
                <a:latin typeface="Arial"/>
              </a:rPr>
              <a:t>TalkBack</a:t>
            </a:r>
            <a:r>
              <a:rPr lang="es-CL" sz="1250" b="0" i="0" noProof="0" dirty="0">
                <a:solidFill>
                  <a:srgbClr val="1A1A1A"/>
                </a:solidFill>
                <a:latin typeface="Arial"/>
              </a:rPr>
              <a:t>, modo fácil de Samsung), pero pensados para discapacidad específica, no para el perfil del adulto mayor.</a:t>
            </a:r>
          </a:p>
          <a:p>
            <a:pPr algn="l">
              <a:spcAft>
                <a:spcPts val="600"/>
              </a:spcAft>
            </a:pPr>
            <a:r>
              <a:rPr lang="es-CL" sz="1400" b="1" i="0" noProof="0" dirty="0">
                <a:solidFill>
                  <a:srgbClr val="143D73"/>
                </a:solidFill>
                <a:latin typeface="Arial"/>
              </a:rPr>
              <a:t>Soluciones de terceros parciales</a:t>
            </a:r>
          </a:p>
          <a:p>
            <a:pPr marL="182880" indent="-182880" algn="l">
              <a:lnSpc>
                <a:spcPct val="110000"/>
              </a:lnSpc>
              <a:spcAft>
                <a:spcPts val="0"/>
              </a:spcAft>
              <a:buFont typeface="Arial"/>
              <a:buChar char="•"/>
            </a:pPr>
            <a:r>
              <a:rPr lang="es-CL" sz="1250" b="0" i="0" noProof="0" dirty="0">
                <a:solidFill>
                  <a:srgbClr val="1A1A1A"/>
                </a:solidFill>
                <a:latin typeface="Arial"/>
              </a:rPr>
              <a:t>Existen apps de accesibilidad y </a:t>
            </a:r>
            <a:r>
              <a:rPr lang="es-CL" sz="1250" b="0" i="0" noProof="0" dirty="0" err="1">
                <a:solidFill>
                  <a:srgbClr val="1A1A1A"/>
                </a:solidFill>
                <a:latin typeface="Arial"/>
              </a:rPr>
              <a:t>launchers</a:t>
            </a:r>
            <a:r>
              <a:rPr lang="es-CL" sz="1250" b="0" i="0" noProof="0" dirty="0">
                <a:solidFill>
                  <a:srgbClr val="1A1A1A"/>
                </a:solidFill>
                <a:latin typeface="Arial"/>
              </a:rPr>
              <a:t> simplificados, pero abordan necesidades puntuales sin ofrecer una experiencia unificada de control del teléfono.</a:t>
            </a:r>
          </a:p>
        </p:txBody>
      </p:sp>
      <p:pic>
        <p:nvPicPr>
          <p:cNvPr id="2" name="Imagen 1" descr="Los abuelos tienen problemas con los teléfonos celulares El hombre mayor no  sabe cómo usar el teléfono inteligente Ilustración vectorial | Vector  Premium">
            <a:extLst>
              <a:ext uri="{FF2B5EF4-FFF2-40B4-BE49-F238E27FC236}">
                <a16:creationId xmlns:a16="http://schemas.microsoft.com/office/drawing/2014/main" id="{C9E5679A-6A36-5B31-FFFE-348FE1CEC6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447" y="899366"/>
            <a:ext cx="2829116" cy="28291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>
            <a:spLocks noGrp="1"/>
          </p:cNvSpPr>
          <p:nvPr>
            <p:ph type="title"/>
          </p:nvPr>
        </p:nvSpPr>
        <p:spPr>
          <a:xfrm>
            <a:off x="1106176" y="324998"/>
            <a:ext cx="77268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 b="1" noProof="0" dirty="0">
                <a:solidFill>
                  <a:srgbClr val="1A1A1A"/>
                </a:solidFill>
                <a:latin typeface="Arial"/>
              </a:rPr>
              <a:t>Problemática</a:t>
            </a:r>
            <a:endParaRPr lang="es-CL" b="1" noProof="0" dirty="0"/>
          </a:p>
        </p:txBody>
      </p:sp>
      <p:sp>
        <p:nvSpPr>
          <p:cNvPr id="77" name="TextBox 76"/>
          <p:cNvSpPr txBox="1"/>
          <p:nvPr/>
        </p:nvSpPr>
        <p:spPr>
          <a:xfrm>
            <a:off x="502920" y="1005840"/>
            <a:ext cx="81381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lang="es-CL" sz="1300" b="0" i="0" noProof="0" dirty="0">
                <a:solidFill>
                  <a:srgbClr val="1A1A1A"/>
                </a:solidFill>
                <a:latin typeface="Arial"/>
              </a:rPr>
              <a:t>Los adultos mayores pueden presentar dificultades al utilizar smartphones debido a la complejidad de sus interfaces, la cantidad de pasos necesarios para realizar tareas y la menor familiaridad con la tecnología.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s-CL" sz="1300" b="0" i="1" noProof="0" dirty="0">
                <a:solidFill>
                  <a:srgbClr val="555555"/>
                </a:solidFill>
                <a:latin typeface="Arial"/>
              </a:rPr>
              <a:t>Las soluciones existentes suelen abordar sólo un aspecto del problema (interfaz simplificada o control por voz), sin integrar ambos enfoques.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502920" y="2377440"/>
            <a:ext cx="1920240" cy="182880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28016" rIns="128016" bIns="91440" rtlCol="0" anchor="ctr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s-CL" sz="1250" b="1" i="0" noProof="0" dirty="0">
                <a:solidFill>
                  <a:srgbClr val="143D73"/>
                </a:solidFill>
                <a:latin typeface="Arial"/>
              </a:rPr>
              <a:t>Interfaces complejas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es-CL" sz="1050" b="0" i="0" noProof="0" dirty="0">
                <a:solidFill>
                  <a:srgbClr val="1A1A1A"/>
                </a:solidFill>
                <a:latin typeface="Arial"/>
              </a:rPr>
              <a:t>Demasiados pasos y menús para completar tareas simples.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2560320" y="2377440"/>
            <a:ext cx="1920240" cy="182880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28016" rIns="128016" bIns="91440" rtlCol="0" anchor="ctr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s-CL" sz="1250" b="1" i="0" noProof="0" dirty="0">
                <a:solidFill>
                  <a:srgbClr val="143D73"/>
                </a:solidFill>
                <a:latin typeface="Arial"/>
              </a:rPr>
              <a:t>Dificultad de navegación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es-CL" sz="1050" b="0" i="0" noProof="0" dirty="0">
                <a:solidFill>
                  <a:srgbClr val="1A1A1A"/>
                </a:solidFill>
                <a:latin typeface="Arial"/>
              </a:rPr>
              <a:t>Problemas para recordar rutas dentro de la aplicación.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4617720" y="2377440"/>
            <a:ext cx="1920240" cy="182880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28016" rIns="128016" bIns="91440" rtlCol="0" anchor="ctr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s-CL" sz="1250" b="1" i="0" noProof="0" dirty="0">
                <a:solidFill>
                  <a:srgbClr val="143D73"/>
                </a:solidFill>
                <a:latin typeface="Arial"/>
              </a:rPr>
              <a:t>Temor al error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es-CL" sz="1050" b="0" i="0" noProof="0" dirty="0">
                <a:solidFill>
                  <a:srgbClr val="1A1A1A"/>
                </a:solidFill>
                <a:latin typeface="Arial"/>
              </a:rPr>
              <a:t>Miedo a realizar acciones incorrectas en el dispositivo.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675120" y="2377440"/>
            <a:ext cx="1920240" cy="182880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28016" rIns="128016" bIns="91440" rtlCol="0" anchor="ctr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s-CL" sz="1250" b="1" i="0" noProof="0" dirty="0">
                <a:solidFill>
                  <a:srgbClr val="143D73"/>
                </a:solidFill>
                <a:latin typeface="Arial"/>
              </a:rPr>
              <a:t>Soluciones parciales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es-CL" sz="1050" b="0" i="0" noProof="0" dirty="0">
                <a:solidFill>
                  <a:srgbClr val="1A1A1A"/>
                </a:solidFill>
                <a:latin typeface="Arial"/>
              </a:rPr>
              <a:t>Accesibilidad nativa no pensada para el perfil del adulto mayor.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>
            <a:spLocks noGrp="1"/>
          </p:cNvSpPr>
          <p:nvPr>
            <p:ph type="title"/>
          </p:nvPr>
        </p:nvSpPr>
        <p:spPr>
          <a:xfrm>
            <a:off x="1106176" y="324998"/>
            <a:ext cx="77268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 b="1" noProof="0" dirty="0">
                <a:solidFill>
                  <a:srgbClr val="1A1A1A"/>
                </a:solidFill>
                <a:latin typeface="Arial"/>
              </a:rPr>
              <a:t>Solución</a:t>
            </a:r>
            <a:endParaRPr lang="es-CL" b="1" noProof="0" dirty="0"/>
          </a:p>
        </p:txBody>
      </p:sp>
      <p:sp>
        <p:nvSpPr>
          <p:cNvPr id="77" name="TextBox 76"/>
          <p:cNvSpPr txBox="1"/>
          <p:nvPr/>
        </p:nvSpPr>
        <p:spPr>
          <a:xfrm>
            <a:off x="502920" y="960120"/>
            <a:ext cx="8138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s-CL" sz="1300" b="0" i="1" noProof="0" dirty="0">
                <a:solidFill>
                  <a:srgbClr val="555555"/>
                </a:solidFill>
                <a:latin typeface="Arial"/>
              </a:rPr>
              <a:t>Una capa de accesibilidad sobre Android que interpreta lenguaje natural para ejecutar tareas cotidianas.</a:t>
            </a:r>
          </a:p>
        </p:txBody>
      </p:sp>
      <p:sp>
        <p:nvSpPr>
          <p:cNvPr id="78" name="Oval 77"/>
          <p:cNvSpPr/>
          <p:nvPr/>
        </p:nvSpPr>
        <p:spPr>
          <a:xfrm>
            <a:off x="1239012" y="1554480"/>
            <a:ext cx="402336" cy="402336"/>
          </a:xfrm>
          <a:prstGeom prst="ellipse">
            <a:avLst/>
          </a:prstGeom>
          <a:solidFill>
            <a:srgbClr val="257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L" sz="1500" b="1" noProof="0" dirty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02920" y="2084832"/>
            <a:ext cx="1874519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500"/>
              </a:spcAft>
            </a:pPr>
            <a:r>
              <a:rPr lang="es-CL" sz="1200" b="1" i="0" noProof="0" dirty="0">
                <a:solidFill>
                  <a:srgbClr val="143D73"/>
                </a:solidFill>
                <a:latin typeface="Arial"/>
              </a:rPr>
              <a:t>Instrucción hablada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es-CL" sz="1000" b="0" i="0" noProof="0" dirty="0">
                <a:solidFill>
                  <a:srgbClr val="1A1A1A"/>
                </a:solidFill>
                <a:latin typeface="Arial"/>
              </a:rPr>
              <a:t>“Quiero poner una alarma para mañana a las ocho.”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2359151" y="1746504"/>
            <a:ext cx="155448" cy="0"/>
          </a:xfrm>
          <a:prstGeom prst="line">
            <a:avLst/>
          </a:prstGeom>
          <a:ln w="25400">
            <a:solidFill>
              <a:srgbClr val="257C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Oval 80"/>
          <p:cNvSpPr/>
          <p:nvPr/>
        </p:nvSpPr>
        <p:spPr>
          <a:xfrm>
            <a:off x="3232403" y="1554480"/>
            <a:ext cx="402336" cy="402336"/>
          </a:xfrm>
          <a:prstGeom prst="ellipse">
            <a:avLst/>
          </a:prstGeom>
          <a:solidFill>
            <a:srgbClr val="257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L" sz="1500" b="1" noProof="0" dirty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496311" y="2084832"/>
            <a:ext cx="1874519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500"/>
              </a:spcAft>
            </a:pPr>
            <a:r>
              <a:rPr lang="es-CL" sz="1200" b="1" i="0" noProof="0" dirty="0">
                <a:solidFill>
                  <a:srgbClr val="143D73"/>
                </a:solidFill>
                <a:latin typeface="Arial"/>
              </a:rPr>
              <a:t>Reconocimiento e interpretación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es-CL" sz="1000" b="0" i="0" noProof="0" dirty="0">
                <a:solidFill>
                  <a:srgbClr val="1A1A1A"/>
                </a:solidFill>
                <a:latin typeface="Arial"/>
              </a:rPr>
              <a:t>Voz a texto → identificación de intención y parámetros.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4352544" y="1746504"/>
            <a:ext cx="155448" cy="0"/>
          </a:xfrm>
          <a:prstGeom prst="line">
            <a:avLst/>
          </a:prstGeom>
          <a:ln w="25400">
            <a:solidFill>
              <a:srgbClr val="257C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Oval 83"/>
          <p:cNvSpPr/>
          <p:nvPr/>
        </p:nvSpPr>
        <p:spPr>
          <a:xfrm>
            <a:off x="5225795" y="1554480"/>
            <a:ext cx="402336" cy="402336"/>
          </a:xfrm>
          <a:prstGeom prst="ellipse">
            <a:avLst/>
          </a:prstGeom>
          <a:solidFill>
            <a:srgbClr val="257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L" sz="1500" b="1" noProof="0" dirty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489703" y="2084832"/>
            <a:ext cx="1874519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500"/>
              </a:spcAft>
            </a:pPr>
            <a:r>
              <a:rPr lang="es-CL" sz="1200" b="1" i="0" noProof="0" dirty="0">
                <a:solidFill>
                  <a:srgbClr val="143D73"/>
                </a:solidFill>
                <a:latin typeface="Arial"/>
              </a:rPr>
              <a:t>Confirmación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es-CL" sz="1000" b="0" i="0" noProof="0" dirty="0">
                <a:solidFill>
                  <a:srgbClr val="1A1A1A"/>
                </a:solidFill>
                <a:latin typeface="Arial"/>
              </a:rPr>
              <a:t>“Entendí que quieres una alarma para mañana a las ocho. ¿La configuro?”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6345936" y="1746504"/>
            <a:ext cx="155447" cy="0"/>
          </a:xfrm>
          <a:prstGeom prst="line">
            <a:avLst/>
          </a:prstGeom>
          <a:ln w="25400">
            <a:solidFill>
              <a:srgbClr val="257C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Oval 86"/>
          <p:cNvSpPr/>
          <p:nvPr/>
        </p:nvSpPr>
        <p:spPr>
          <a:xfrm>
            <a:off x="7219187" y="1554480"/>
            <a:ext cx="402336" cy="402336"/>
          </a:xfrm>
          <a:prstGeom prst="ellipse">
            <a:avLst/>
          </a:prstGeom>
          <a:solidFill>
            <a:srgbClr val="257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L" sz="1500" b="1" noProof="0" dirty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483095" y="2084832"/>
            <a:ext cx="1874519" cy="7588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500"/>
              </a:spcAft>
            </a:pPr>
            <a:r>
              <a:rPr lang="es-CL" sz="1200" b="1" i="0" noProof="0" dirty="0">
                <a:solidFill>
                  <a:srgbClr val="143D73"/>
                </a:solidFill>
                <a:latin typeface="Arial"/>
              </a:rPr>
              <a:t>Ejecución y retroalimentación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es-CL" sz="1000" b="0" i="0" noProof="0" dirty="0">
                <a:solidFill>
                  <a:srgbClr val="1A1A1A"/>
                </a:solidFill>
                <a:latin typeface="Arial"/>
              </a:rPr>
              <a:t>Se ejecuta la acción y se confirma por voz o en pantalla.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02920" y="3749039"/>
            <a:ext cx="81381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s-CL" sz="1200" b="0" i="1" noProof="0" dirty="0">
                <a:solidFill>
                  <a:srgbClr val="555555"/>
                </a:solidFill>
                <a:latin typeface="Arial"/>
              </a:rPr>
              <a:t>El modelo busca reducir la cantidad de pasos que el usuario necesita conocer para completar una tarea, incorporando confirmación de acciones críticas y tolerancia a errores.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>
            <a:spLocks noGrp="1"/>
          </p:cNvSpPr>
          <p:nvPr>
            <p:ph type="title"/>
          </p:nvPr>
        </p:nvSpPr>
        <p:spPr>
          <a:xfrm>
            <a:off x="1106176" y="324998"/>
            <a:ext cx="77268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 b="1" noProof="0" dirty="0">
                <a:solidFill>
                  <a:srgbClr val="1A1A1A"/>
                </a:solidFill>
                <a:latin typeface="Arial"/>
              </a:rPr>
              <a:t>Metodología de Trabajo</a:t>
            </a:r>
            <a:endParaRPr lang="es-CL" b="1" noProof="0" dirty="0"/>
          </a:p>
        </p:txBody>
      </p:sp>
      <p:sp>
        <p:nvSpPr>
          <p:cNvPr id="77" name="TextBox 76"/>
          <p:cNvSpPr txBox="1"/>
          <p:nvPr/>
        </p:nvSpPr>
        <p:spPr>
          <a:xfrm>
            <a:off x="502920" y="960120"/>
            <a:ext cx="8138160" cy="4135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lang="es-CL" sz="1250" b="0" i="0" noProof="0" dirty="0">
                <a:solidFill>
                  <a:srgbClr val="1A1A1A"/>
                </a:solidFill>
                <a:latin typeface="Arial"/>
              </a:rPr>
              <a:t>El proyecto se desarrolla bajo la metodología Cascada (Waterfall): cada fase se completa y valida antes de iniciar la siguiente</a:t>
            </a:r>
            <a:r>
              <a:rPr lang="es-CL" sz="1250" dirty="0">
                <a:solidFill>
                  <a:srgbClr val="1A1A1A"/>
                </a:solidFill>
              </a:rPr>
              <a:t>.</a:t>
            </a:r>
            <a:endParaRPr lang="es-CL" sz="1250" b="0" i="0" noProof="0" dirty="0">
              <a:solidFill>
                <a:srgbClr val="1A1A1A"/>
              </a:solidFill>
              <a:latin typeface="Arial"/>
            </a:endParaRPr>
          </a:p>
        </p:txBody>
      </p:sp>
      <p:sp>
        <p:nvSpPr>
          <p:cNvPr id="78" name="Oval 77"/>
          <p:cNvSpPr/>
          <p:nvPr/>
        </p:nvSpPr>
        <p:spPr>
          <a:xfrm>
            <a:off x="1007364" y="2011680"/>
            <a:ext cx="347472" cy="347472"/>
          </a:xfrm>
          <a:prstGeom prst="ellipse">
            <a:avLst/>
          </a:prstGeom>
          <a:solidFill>
            <a:srgbClr val="257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L" sz="1500" b="1" noProof="0" dirty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1354836" y="2185416"/>
            <a:ext cx="1008888" cy="0"/>
          </a:xfrm>
          <a:prstGeom prst="line">
            <a:avLst/>
          </a:prstGeom>
          <a:ln w="16510">
            <a:solidFill>
              <a:srgbClr val="257C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502920" y="2450592"/>
            <a:ext cx="128320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s-CL" sz="1150" b="1" i="0" noProof="0" dirty="0">
                <a:solidFill>
                  <a:srgbClr val="143D73"/>
                </a:solidFill>
                <a:latin typeface="Arial"/>
              </a:rPr>
              <a:t>Inicio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02920" y="2788920"/>
            <a:ext cx="1283208" cy="141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lang="es-CL" sz="900" b="0" i="0" noProof="0" dirty="0">
                <a:solidFill>
                  <a:srgbClr val="1A1A1A"/>
                </a:solidFill>
                <a:latin typeface="Arial"/>
              </a:rPr>
              <a:t>Definición del problema, justificación, objetivos y Acta de Constitución.</a:t>
            </a:r>
          </a:p>
        </p:txBody>
      </p:sp>
      <p:sp>
        <p:nvSpPr>
          <p:cNvPr id="82" name="Oval 81"/>
          <p:cNvSpPr/>
          <p:nvPr/>
        </p:nvSpPr>
        <p:spPr>
          <a:xfrm>
            <a:off x="2363724" y="2011680"/>
            <a:ext cx="347472" cy="347472"/>
          </a:xfrm>
          <a:prstGeom prst="ellipse">
            <a:avLst/>
          </a:prstGeom>
          <a:solidFill>
            <a:srgbClr val="257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L" sz="1500" b="1" noProof="0" dirty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2711196" y="2185416"/>
            <a:ext cx="1008888" cy="0"/>
          </a:xfrm>
          <a:prstGeom prst="line">
            <a:avLst/>
          </a:prstGeom>
          <a:ln w="16510">
            <a:solidFill>
              <a:srgbClr val="257C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1859280" y="2450592"/>
            <a:ext cx="128320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s-CL" sz="1150" b="1" i="0" noProof="0" dirty="0">
                <a:solidFill>
                  <a:srgbClr val="143D73"/>
                </a:solidFill>
                <a:latin typeface="Arial"/>
              </a:rPr>
              <a:t>Análisis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59280" y="2788920"/>
            <a:ext cx="1283208" cy="141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lang="es-CL" sz="900" b="0" i="0" noProof="0" dirty="0">
                <a:solidFill>
                  <a:srgbClr val="1A1A1A"/>
                </a:solidFill>
                <a:latin typeface="Arial"/>
              </a:rPr>
              <a:t>Requerimientos funcionales y no funcionales, estado del arte.</a:t>
            </a:r>
          </a:p>
        </p:txBody>
      </p:sp>
      <p:sp>
        <p:nvSpPr>
          <p:cNvPr id="86" name="Oval 85"/>
          <p:cNvSpPr/>
          <p:nvPr/>
        </p:nvSpPr>
        <p:spPr>
          <a:xfrm>
            <a:off x="3720083" y="2011680"/>
            <a:ext cx="347472" cy="347472"/>
          </a:xfrm>
          <a:prstGeom prst="ellipse">
            <a:avLst/>
          </a:prstGeom>
          <a:solidFill>
            <a:srgbClr val="257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L" sz="1500" b="1" noProof="0" dirty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cxnSp>
        <p:nvCxnSpPr>
          <p:cNvPr id="87" name="Connector 86"/>
          <p:cNvCxnSpPr/>
          <p:nvPr/>
        </p:nvCxnSpPr>
        <p:spPr>
          <a:xfrm>
            <a:off x="4067556" y="2185416"/>
            <a:ext cx="1008888" cy="0"/>
          </a:xfrm>
          <a:prstGeom prst="line">
            <a:avLst/>
          </a:prstGeom>
          <a:ln w="16510">
            <a:solidFill>
              <a:srgbClr val="257C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3215640" y="2450592"/>
            <a:ext cx="128320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s-CL" sz="1150" b="1" i="0" noProof="0" dirty="0">
                <a:solidFill>
                  <a:srgbClr val="143D73"/>
                </a:solidFill>
                <a:latin typeface="Arial"/>
              </a:rPr>
              <a:t>Diseño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215640" y="2788920"/>
            <a:ext cx="1283208" cy="141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lang="es-CL" sz="900" b="0" i="0" noProof="0" dirty="0">
                <a:solidFill>
                  <a:srgbClr val="1A1A1A"/>
                </a:solidFill>
                <a:latin typeface="Arial"/>
              </a:rPr>
              <a:t>Arquitectura tecnológica, mockup y modelo de datos.</a:t>
            </a:r>
          </a:p>
        </p:txBody>
      </p:sp>
      <p:sp>
        <p:nvSpPr>
          <p:cNvPr id="90" name="Oval 89"/>
          <p:cNvSpPr/>
          <p:nvPr/>
        </p:nvSpPr>
        <p:spPr>
          <a:xfrm>
            <a:off x="5076444" y="2011680"/>
            <a:ext cx="347472" cy="347472"/>
          </a:xfrm>
          <a:prstGeom prst="ellipse">
            <a:avLst/>
          </a:prstGeom>
          <a:solidFill>
            <a:srgbClr val="257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L" sz="1500" b="1" noProof="0" dirty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5423916" y="2185416"/>
            <a:ext cx="1008888" cy="0"/>
          </a:xfrm>
          <a:prstGeom prst="line">
            <a:avLst/>
          </a:prstGeom>
          <a:ln w="16510">
            <a:solidFill>
              <a:srgbClr val="257C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>
            <a:off x="4572000" y="2450592"/>
            <a:ext cx="128320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s-CL" sz="1150" b="1" i="0" noProof="0" dirty="0">
                <a:solidFill>
                  <a:srgbClr val="143D73"/>
                </a:solidFill>
                <a:latin typeface="Arial"/>
              </a:rPr>
              <a:t>Desarrollo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572000" y="2788920"/>
            <a:ext cx="1283208" cy="141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lang="es-CL" sz="900" b="0" i="0" noProof="0" dirty="0">
                <a:solidFill>
                  <a:srgbClr val="1A1A1A"/>
                </a:solidFill>
                <a:latin typeface="Arial"/>
              </a:rPr>
              <a:t>Reconocimiento de voz, interpretación, ejecución de acciones e interfaz.</a:t>
            </a:r>
          </a:p>
        </p:txBody>
      </p:sp>
      <p:sp>
        <p:nvSpPr>
          <p:cNvPr id="94" name="Oval 93"/>
          <p:cNvSpPr/>
          <p:nvPr/>
        </p:nvSpPr>
        <p:spPr>
          <a:xfrm>
            <a:off x="6432803" y="2011680"/>
            <a:ext cx="347472" cy="347472"/>
          </a:xfrm>
          <a:prstGeom prst="ellipse">
            <a:avLst/>
          </a:prstGeom>
          <a:solidFill>
            <a:srgbClr val="257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L" sz="1500" b="1" noProof="0" dirty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cxnSp>
        <p:nvCxnSpPr>
          <p:cNvPr id="95" name="Connector 94"/>
          <p:cNvCxnSpPr/>
          <p:nvPr/>
        </p:nvCxnSpPr>
        <p:spPr>
          <a:xfrm>
            <a:off x="6780276" y="2185416"/>
            <a:ext cx="1008888" cy="0"/>
          </a:xfrm>
          <a:prstGeom prst="line">
            <a:avLst/>
          </a:prstGeom>
          <a:ln w="16510">
            <a:solidFill>
              <a:srgbClr val="257C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5928360" y="2450592"/>
            <a:ext cx="128320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s-CL" sz="1150" b="1" i="0" noProof="0" dirty="0">
                <a:solidFill>
                  <a:srgbClr val="143D73"/>
                </a:solidFill>
                <a:latin typeface="Arial"/>
              </a:rPr>
              <a:t>Pruebas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928360" y="2788920"/>
            <a:ext cx="1283208" cy="141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lang="es-CL" sz="900" b="0" i="0" noProof="0" dirty="0">
                <a:solidFill>
                  <a:srgbClr val="1A1A1A"/>
                </a:solidFill>
                <a:latin typeface="Arial"/>
              </a:rPr>
              <a:t>Pruebas funcionales, usabilidad con adultos mayores y compatibilidad.</a:t>
            </a:r>
          </a:p>
        </p:txBody>
      </p:sp>
      <p:sp>
        <p:nvSpPr>
          <p:cNvPr id="98" name="Oval 97"/>
          <p:cNvSpPr/>
          <p:nvPr/>
        </p:nvSpPr>
        <p:spPr>
          <a:xfrm>
            <a:off x="7789164" y="2011680"/>
            <a:ext cx="347472" cy="347472"/>
          </a:xfrm>
          <a:prstGeom prst="ellipse">
            <a:avLst/>
          </a:prstGeom>
          <a:solidFill>
            <a:srgbClr val="257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L" sz="1500" b="1" noProof="0" dirty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84720" y="2450592"/>
            <a:ext cx="128320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s-CL" sz="1150" b="1" i="0" noProof="0" dirty="0">
                <a:solidFill>
                  <a:srgbClr val="143D73"/>
                </a:solidFill>
                <a:latin typeface="Arial"/>
              </a:rPr>
              <a:t>Cierre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284720" y="2788920"/>
            <a:ext cx="1283208" cy="141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lang="es-CL" sz="900" b="0" i="0" noProof="0" dirty="0">
                <a:solidFill>
                  <a:srgbClr val="1A1A1A"/>
                </a:solidFill>
                <a:latin typeface="Arial"/>
              </a:rPr>
              <a:t>Entrega final, documentación y presentación del proyecto.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>
            <a:spLocks noGrp="1"/>
          </p:cNvSpPr>
          <p:nvPr>
            <p:ph type="title"/>
          </p:nvPr>
        </p:nvSpPr>
        <p:spPr>
          <a:xfrm>
            <a:off x="1106176" y="324998"/>
            <a:ext cx="77268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 b="1" noProof="0" dirty="0">
                <a:solidFill>
                  <a:srgbClr val="1A1A1A"/>
                </a:solidFill>
                <a:latin typeface="Arial"/>
              </a:rPr>
              <a:t>Plan de Trabajo</a:t>
            </a:r>
            <a:endParaRPr lang="es-CL" b="1" noProof="0" dirty="0"/>
          </a:p>
        </p:txBody>
      </p:sp>
      <p:graphicFrame>
        <p:nvGraphicFramePr>
          <p:cNvPr id="77" name="Table 7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6033951"/>
              </p:ext>
            </p:extLst>
          </p:nvPr>
        </p:nvGraphicFramePr>
        <p:xfrm>
          <a:off x="502920" y="1051560"/>
          <a:ext cx="813816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9857">
                <a:tc>
                  <a:txBody>
                    <a:bodyPr/>
                    <a:lstStyle/>
                    <a:p>
                      <a:pPr algn="l"/>
                      <a:r>
                        <a:rPr lang="es-CL" sz="1200" b="1" noProof="0" dirty="0">
                          <a:solidFill>
                            <a:srgbClr val="FFFFFF"/>
                          </a:solidFill>
                          <a:latin typeface="Arial"/>
                        </a:rPr>
                        <a:t>Fase</a:t>
                      </a:r>
                    </a:p>
                  </a:txBody>
                  <a:tcPr marL="54864" marR="54864" marT="27432" marB="27432" anchor="ctr">
                    <a:solidFill>
                      <a:srgbClr val="257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200" b="1" noProof="0" dirty="0">
                          <a:solidFill>
                            <a:srgbClr val="FFFFFF"/>
                          </a:solidFill>
                          <a:latin typeface="Arial"/>
                        </a:rPr>
                        <a:t>Actividades principales</a:t>
                      </a:r>
                    </a:p>
                  </a:txBody>
                  <a:tcPr marL="54864" marR="54864" marT="27432" marB="27432" anchor="ctr">
                    <a:solidFill>
                      <a:srgbClr val="257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200" b="1" noProof="0" dirty="0">
                          <a:solidFill>
                            <a:srgbClr val="FFFFFF"/>
                          </a:solidFill>
                          <a:latin typeface="Arial"/>
                        </a:rPr>
                        <a:t>Duración estimada</a:t>
                      </a:r>
                    </a:p>
                  </a:txBody>
                  <a:tcPr marL="54864" marR="54864" marT="27432" marB="27432" anchor="ctr">
                    <a:solidFill>
                      <a:srgbClr val="257C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algn="l"/>
                      <a:r>
                        <a:rPr lang="es-CL" sz="1150" noProof="0" dirty="0">
                          <a:solidFill>
                            <a:srgbClr val="1A1A1A"/>
                          </a:solidFill>
                          <a:latin typeface="Arial"/>
                        </a:rPr>
                        <a:t>Inicio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150" noProof="0" dirty="0">
                          <a:solidFill>
                            <a:srgbClr val="1A1A1A"/>
                          </a:solidFill>
                          <a:latin typeface="Arial"/>
                        </a:rPr>
                        <a:t>Estado del arte, problema, justificación, objetivos, Acta de Constitución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150" noProof="0" dirty="0">
                          <a:solidFill>
                            <a:srgbClr val="1A1A1A"/>
                          </a:solidFill>
                          <a:latin typeface="Arial"/>
                        </a:rPr>
                        <a:t>Semanas 1-2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algn="l"/>
                      <a:r>
                        <a:rPr lang="es-CL" sz="1150" noProof="0" dirty="0">
                          <a:solidFill>
                            <a:srgbClr val="1A1A1A"/>
                          </a:solidFill>
                          <a:latin typeface="Arial"/>
                        </a:rPr>
                        <a:t>Análisis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150" noProof="0" dirty="0">
                          <a:solidFill>
                            <a:srgbClr val="1A1A1A"/>
                          </a:solidFill>
                          <a:latin typeface="Arial"/>
                        </a:rPr>
                        <a:t>Requerimientos funcionales y no funcionales, casos de uso, mockup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150" noProof="0" dirty="0">
                          <a:solidFill>
                            <a:srgbClr val="1A1A1A"/>
                          </a:solidFill>
                          <a:latin typeface="Arial"/>
                        </a:rPr>
                        <a:t>Semanas 3-4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algn="l"/>
                      <a:r>
                        <a:rPr lang="es-CL" sz="1150" noProof="0" dirty="0">
                          <a:solidFill>
                            <a:srgbClr val="1A1A1A"/>
                          </a:solidFill>
                          <a:latin typeface="Arial"/>
                        </a:rPr>
                        <a:t>Diseño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150" noProof="0" dirty="0">
                          <a:solidFill>
                            <a:srgbClr val="1A1A1A"/>
                          </a:solidFill>
                          <a:latin typeface="Arial"/>
                        </a:rPr>
                        <a:t>Arquitectura tecnológica, modelo de datos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200" dirty="0"/>
                        <a:t>Semana 5</a:t>
                      </a:r>
                      <a:endParaRPr lang="es-CL" sz="1150" noProof="0" dirty="0">
                        <a:solidFill>
                          <a:srgbClr val="1A1A1A"/>
                        </a:solidFill>
                        <a:latin typeface="Arial"/>
                      </a:endParaRP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algn="l"/>
                      <a:r>
                        <a:rPr lang="es-CL" sz="1150" noProof="0" dirty="0">
                          <a:solidFill>
                            <a:srgbClr val="1A1A1A"/>
                          </a:solidFill>
                          <a:latin typeface="Arial"/>
                        </a:rPr>
                        <a:t>Desarrollo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150" noProof="0" dirty="0">
                          <a:solidFill>
                            <a:srgbClr val="1A1A1A"/>
                          </a:solidFill>
                          <a:latin typeface="Arial"/>
                        </a:rPr>
                        <a:t>Módulos de voz, interpretación, ejecución, interfaz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200" dirty="0"/>
                        <a:t>Semanas 6-13</a:t>
                      </a:r>
                      <a:endParaRPr lang="es-CL" sz="1150" noProof="0" dirty="0">
                        <a:solidFill>
                          <a:srgbClr val="1A1A1A"/>
                        </a:solidFill>
                        <a:latin typeface="Arial"/>
                      </a:endParaRP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algn="l"/>
                      <a:r>
                        <a:rPr lang="es-CL" sz="1150" noProof="0" dirty="0">
                          <a:solidFill>
                            <a:srgbClr val="1A1A1A"/>
                          </a:solidFill>
                          <a:latin typeface="Arial"/>
                        </a:rPr>
                        <a:t>Pruebas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150" noProof="0" dirty="0">
                          <a:solidFill>
                            <a:srgbClr val="1A1A1A"/>
                          </a:solidFill>
                          <a:latin typeface="Arial"/>
                        </a:rPr>
                        <a:t>Pruebas funcionales, usabilidad y compatibilidad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200" dirty="0"/>
                        <a:t>Semana 14</a:t>
                      </a:r>
                      <a:endParaRPr lang="es-CL" sz="1150" noProof="0" dirty="0">
                        <a:solidFill>
                          <a:srgbClr val="1A1A1A"/>
                        </a:solidFill>
                        <a:latin typeface="Arial"/>
                      </a:endParaRP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9858">
                <a:tc>
                  <a:txBody>
                    <a:bodyPr/>
                    <a:lstStyle/>
                    <a:p>
                      <a:pPr algn="l"/>
                      <a:r>
                        <a:rPr lang="es-CL" sz="1150" noProof="0" dirty="0">
                          <a:solidFill>
                            <a:srgbClr val="1A1A1A"/>
                          </a:solidFill>
                          <a:latin typeface="Arial"/>
                        </a:rPr>
                        <a:t>Cierre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150" noProof="0" dirty="0">
                          <a:solidFill>
                            <a:srgbClr val="1A1A1A"/>
                          </a:solidFill>
                          <a:latin typeface="Arial"/>
                        </a:rPr>
                        <a:t>Documentación final, presentación y defensa del proyecto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200" dirty="0"/>
                        <a:t>Semanas 15-18</a:t>
                      </a:r>
                      <a:endParaRPr lang="es-CL" sz="1150" noProof="0" dirty="0">
                        <a:solidFill>
                          <a:srgbClr val="1A1A1A"/>
                        </a:solidFill>
                        <a:latin typeface="Arial"/>
                      </a:endParaRP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>
            <a:spLocks noGrp="1"/>
          </p:cNvSpPr>
          <p:nvPr>
            <p:ph type="title"/>
          </p:nvPr>
        </p:nvSpPr>
        <p:spPr>
          <a:xfrm>
            <a:off x="1106176" y="324998"/>
            <a:ext cx="77268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 b="1" noProof="0" dirty="0">
                <a:solidFill>
                  <a:srgbClr val="1A1A1A"/>
                </a:solidFill>
                <a:latin typeface="Arial"/>
              </a:rPr>
              <a:t>Roles y Responsabilidades</a:t>
            </a:r>
            <a:endParaRPr lang="es-CL" b="1" noProof="0" dirty="0"/>
          </a:p>
        </p:txBody>
      </p:sp>
      <p:graphicFrame>
        <p:nvGraphicFramePr>
          <p:cNvPr id="77" name="Table 7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5727812"/>
              </p:ext>
            </p:extLst>
          </p:nvPr>
        </p:nvGraphicFramePr>
        <p:xfrm>
          <a:off x="502920" y="1051560"/>
          <a:ext cx="813816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6656">
                <a:tc>
                  <a:txBody>
                    <a:bodyPr/>
                    <a:lstStyle/>
                    <a:p>
                      <a:pPr algn="l"/>
                      <a:r>
                        <a:rPr lang="es-CL" sz="1150" b="1" noProof="0" dirty="0">
                          <a:solidFill>
                            <a:srgbClr val="FFFFFF"/>
                          </a:solidFill>
                          <a:latin typeface="Arial"/>
                        </a:rPr>
                        <a:t>Integrante</a:t>
                      </a:r>
                    </a:p>
                  </a:txBody>
                  <a:tcPr marL="54864" marR="54864" marT="27432" marB="27432" anchor="ctr">
                    <a:solidFill>
                      <a:srgbClr val="257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150" b="1" noProof="0" dirty="0">
                          <a:solidFill>
                            <a:srgbClr val="FFFFFF"/>
                          </a:solidFill>
                          <a:latin typeface="Arial"/>
                        </a:rPr>
                        <a:t>Rol</a:t>
                      </a:r>
                    </a:p>
                  </a:txBody>
                  <a:tcPr marL="54864" marR="54864" marT="27432" marB="27432" anchor="ctr">
                    <a:solidFill>
                      <a:srgbClr val="257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150" b="1" noProof="0" dirty="0">
                          <a:solidFill>
                            <a:srgbClr val="FFFFFF"/>
                          </a:solidFill>
                          <a:latin typeface="Arial"/>
                        </a:rPr>
                        <a:t>Responsabilidades principales</a:t>
                      </a:r>
                    </a:p>
                  </a:txBody>
                  <a:tcPr marL="54864" marR="54864" marT="27432" marB="27432" anchor="ctr">
                    <a:solidFill>
                      <a:srgbClr val="257C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algn="l"/>
                      <a:r>
                        <a:rPr lang="es-CL" sz="1050" noProof="0" dirty="0">
                          <a:solidFill>
                            <a:srgbClr val="1A1A1A"/>
                          </a:solidFill>
                          <a:latin typeface="Arial"/>
                        </a:rPr>
                        <a:t>Miguel Pereira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050" noProof="0" dirty="0">
                          <a:solidFill>
                            <a:srgbClr val="1A1A1A"/>
                          </a:solidFill>
                          <a:latin typeface="Arial"/>
                        </a:rPr>
                        <a:t>Jefe de Proyecto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050" noProof="0" dirty="0">
                          <a:solidFill>
                            <a:srgbClr val="1A1A1A"/>
                          </a:solidFill>
                          <a:latin typeface="Arial"/>
                        </a:rPr>
                        <a:t>Coordinación del equipo, gestión del cronograma, seguimiento de riesgos y consolidación de la documentación.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algn="l"/>
                      <a:r>
                        <a:rPr lang="es-CL" sz="1050" noProof="0" dirty="0">
                          <a:solidFill>
                            <a:srgbClr val="1A1A1A"/>
                          </a:solidFill>
                          <a:latin typeface="Arial"/>
                        </a:rPr>
                        <a:t>Baltasar Ordoñez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050" noProof="0" dirty="0">
                          <a:solidFill>
                            <a:srgbClr val="1A1A1A"/>
                          </a:solidFill>
                          <a:latin typeface="Arial"/>
                        </a:rPr>
                        <a:t>Desarrollador de Voz e Interpretación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050" noProof="0" dirty="0">
                          <a:solidFill>
                            <a:srgbClr val="1A1A1A"/>
                          </a:solidFill>
                          <a:latin typeface="Arial"/>
                        </a:rPr>
                        <a:t>Reconocimiento de voz y motor de interpretación de lenguaje natural / intención del usuario.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algn="l"/>
                      <a:r>
                        <a:rPr lang="es-CL" sz="1050" noProof="0" dirty="0" err="1">
                          <a:solidFill>
                            <a:srgbClr val="1A1A1A"/>
                          </a:solidFill>
                          <a:latin typeface="Arial"/>
                        </a:rPr>
                        <a:t>Jose</a:t>
                      </a:r>
                      <a:r>
                        <a:rPr lang="es-CL" sz="1050" noProof="0" dirty="0">
                          <a:solidFill>
                            <a:srgbClr val="1A1A1A"/>
                          </a:solidFill>
                          <a:latin typeface="Arial"/>
                        </a:rPr>
                        <a:t> Luis Donoso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050" noProof="0" dirty="0">
                          <a:solidFill>
                            <a:srgbClr val="1A1A1A"/>
                          </a:solidFill>
                          <a:latin typeface="Arial"/>
                        </a:rPr>
                        <a:t>Desarrollador de Interfaz y Accesibilidad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050" noProof="0" dirty="0">
                          <a:solidFill>
                            <a:srgbClr val="1A1A1A"/>
                          </a:solidFill>
                          <a:latin typeface="Arial"/>
                        </a:rPr>
                        <a:t>Diseño e implementación de la interfaz simplificada (UI/UX) con principios de accesibilidad.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algn="l"/>
                      <a:r>
                        <a:rPr lang="es-CL" sz="1050" noProof="0" dirty="0">
                          <a:solidFill>
                            <a:srgbClr val="1A1A1A"/>
                          </a:solidFill>
                          <a:latin typeface="Arial"/>
                        </a:rPr>
                        <a:t>Joaquin Mendoza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050" noProof="0" dirty="0">
                          <a:solidFill>
                            <a:srgbClr val="1A1A1A"/>
                          </a:solidFill>
                          <a:latin typeface="Arial"/>
                        </a:rPr>
                        <a:t>Encargado de Pruebas y Documentación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050" noProof="0" dirty="0">
                          <a:solidFill>
                            <a:srgbClr val="1A1A1A"/>
                          </a:solidFill>
                          <a:latin typeface="Arial"/>
                        </a:rPr>
                        <a:t>Pruebas funcionales y de usabilidad, documentación técnica y control de calidad.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>
            <a:spLocks noGrp="1"/>
          </p:cNvSpPr>
          <p:nvPr>
            <p:ph type="title"/>
          </p:nvPr>
        </p:nvSpPr>
        <p:spPr>
          <a:xfrm>
            <a:off x="1106176" y="324998"/>
            <a:ext cx="77268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 b="1" noProof="0" dirty="0">
                <a:solidFill>
                  <a:srgbClr val="1A1A1A"/>
                </a:solidFill>
                <a:latin typeface="Arial"/>
              </a:rPr>
              <a:t>Mapa Tecnológico</a:t>
            </a:r>
            <a:endParaRPr lang="es-CL" b="1" noProof="0" dirty="0"/>
          </a:p>
        </p:txBody>
      </p:sp>
      <p:sp>
        <p:nvSpPr>
          <p:cNvPr id="77" name="TextBox 76"/>
          <p:cNvSpPr txBox="1"/>
          <p:nvPr/>
        </p:nvSpPr>
        <p:spPr>
          <a:xfrm>
            <a:off x="502920" y="960120"/>
            <a:ext cx="8138160" cy="3905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s-CL" sz="1200" b="0" i="0" noProof="0" dirty="0">
                <a:solidFill>
                  <a:srgbClr val="1A1A1A"/>
                </a:solidFill>
                <a:latin typeface="Arial"/>
              </a:rPr>
              <a:t>Aplicación móvil nativa para Android en </a:t>
            </a:r>
            <a:r>
              <a:rPr lang="es-CL" sz="1200" b="0" i="0" noProof="0" dirty="0" err="1">
                <a:solidFill>
                  <a:srgbClr val="1A1A1A"/>
                </a:solidFill>
                <a:latin typeface="Arial"/>
              </a:rPr>
              <a:t>Kotlin</a:t>
            </a:r>
            <a:r>
              <a:rPr lang="es-CL" sz="1200" b="0" i="0" noProof="0" dirty="0">
                <a:solidFill>
                  <a:srgbClr val="1A1A1A"/>
                </a:solidFill>
                <a:latin typeface="Arial"/>
              </a:rPr>
              <a:t>, con arquitectura MVVM, que separa presentación, lógica de negocio, acceso a datos e interacción con las </a:t>
            </a:r>
            <a:r>
              <a:rPr lang="es-CL" sz="1200" b="0" i="0" noProof="0" dirty="0" err="1">
                <a:solidFill>
                  <a:srgbClr val="1A1A1A"/>
                </a:solidFill>
                <a:latin typeface="Arial"/>
              </a:rPr>
              <a:t>APIs</a:t>
            </a:r>
            <a:r>
              <a:rPr lang="es-CL" sz="1200" b="0" i="0" noProof="0" dirty="0">
                <a:solidFill>
                  <a:srgbClr val="1A1A1A"/>
                </a:solidFill>
                <a:latin typeface="Arial"/>
              </a:rPr>
              <a:t> nativas de Android.</a:t>
            </a:r>
          </a:p>
        </p:txBody>
      </p:sp>
      <p:graphicFrame>
        <p:nvGraphicFramePr>
          <p:cNvPr id="78" name="Table 7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9438746"/>
              </p:ext>
            </p:extLst>
          </p:nvPr>
        </p:nvGraphicFramePr>
        <p:xfrm>
          <a:off x="502920" y="1737360"/>
          <a:ext cx="8138160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0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5225">
                <a:tc>
                  <a:txBody>
                    <a:bodyPr/>
                    <a:lstStyle/>
                    <a:p>
                      <a:pPr algn="l"/>
                      <a:r>
                        <a:rPr lang="es-CL" sz="1150" b="1" noProof="0" dirty="0">
                          <a:solidFill>
                            <a:srgbClr val="FFFFFF"/>
                          </a:solidFill>
                          <a:latin typeface="Arial"/>
                        </a:rPr>
                        <a:t>Componente</a:t>
                      </a:r>
                    </a:p>
                  </a:txBody>
                  <a:tcPr marL="54864" marR="54864" marT="27432" marB="27432" anchor="ctr">
                    <a:solidFill>
                      <a:srgbClr val="257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150" b="1" noProof="0" dirty="0">
                          <a:solidFill>
                            <a:srgbClr val="FFFFFF"/>
                          </a:solidFill>
                          <a:latin typeface="Arial"/>
                        </a:rPr>
                        <a:t>Tecnología definida</a:t>
                      </a:r>
                    </a:p>
                  </a:txBody>
                  <a:tcPr marL="54864" marR="54864" marT="27432" marB="27432" anchor="ctr">
                    <a:solidFill>
                      <a:srgbClr val="257C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5225">
                <a:tc>
                  <a:txBody>
                    <a:bodyPr/>
                    <a:lstStyle/>
                    <a:p>
                      <a:pPr algn="l"/>
                      <a:r>
                        <a:rPr lang="es-CL" sz="950" noProof="0" dirty="0">
                          <a:solidFill>
                            <a:srgbClr val="1A1A1A"/>
                          </a:solidFill>
                          <a:latin typeface="Arial"/>
                        </a:rPr>
                        <a:t>Arquitectura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950" noProof="0" dirty="0">
                          <a:solidFill>
                            <a:srgbClr val="1A1A1A"/>
                          </a:solidFill>
                          <a:latin typeface="Arial"/>
                        </a:rPr>
                        <a:t>Arquitectura MVVM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5225">
                <a:tc>
                  <a:txBody>
                    <a:bodyPr/>
                    <a:lstStyle/>
                    <a:p>
                      <a:pPr algn="l"/>
                      <a:r>
                        <a:rPr lang="es-CL" sz="950" noProof="0" dirty="0">
                          <a:solidFill>
                            <a:srgbClr val="1A1A1A"/>
                          </a:solidFill>
                          <a:latin typeface="Arial"/>
                        </a:rPr>
                        <a:t>Lenguaje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950" noProof="0" dirty="0" err="1">
                          <a:solidFill>
                            <a:srgbClr val="1A1A1A"/>
                          </a:solidFill>
                          <a:latin typeface="Arial"/>
                        </a:rPr>
                        <a:t>Kotlin</a:t>
                      </a:r>
                      <a:endParaRPr lang="es-CL" sz="950" noProof="0" dirty="0">
                        <a:solidFill>
                          <a:srgbClr val="1A1A1A"/>
                        </a:solidFill>
                        <a:latin typeface="Arial"/>
                      </a:endParaRP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5225">
                <a:tc>
                  <a:txBody>
                    <a:bodyPr/>
                    <a:lstStyle/>
                    <a:p>
                      <a:pPr algn="l"/>
                      <a:r>
                        <a:rPr lang="es-CL" sz="950" noProof="0" dirty="0">
                          <a:solidFill>
                            <a:srgbClr val="1A1A1A"/>
                          </a:solidFill>
                          <a:latin typeface="Arial"/>
                        </a:rPr>
                        <a:t>Plataforma / UI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950" noProof="0" dirty="0">
                          <a:solidFill>
                            <a:srgbClr val="1A1A1A"/>
                          </a:solidFill>
                          <a:latin typeface="Arial"/>
                        </a:rPr>
                        <a:t>Android nativo + XML / Android </a:t>
                      </a:r>
                      <a:r>
                        <a:rPr lang="es-CL" sz="950" noProof="0" dirty="0" err="1">
                          <a:solidFill>
                            <a:srgbClr val="1A1A1A"/>
                          </a:solidFill>
                          <a:latin typeface="Arial"/>
                        </a:rPr>
                        <a:t>Views</a:t>
                      </a:r>
                      <a:endParaRPr lang="es-CL" sz="950" noProof="0" dirty="0">
                        <a:solidFill>
                          <a:srgbClr val="1A1A1A"/>
                        </a:solidFill>
                        <a:latin typeface="Arial"/>
                      </a:endParaRP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5225">
                <a:tc>
                  <a:txBody>
                    <a:bodyPr/>
                    <a:lstStyle/>
                    <a:p>
                      <a:pPr algn="l"/>
                      <a:r>
                        <a:rPr lang="es-CL" sz="950" noProof="0" dirty="0">
                          <a:solidFill>
                            <a:srgbClr val="1A1A1A"/>
                          </a:solidFill>
                          <a:latin typeface="Arial"/>
                        </a:rPr>
                        <a:t>Reconocimiento de voz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950" noProof="0" dirty="0" err="1">
                          <a:solidFill>
                            <a:srgbClr val="1A1A1A"/>
                          </a:solidFill>
                          <a:latin typeface="Arial"/>
                        </a:rPr>
                        <a:t>android.speech.SpeechRecognizer</a:t>
                      </a:r>
                      <a:r>
                        <a:rPr lang="es-CL" sz="950" noProof="0" dirty="0">
                          <a:solidFill>
                            <a:srgbClr val="1A1A1A"/>
                          </a:solidFill>
                          <a:latin typeface="Arial"/>
                        </a:rPr>
                        <a:t> + </a:t>
                      </a:r>
                      <a:r>
                        <a:rPr lang="es-CL" sz="950" noProof="0" dirty="0" err="1">
                          <a:solidFill>
                            <a:srgbClr val="1A1A1A"/>
                          </a:solidFill>
                          <a:latin typeface="Arial"/>
                        </a:rPr>
                        <a:t>RecognitionListener</a:t>
                      </a:r>
                      <a:endParaRPr lang="es-CL" sz="950" noProof="0" dirty="0">
                        <a:solidFill>
                          <a:srgbClr val="1A1A1A"/>
                        </a:solidFill>
                        <a:latin typeface="Arial"/>
                      </a:endParaRP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5225">
                <a:tc>
                  <a:txBody>
                    <a:bodyPr/>
                    <a:lstStyle/>
                    <a:p>
                      <a:pPr algn="l"/>
                      <a:r>
                        <a:rPr lang="es-CL" sz="950" noProof="0" dirty="0">
                          <a:solidFill>
                            <a:srgbClr val="1A1A1A"/>
                          </a:solidFill>
                          <a:latin typeface="Arial"/>
                        </a:rPr>
                        <a:t>Síntesis de voz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950" noProof="0" dirty="0" err="1">
                          <a:solidFill>
                            <a:srgbClr val="1A1A1A"/>
                          </a:solidFill>
                          <a:latin typeface="Arial"/>
                        </a:rPr>
                        <a:t>android.speech.tts.TextToSpeech</a:t>
                      </a:r>
                      <a:endParaRPr lang="es-CL" sz="950" noProof="0" dirty="0">
                        <a:solidFill>
                          <a:srgbClr val="1A1A1A"/>
                        </a:solidFill>
                        <a:latin typeface="Arial"/>
                      </a:endParaRP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5225">
                <a:tc>
                  <a:txBody>
                    <a:bodyPr/>
                    <a:lstStyle/>
                    <a:p>
                      <a:pPr algn="l"/>
                      <a:r>
                        <a:rPr lang="es-CL" sz="950" noProof="0" dirty="0">
                          <a:solidFill>
                            <a:srgbClr val="1A1A1A"/>
                          </a:solidFill>
                          <a:latin typeface="Arial"/>
                        </a:rPr>
                        <a:t>Interpretación de intención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950" noProof="0" dirty="0" err="1">
                          <a:solidFill>
                            <a:srgbClr val="1A1A1A"/>
                          </a:solidFill>
                          <a:latin typeface="Arial"/>
                        </a:rPr>
                        <a:t>IntentParser</a:t>
                      </a:r>
                      <a:r>
                        <a:rPr lang="es-CL" sz="950" noProof="0" dirty="0">
                          <a:solidFill>
                            <a:srgbClr val="1A1A1A"/>
                          </a:solidFill>
                          <a:latin typeface="Arial"/>
                        </a:rPr>
                        <a:t> local basado en reglas y patrones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5225">
                <a:tc>
                  <a:txBody>
                    <a:bodyPr/>
                    <a:lstStyle/>
                    <a:p>
                      <a:pPr algn="l"/>
                      <a:r>
                        <a:rPr lang="es-CL" sz="950" noProof="0" dirty="0">
                          <a:solidFill>
                            <a:srgbClr val="1A1A1A"/>
                          </a:solidFill>
                          <a:latin typeface="Arial"/>
                        </a:rPr>
                        <a:t>Ejecución de acciones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950" noProof="0" dirty="0" err="1">
                          <a:solidFill>
                            <a:srgbClr val="1A1A1A"/>
                          </a:solidFill>
                          <a:latin typeface="Arial"/>
                        </a:rPr>
                        <a:t>AlarmManager</a:t>
                      </a:r>
                      <a:r>
                        <a:rPr lang="es-CL" sz="950" noProof="0" dirty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lang="es-CL" sz="950" noProof="0" dirty="0" err="1">
                          <a:solidFill>
                            <a:srgbClr val="1A1A1A"/>
                          </a:solidFill>
                          <a:latin typeface="Arial"/>
                        </a:rPr>
                        <a:t>Intents</a:t>
                      </a:r>
                      <a:r>
                        <a:rPr lang="es-CL" sz="950" noProof="0" dirty="0">
                          <a:solidFill>
                            <a:srgbClr val="1A1A1A"/>
                          </a:solidFill>
                          <a:latin typeface="Arial"/>
                        </a:rPr>
                        <a:t>, ACTION_DIAL, </a:t>
                      </a:r>
                      <a:r>
                        <a:rPr lang="es-CL" sz="950" noProof="0" dirty="0" err="1">
                          <a:solidFill>
                            <a:srgbClr val="1A1A1A"/>
                          </a:solidFill>
                          <a:latin typeface="Arial"/>
                        </a:rPr>
                        <a:t>PackageManager</a:t>
                      </a:r>
                      <a:r>
                        <a:rPr lang="es-CL" sz="950" noProof="0" dirty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lang="es-CL" sz="950" noProof="0" dirty="0" err="1">
                          <a:solidFill>
                            <a:srgbClr val="1A1A1A"/>
                          </a:solidFill>
                          <a:latin typeface="Arial"/>
                        </a:rPr>
                        <a:t>CameraManager</a:t>
                      </a:r>
                      <a:r>
                        <a:rPr lang="es-CL" sz="950" noProof="0" dirty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lang="es-CL" sz="950" noProof="0" dirty="0" err="1">
                          <a:solidFill>
                            <a:srgbClr val="1A1A1A"/>
                          </a:solidFill>
                          <a:latin typeface="Arial"/>
                        </a:rPr>
                        <a:t>AudioManager</a:t>
                      </a:r>
                      <a:endParaRPr lang="es-CL" sz="950" noProof="0" dirty="0">
                        <a:solidFill>
                          <a:srgbClr val="1A1A1A"/>
                        </a:solidFill>
                        <a:latin typeface="Arial"/>
                      </a:endParaRP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5225">
                <a:tc>
                  <a:txBody>
                    <a:bodyPr/>
                    <a:lstStyle/>
                    <a:p>
                      <a:pPr algn="l"/>
                      <a:r>
                        <a:rPr lang="es-CL" sz="950" noProof="0" dirty="0">
                          <a:solidFill>
                            <a:srgbClr val="1A1A1A"/>
                          </a:solidFill>
                          <a:latin typeface="Arial"/>
                        </a:rPr>
                        <a:t>Almacenamiento local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950" noProof="0" dirty="0" err="1">
                          <a:solidFill>
                            <a:srgbClr val="1A1A1A"/>
                          </a:solidFill>
                          <a:latin typeface="Arial"/>
                        </a:rPr>
                        <a:t>Jetpack</a:t>
                      </a:r>
                      <a:r>
                        <a:rPr lang="es-CL" sz="950" noProof="0" dirty="0">
                          <a:solidFill>
                            <a:srgbClr val="1A1A1A"/>
                          </a:solidFill>
                          <a:latin typeface="Arial"/>
                        </a:rPr>
                        <a:t> </a:t>
                      </a:r>
                      <a:r>
                        <a:rPr lang="es-CL" sz="950" noProof="0" dirty="0" err="1">
                          <a:solidFill>
                            <a:srgbClr val="1A1A1A"/>
                          </a:solidFill>
                          <a:latin typeface="Arial"/>
                        </a:rPr>
                        <a:t>DataStore</a:t>
                      </a:r>
                      <a:endParaRPr lang="es-CL" sz="950" noProof="0" dirty="0">
                        <a:solidFill>
                          <a:srgbClr val="1A1A1A"/>
                        </a:solidFill>
                        <a:latin typeface="Arial"/>
                      </a:endParaRP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5225">
                <a:tc>
                  <a:txBody>
                    <a:bodyPr/>
                    <a:lstStyle/>
                    <a:p>
                      <a:pPr algn="l"/>
                      <a:r>
                        <a:rPr lang="es-CL" sz="950" noProof="0" dirty="0">
                          <a:solidFill>
                            <a:srgbClr val="1A1A1A"/>
                          </a:solidFill>
                          <a:latin typeface="Arial"/>
                        </a:rPr>
                        <a:t>Control de versiones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950" noProof="0" dirty="0">
                          <a:solidFill>
                            <a:srgbClr val="1A1A1A"/>
                          </a:solidFill>
                          <a:latin typeface="Arial"/>
                        </a:rPr>
                        <a:t>Git / GitHub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5230">
                <a:tc>
                  <a:txBody>
                    <a:bodyPr/>
                    <a:lstStyle/>
                    <a:p>
                      <a:pPr algn="l"/>
                      <a:r>
                        <a:rPr lang="es-CL" sz="950" noProof="0" dirty="0">
                          <a:solidFill>
                            <a:srgbClr val="1A1A1A"/>
                          </a:solidFill>
                          <a:latin typeface="Arial"/>
                        </a:rPr>
                        <a:t>Pruebas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950" noProof="0" dirty="0" err="1">
                          <a:solidFill>
                            <a:srgbClr val="1A1A1A"/>
                          </a:solidFill>
                          <a:latin typeface="Arial"/>
                        </a:rPr>
                        <a:t>JUnit</a:t>
                      </a:r>
                      <a:r>
                        <a:rPr lang="es-CL" sz="950" noProof="0" dirty="0">
                          <a:solidFill>
                            <a:srgbClr val="1A1A1A"/>
                          </a:solidFill>
                          <a:latin typeface="Arial"/>
                        </a:rPr>
                        <a:t> (lógica) + </a:t>
                      </a:r>
                      <a:r>
                        <a:rPr lang="es-CL" sz="950" noProof="0" dirty="0" err="1">
                          <a:solidFill>
                            <a:srgbClr val="1A1A1A"/>
                          </a:solidFill>
                          <a:latin typeface="Arial"/>
                        </a:rPr>
                        <a:t>Espresso</a:t>
                      </a:r>
                      <a:r>
                        <a:rPr lang="es-CL" sz="950" noProof="0" dirty="0">
                          <a:solidFill>
                            <a:srgbClr val="1A1A1A"/>
                          </a:solidFill>
                          <a:latin typeface="Arial"/>
                        </a:rPr>
                        <a:t> (interfaz)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>
            <a:spLocks noGrp="1"/>
          </p:cNvSpPr>
          <p:nvPr>
            <p:ph type="title"/>
          </p:nvPr>
        </p:nvSpPr>
        <p:spPr>
          <a:xfrm>
            <a:off x="1106176" y="324998"/>
            <a:ext cx="77268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 b="1" noProof="0" dirty="0">
                <a:solidFill>
                  <a:srgbClr val="1A1A1A"/>
                </a:solidFill>
                <a:latin typeface="Arial"/>
              </a:rPr>
              <a:t>Competencias</a:t>
            </a:r>
            <a:endParaRPr lang="es-CL" b="1" noProof="0" dirty="0"/>
          </a:p>
        </p:txBody>
      </p:sp>
      <p:pic>
        <p:nvPicPr>
          <p:cNvPr id="2" name="Imagen 1" descr="Tu primer programa en Kotlin">
            <a:extLst>
              <a:ext uri="{FF2B5EF4-FFF2-40B4-BE49-F238E27FC236}">
                <a16:creationId xmlns:a16="http://schemas.microsoft.com/office/drawing/2014/main" id="{79BA5750-3E54-303D-25F8-09A25640F9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218" y="1524226"/>
            <a:ext cx="2109606" cy="721707"/>
          </a:xfrm>
          <a:prstGeom prst="rect">
            <a:avLst/>
          </a:prstGeom>
        </p:spPr>
      </p:pic>
      <p:pic>
        <p:nvPicPr>
          <p:cNvPr id="4" name="Imagen 3" descr="Android - Icono gratis PNG, SVG">
            <a:extLst>
              <a:ext uri="{FF2B5EF4-FFF2-40B4-BE49-F238E27FC236}">
                <a16:creationId xmlns:a16="http://schemas.microsoft.com/office/drawing/2014/main" id="{92BC3643-3657-07DD-5267-55C8757DD8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8688" y="1414634"/>
            <a:ext cx="940888" cy="940888"/>
          </a:xfrm>
          <a:prstGeom prst="rect">
            <a:avLst/>
          </a:prstGeom>
        </p:spPr>
      </p:pic>
      <p:pic>
        <p:nvPicPr>
          <p:cNvPr id="5" name="Imagen 4" descr="How To Setup Android Studio : Beginner's Guide - Proven Tips &amp; Trends by  Goloris">
            <a:extLst>
              <a:ext uri="{FF2B5EF4-FFF2-40B4-BE49-F238E27FC236}">
                <a16:creationId xmlns:a16="http://schemas.microsoft.com/office/drawing/2014/main" id="{F5C82418-863F-CFE4-58FF-AE538BC31C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0356" y="1352131"/>
            <a:ext cx="1065894" cy="106589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0A8117DB-E3E4-E2F7-B619-3461E165B1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3197" y="2777227"/>
            <a:ext cx="1205947" cy="1267187"/>
          </a:xfrm>
          <a:prstGeom prst="rect">
            <a:avLst/>
          </a:prstGeom>
        </p:spPr>
      </p:pic>
      <p:pic>
        <p:nvPicPr>
          <p:cNvPr id="8" name="Imagen 7" descr="GitHub - Wikipedia, la enciclopedia libre">
            <a:extLst>
              <a:ext uri="{FF2B5EF4-FFF2-40B4-BE49-F238E27FC236}">
                <a16:creationId xmlns:a16="http://schemas.microsoft.com/office/drawing/2014/main" id="{AD3D69A8-B99C-CF54-F07D-064FABAB09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66185" y="2877873"/>
            <a:ext cx="1065894" cy="1065894"/>
          </a:xfrm>
          <a:prstGeom prst="rect">
            <a:avLst/>
          </a:prstGeom>
        </p:spPr>
      </p:pic>
      <p:pic>
        <p:nvPicPr>
          <p:cNvPr id="9" name="Imagen 8" descr="Testing con JUnit 4 - Introducción a las pruebas automatizadas">
            <a:extLst>
              <a:ext uri="{FF2B5EF4-FFF2-40B4-BE49-F238E27FC236}">
                <a16:creationId xmlns:a16="http://schemas.microsoft.com/office/drawing/2014/main" id="{450AAF08-54A4-BA2D-22DD-C3BFE69AF1A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69027" y="3002879"/>
            <a:ext cx="1881776" cy="94088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>
            <a:spLocks noGrp="1"/>
          </p:cNvSpPr>
          <p:nvPr>
            <p:ph type="title"/>
          </p:nvPr>
        </p:nvSpPr>
        <p:spPr>
          <a:xfrm>
            <a:off x="1106176" y="324998"/>
            <a:ext cx="77268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 b="1" noProof="0" dirty="0">
                <a:solidFill>
                  <a:srgbClr val="1A1A1A"/>
                </a:solidFill>
                <a:latin typeface="Arial"/>
              </a:rPr>
              <a:t>Arquitectura — MVVM</a:t>
            </a:r>
            <a:endParaRPr lang="es-CL" b="1" noProof="0" dirty="0"/>
          </a:p>
        </p:txBody>
      </p:sp>
      <p:pic>
        <p:nvPicPr>
          <p:cNvPr id="77" name="Picture 76" descr="Diagrama_Arquitec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80160"/>
            <a:ext cx="5120640" cy="3181004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5943599" y="1280160"/>
            <a:ext cx="2697480" cy="3566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lang="es-CL" sz="1400" b="1" i="0" noProof="0" dirty="0">
                <a:solidFill>
                  <a:srgbClr val="143D73"/>
                </a:solidFill>
                <a:latin typeface="Arial"/>
              </a:rPr>
              <a:t>Patrón MVVM</a:t>
            </a:r>
          </a:p>
          <a:p>
            <a:pPr algn="l">
              <a:spcAft>
                <a:spcPts val="200"/>
              </a:spcAft>
            </a:pPr>
            <a:r>
              <a:rPr lang="es-CL" sz="1200" b="1" i="0" noProof="0" dirty="0">
                <a:solidFill>
                  <a:srgbClr val="257CE1"/>
                </a:solidFill>
                <a:latin typeface="Arial"/>
              </a:rPr>
              <a:t>View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lang="es-CL" sz="1050" b="0" i="0" noProof="0" dirty="0">
                <a:solidFill>
                  <a:srgbClr val="1A1A1A"/>
                </a:solidFill>
                <a:latin typeface="Arial"/>
              </a:rPr>
              <a:t>Interfaz de usuario; envía eventos a la capa </a:t>
            </a:r>
            <a:r>
              <a:rPr lang="es-CL" sz="1050" b="0" i="0" noProof="0" dirty="0" err="1">
                <a:solidFill>
                  <a:srgbClr val="1A1A1A"/>
                </a:solidFill>
                <a:latin typeface="Arial"/>
              </a:rPr>
              <a:t>ViewModel</a:t>
            </a:r>
            <a:r>
              <a:rPr lang="es-CL" sz="1050" b="0" i="0" noProof="0" dirty="0">
                <a:solidFill>
                  <a:srgbClr val="1A1A1A"/>
                </a:solidFill>
                <a:latin typeface="Arial"/>
              </a:rPr>
              <a:t>.</a:t>
            </a:r>
          </a:p>
          <a:p>
            <a:pPr algn="l">
              <a:spcAft>
                <a:spcPts val="200"/>
              </a:spcAft>
            </a:pPr>
            <a:r>
              <a:rPr lang="es-CL" sz="1200" b="1" i="0" noProof="0" dirty="0" err="1">
                <a:solidFill>
                  <a:srgbClr val="257CE1"/>
                </a:solidFill>
                <a:latin typeface="Arial"/>
              </a:rPr>
              <a:t>ViewModel</a:t>
            </a:r>
            <a:endParaRPr lang="es-CL" sz="1200" b="1" i="0" noProof="0" dirty="0">
              <a:solidFill>
                <a:srgbClr val="257CE1"/>
              </a:solidFill>
              <a:latin typeface="Arial"/>
            </a:endParaRP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lang="es-CL" sz="1050" b="0" i="0" noProof="0" dirty="0">
                <a:solidFill>
                  <a:srgbClr val="1A1A1A"/>
                </a:solidFill>
                <a:latin typeface="Arial"/>
              </a:rPr>
              <a:t>Procesa la lógica de presentación, notifica cambios a la View y envía peticiones al Model.</a:t>
            </a:r>
          </a:p>
          <a:p>
            <a:pPr algn="l">
              <a:spcAft>
                <a:spcPts val="200"/>
              </a:spcAft>
            </a:pPr>
            <a:r>
              <a:rPr lang="es-CL" sz="1200" b="1" i="0" noProof="0" dirty="0">
                <a:solidFill>
                  <a:srgbClr val="257CE1"/>
                </a:solidFill>
                <a:latin typeface="Arial"/>
              </a:rPr>
              <a:t>Model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s-CL" sz="1050" b="0" i="0" noProof="0" dirty="0">
                <a:solidFill>
                  <a:srgbClr val="1A1A1A"/>
                </a:solidFill>
                <a:latin typeface="Arial"/>
              </a:rPr>
              <a:t>Fuente de datos; al cambiar, notifica al </a:t>
            </a:r>
            <a:r>
              <a:rPr lang="es-CL" sz="1050" b="0" i="0" noProof="0" dirty="0" err="1">
                <a:solidFill>
                  <a:srgbClr val="1A1A1A"/>
                </a:solidFill>
                <a:latin typeface="Arial"/>
              </a:rPr>
              <a:t>ViewModel</a:t>
            </a:r>
            <a:r>
              <a:rPr lang="es-CL" sz="1050" b="0" i="0" noProof="0" dirty="0">
                <a:solidFill>
                  <a:srgbClr val="1A1A1A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>
            <a:spLocks noGrp="1"/>
          </p:cNvSpPr>
          <p:nvPr>
            <p:ph type="title"/>
          </p:nvPr>
        </p:nvSpPr>
        <p:spPr>
          <a:xfrm>
            <a:off x="1106176" y="324998"/>
            <a:ext cx="77268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 b="1" noProof="0" dirty="0">
                <a:solidFill>
                  <a:srgbClr val="1A1A1A"/>
                </a:solidFill>
                <a:latin typeface="Arial"/>
              </a:rPr>
              <a:t>Riesgos</a:t>
            </a:r>
            <a:endParaRPr lang="es-CL" b="1" noProof="0" dirty="0"/>
          </a:p>
        </p:txBody>
      </p:sp>
      <p:graphicFrame>
        <p:nvGraphicFramePr>
          <p:cNvPr id="77" name="Table 7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2687218"/>
              </p:ext>
            </p:extLst>
          </p:nvPr>
        </p:nvGraphicFramePr>
        <p:xfrm>
          <a:off x="502920" y="1005840"/>
          <a:ext cx="813816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9228">
                <a:tc>
                  <a:txBody>
                    <a:bodyPr/>
                    <a:lstStyle/>
                    <a:p>
                      <a:pPr algn="l"/>
                      <a:r>
                        <a:rPr lang="es-CL" sz="1100" b="1" noProof="0" dirty="0">
                          <a:solidFill>
                            <a:srgbClr val="FFFFFF"/>
                          </a:solidFill>
                          <a:latin typeface="Arial"/>
                        </a:rPr>
                        <a:t>ID</a:t>
                      </a:r>
                    </a:p>
                  </a:txBody>
                  <a:tcPr marL="54864" marR="54864" marT="27432" marB="27432" anchor="ctr">
                    <a:solidFill>
                      <a:srgbClr val="257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100" b="1" noProof="0" dirty="0">
                          <a:solidFill>
                            <a:srgbClr val="FFFFFF"/>
                          </a:solidFill>
                          <a:latin typeface="Arial"/>
                        </a:rPr>
                        <a:t>Riesgo</a:t>
                      </a:r>
                    </a:p>
                  </a:txBody>
                  <a:tcPr marL="54864" marR="54864" marT="27432" marB="27432" anchor="ctr">
                    <a:solidFill>
                      <a:srgbClr val="257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100" b="1" noProof="0" dirty="0">
                          <a:solidFill>
                            <a:srgbClr val="FFFFFF"/>
                          </a:solidFill>
                          <a:latin typeface="Arial"/>
                        </a:rPr>
                        <a:t>Categoría</a:t>
                      </a:r>
                    </a:p>
                  </a:txBody>
                  <a:tcPr marL="54864" marR="54864" marT="27432" marB="27432" anchor="ctr">
                    <a:solidFill>
                      <a:srgbClr val="257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100" b="1" noProof="0" dirty="0">
                          <a:solidFill>
                            <a:srgbClr val="FFFFFF"/>
                          </a:solidFill>
                          <a:latin typeface="Arial"/>
                        </a:rPr>
                        <a:t>Nivel</a:t>
                      </a:r>
                    </a:p>
                  </a:txBody>
                  <a:tcPr marL="54864" marR="54864" marT="27432" marB="27432" anchor="ctr">
                    <a:solidFill>
                      <a:srgbClr val="257C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pPr algn="l"/>
                      <a:r>
                        <a:rPr lang="es-CL" sz="1000" noProof="0" dirty="0">
                          <a:solidFill>
                            <a:srgbClr val="1A1A1A"/>
                          </a:solidFill>
                          <a:latin typeface="Arial"/>
                        </a:rPr>
                        <a:t>R4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000" noProof="0" dirty="0">
                          <a:solidFill>
                            <a:srgbClr val="1A1A1A"/>
                          </a:solidFill>
                          <a:latin typeface="Arial"/>
                        </a:rPr>
                        <a:t>Alcance excesivo del proyecto para el tiempo disponible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000" noProof="0" dirty="0">
                          <a:solidFill>
                            <a:srgbClr val="1A1A1A"/>
                          </a:solidFill>
                          <a:latin typeface="Arial"/>
                        </a:rPr>
                        <a:t>Gestión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00" b="1" noProof="0" dirty="0">
                          <a:solidFill>
                            <a:srgbClr val="C0392B"/>
                          </a:solidFill>
                          <a:latin typeface="Arial"/>
                        </a:rPr>
                        <a:t>Alto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pPr algn="l"/>
                      <a:r>
                        <a:rPr lang="es-CL" sz="1000" noProof="0" dirty="0">
                          <a:solidFill>
                            <a:srgbClr val="1A1A1A"/>
                          </a:solidFill>
                          <a:latin typeface="Arial"/>
                        </a:rPr>
                        <a:t>R7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000" noProof="0" dirty="0">
                          <a:solidFill>
                            <a:srgbClr val="1A1A1A"/>
                          </a:solidFill>
                          <a:latin typeface="Arial"/>
                        </a:rPr>
                        <a:t>Problemas de interpretación de lenguaje natural / comandos ambiguos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000" noProof="0" dirty="0">
                          <a:solidFill>
                            <a:srgbClr val="1A1A1A"/>
                          </a:solidFill>
                          <a:latin typeface="Arial"/>
                        </a:rPr>
                        <a:t>Técnico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00" b="1" noProof="0" dirty="0">
                          <a:solidFill>
                            <a:srgbClr val="C0392B"/>
                          </a:solidFill>
                          <a:latin typeface="Arial"/>
                        </a:rPr>
                        <a:t>Alto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pPr algn="l"/>
                      <a:r>
                        <a:rPr lang="es-CL" sz="1000" noProof="0" dirty="0">
                          <a:solidFill>
                            <a:srgbClr val="1A1A1A"/>
                          </a:solidFill>
                          <a:latin typeface="Arial"/>
                        </a:rPr>
                        <a:t>R12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000" noProof="0" dirty="0">
                          <a:solidFill>
                            <a:srgbClr val="1A1A1A"/>
                          </a:solidFill>
                          <a:latin typeface="Arial"/>
                        </a:rPr>
                        <a:t>Restricciones de tiempo del </a:t>
                      </a:r>
                      <a:r>
                        <a:rPr lang="es-CL" sz="1000" noProof="0" dirty="0" err="1">
                          <a:solidFill>
                            <a:srgbClr val="1A1A1A"/>
                          </a:solidFill>
                          <a:latin typeface="Arial"/>
                        </a:rPr>
                        <a:t>Capstone</a:t>
                      </a:r>
                      <a:r>
                        <a:rPr lang="es-CL" sz="1000" noProof="0" dirty="0">
                          <a:solidFill>
                            <a:srgbClr val="1A1A1A"/>
                          </a:solidFill>
                          <a:latin typeface="Arial"/>
                        </a:rPr>
                        <a:t> que limiten el alcance final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000" noProof="0" dirty="0">
                          <a:solidFill>
                            <a:srgbClr val="1A1A1A"/>
                          </a:solidFill>
                          <a:latin typeface="Arial"/>
                        </a:rPr>
                        <a:t>Gestión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00" b="1" noProof="0" dirty="0">
                          <a:solidFill>
                            <a:srgbClr val="C0392B"/>
                          </a:solidFill>
                          <a:latin typeface="Arial"/>
                        </a:rPr>
                        <a:t>Alto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pPr algn="l"/>
                      <a:r>
                        <a:rPr lang="es-CL" sz="1000" noProof="0" dirty="0">
                          <a:solidFill>
                            <a:srgbClr val="1A1A1A"/>
                          </a:solidFill>
                          <a:latin typeface="Arial"/>
                        </a:rPr>
                        <a:t>R1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000" noProof="0" dirty="0">
                          <a:solidFill>
                            <a:srgbClr val="1A1A1A"/>
                          </a:solidFill>
                          <a:latin typeface="Arial"/>
                        </a:rPr>
                        <a:t>Limitaciones del reconocimiento de voz (acentos, ruido, dicción)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000" noProof="0" dirty="0">
                          <a:solidFill>
                            <a:srgbClr val="1A1A1A"/>
                          </a:solidFill>
                          <a:latin typeface="Arial"/>
                        </a:rPr>
                        <a:t>Técnico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00" b="1" noProof="0" dirty="0">
                          <a:solidFill>
                            <a:srgbClr val="E67E22"/>
                          </a:solidFill>
                          <a:latin typeface="Arial"/>
                        </a:rPr>
                        <a:t>Medio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pPr algn="l"/>
                      <a:r>
                        <a:rPr lang="es-CL" sz="1000" noProof="0" dirty="0">
                          <a:solidFill>
                            <a:srgbClr val="1A1A1A"/>
                          </a:solidFill>
                          <a:latin typeface="Arial"/>
                        </a:rPr>
                        <a:t>R5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000" noProof="0" dirty="0">
                          <a:solidFill>
                            <a:srgbClr val="1A1A1A"/>
                          </a:solidFill>
                          <a:latin typeface="Arial"/>
                        </a:rPr>
                        <a:t>Dificultades de usabilidad no anticipadas por el equipo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000" noProof="0" dirty="0">
                          <a:solidFill>
                            <a:srgbClr val="1A1A1A"/>
                          </a:solidFill>
                          <a:latin typeface="Arial"/>
                        </a:rPr>
                        <a:t>Externo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00" b="1" noProof="0" dirty="0">
                          <a:solidFill>
                            <a:srgbClr val="E67E22"/>
                          </a:solidFill>
                          <a:latin typeface="Arial"/>
                        </a:rPr>
                        <a:t>Medio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9232">
                <a:tc>
                  <a:txBody>
                    <a:bodyPr/>
                    <a:lstStyle/>
                    <a:p>
                      <a:pPr algn="l"/>
                      <a:r>
                        <a:rPr lang="es-CL" sz="1000" noProof="0" dirty="0">
                          <a:solidFill>
                            <a:srgbClr val="1A1A1A"/>
                          </a:solidFill>
                          <a:latin typeface="Arial"/>
                        </a:rPr>
                        <a:t>R13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000" noProof="0" dirty="0">
                          <a:solidFill>
                            <a:srgbClr val="1A1A1A"/>
                          </a:solidFill>
                          <a:latin typeface="Arial"/>
                        </a:rPr>
                        <a:t>Problemas de privacidad o seguridad de datos personales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000" noProof="0" dirty="0">
                          <a:solidFill>
                            <a:srgbClr val="1A1A1A"/>
                          </a:solidFill>
                          <a:latin typeface="Arial"/>
                        </a:rPr>
                        <a:t>Técnico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00" b="1" noProof="0" dirty="0">
                          <a:solidFill>
                            <a:srgbClr val="E67E22"/>
                          </a:solidFill>
                          <a:latin typeface="Arial"/>
                        </a:rPr>
                        <a:t>Medio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8" name="TextBox 77"/>
          <p:cNvSpPr txBox="1"/>
          <p:nvPr/>
        </p:nvSpPr>
        <p:spPr>
          <a:xfrm>
            <a:off x="502920" y="3657600"/>
            <a:ext cx="8138160" cy="3579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lang="es-CL" sz="1100" b="0" i="1" noProof="0" dirty="0">
                <a:solidFill>
                  <a:srgbClr val="555555"/>
                </a:solidFill>
                <a:latin typeface="Arial"/>
              </a:rPr>
              <a:t>Gestión mediante RBS (Estructura de Desglose de Riesgos) y matriz Probabilidad × Impacto, clasificando 15 riesgos identificados en categorías Técnico, Gestión del Proyecto, Organizacional y Externo.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>
            <a:spLocks noGrp="1"/>
          </p:cNvSpPr>
          <p:nvPr>
            <p:ph type="title"/>
          </p:nvPr>
        </p:nvSpPr>
        <p:spPr>
          <a:xfrm>
            <a:off x="1106176" y="324998"/>
            <a:ext cx="77268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 b="1" noProof="0" dirty="0">
                <a:solidFill>
                  <a:srgbClr val="1A1A1A"/>
                </a:solidFill>
                <a:latin typeface="Arial"/>
              </a:rPr>
              <a:t>Seguridad</a:t>
            </a:r>
            <a:endParaRPr lang="es-CL" b="1" noProof="0" dirty="0"/>
          </a:p>
        </p:txBody>
      </p:sp>
      <p:sp>
        <p:nvSpPr>
          <p:cNvPr id="77" name="TextBox 76"/>
          <p:cNvSpPr txBox="1"/>
          <p:nvPr/>
        </p:nvSpPr>
        <p:spPr>
          <a:xfrm>
            <a:off x="502920" y="1005840"/>
            <a:ext cx="3931920" cy="178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lang="es-CL" sz="1300" b="1" i="0" noProof="0" dirty="0">
                <a:solidFill>
                  <a:srgbClr val="143D73"/>
                </a:solidFill>
                <a:latin typeface="Arial"/>
              </a:rPr>
              <a:t>Gestión de permisos</a:t>
            </a:r>
          </a:p>
          <a:p>
            <a:pPr marL="182880" indent="-182880" algn="l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lang="es-CL" sz="1030" b="0" i="0" noProof="0" dirty="0">
                <a:solidFill>
                  <a:srgbClr val="1A1A1A"/>
                </a:solidFill>
                <a:latin typeface="Arial"/>
              </a:rPr>
              <a:t>Solicitar sólo los permisos estrictamente necesarios (mínimo privilegio).</a:t>
            </a:r>
          </a:p>
          <a:p>
            <a:pPr marL="182880" indent="-182880" algn="l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lang="es-CL" sz="1030" b="0" i="0" noProof="0" dirty="0">
                <a:solidFill>
                  <a:srgbClr val="1A1A1A"/>
                </a:solidFill>
                <a:latin typeface="Arial"/>
              </a:rPr>
              <a:t>Usar permisos en tiempo de ejecución, explicando su propósito.</a:t>
            </a:r>
          </a:p>
          <a:p>
            <a:pPr marL="182880" indent="-182880" algn="l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lang="es-CL" sz="1030" b="0" i="0" noProof="0" dirty="0">
                <a:solidFill>
                  <a:srgbClr val="1A1A1A"/>
                </a:solidFill>
                <a:latin typeface="Arial"/>
              </a:rPr>
              <a:t>Permitir que una persona de apoyo revise los permisos otorgados.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663440" y="1005840"/>
            <a:ext cx="3931920" cy="178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lang="es-CL" sz="1300" b="1" i="0" noProof="0" dirty="0">
                <a:solidFill>
                  <a:srgbClr val="143D73"/>
                </a:solidFill>
                <a:latin typeface="Arial"/>
              </a:rPr>
              <a:t>Protección de datos personales</a:t>
            </a:r>
          </a:p>
          <a:p>
            <a:pPr marL="182880" indent="-182880" algn="l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lang="es-CL" sz="1030" b="0" i="0" noProof="0" dirty="0">
                <a:solidFill>
                  <a:srgbClr val="1A1A1A"/>
                </a:solidFill>
                <a:latin typeface="Arial"/>
              </a:rPr>
              <a:t>Cifrar localmente contactos frecuentes e historial de comandos.</a:t>
            </a:r>
          </a:p>
          <a:p>
            <a:pPr marL="182880" indent="-182880" algn="l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lang="es-CL" sz="1030" b="0" i="0" noProof="0" dirty="0">
                <a:solidFill>
                  <a:srgbClr val="1A1A1A"/>
                </a:solidFill>
                <a:latin typeface="Arial"/>
              </a:rPr>
              <a:t>No compartir datos con terceros sin consentimiento explícito.</a:t>
            </a:r>
          </a:p>
          <a:p>
            <a:pPr marL="182880" indent="-182880" algn="l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lang="es-CL" sz="1030" b="0" i="0" noProof="0" dirty="0">
                <a:solidFill>
                  <a:srgbClr val="1A1A1A"/>
                </a:solidFill>
                <a:latin typeface="Arial"/>
              </a:rPr>
              <a:t>Considerar la Ley 19.628 sobre protección de la vida privada (Chile).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02920" y="2926080"/>
            <a:ext cx="3931920" cy="178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lang="es-CL" sz="1300" b="1" i="0" noProof="0" dirty="0">
                <a:solidFill>
                  <a:srgbClr val="143D73"/>
                </a:solidFill>
                <a:latin typeface="Arial"/>
              </a:rPr>
              <a:t>Control de acciones críticas</a:t>
            </a:r>
          </a:p>
          <a:p>
            <a:pPr marL="182880" indent="-182880" algn="l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lang="es-CL" sz="1030" b="0" i="0" noProof="0" dirty="0">
                <a:solidFill>
                  <a:srgbClr val="1A1A1A"/>
                </a:solidFill>
                <a:latin typeface="Arial"/>
              </a:rPr>
              <a:t>Confirmación antes de llamadas, mensajes o cambios de configuración.</a:t>
            </a:r>
          </a:p>
          <a:p>
            <a:pPr marL="182880" indent="-182880" algn="l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lang="es-CL" sz="1030" b="0" i="0" noProof="0" dirty="0">
                <a:solidFill>
                  <a:srgbClr val="1A1A1A"/>
                </a:solidFill>
                <a:latin typeface="Arial"/>
              </a:rPr>
              <a:t>Mecanismo simple de bloqueo (PIN) ante cambios accidentales.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663440" y="2926080"/>
            <a:ext cx="3931920" cy="178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lang="es-CL" sz="1300" b="1" i="0" noProof="0" dirty="0">
                <a:solidFill>
                  <a:srgbClr val="143D73"/>
                </a:solidFill>
                <a:latin typeface="Arial"/>
              </a:rPr>
              <a:t>Buenas prácticas generales</a:t>
            </a:r>
          </a:p>
          <a:p>
            <a:pPr marL="182880" indent="-182880" algn="l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lang="es-CL" sz="1030" b="0" i="0" noProof="0" dirty="0">
                <a:solidFill>
                  <a:srgbClr val="1A1A1A"/>
                </a:solidFill>
                <a:latin typeface="Arial"/>
              </a:rPr>
              <a:t>Validar y sanitizar instrucciones antes de ejecutarlas.</a:t>
            </a:r>
          </a:p>
          <a:p>
            <a:pPr marL="182880" indent="-182880" algn="l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lang="es-CL" sz="1030" b="0" i="0" noProof="0" dirty="0">
                <a:solidFill>
                  <a:srgbClr val="1A1A1A"/>
                </a:solidFill>
                <a:latin typeface="Arial"/>
              </a:rPr>
              <a:t>Mantener actualizadas dependencias y el sistema.</a:t>
            </a:r>
          </a:p>
          <a:p>
            <a:pPr marL="182880" indent="-182880" algn="l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lang="es-CL" sz="1030" b="0" i="0" noProof="0" dirty="0">
                <a:solidFill>
                  <a:srgbClr val="1A1A1A"/>
                </a:solidFill>
                <a:latin typeface="Arial"/>
              </a:rPr>
              <a:t>Definir respaldo y restauración de la configuración del usuario.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>
            <a:spLocks noGrp="1"/>
          </p:cNvSpPr>
          <p:nvPr>
            <p:ph type="title"/>
          </p:nvPr>
        </p:nvSpPr>
        <p:spPr>
          <a:xfrm>
            <a:off x="1106176" y="324998"/>
            <a:ext cx="77268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 b="1" noProof="0" dirty="0">
                <a:solidFill>
                  <a:srgbClr val="1A1A1A"/>
                </a:solidFill>
                <a:latin typeface="Arial"/>
              </a:rPr>
              <a:t>Modelo de Negocio</a:t>
            </a:r>
            <a:endParaRPr lang="es-CL" b="1" noProof="0" dirty="0"/>
          </a:p>
        </p:txBody>
      </p:sp>
      <p:pic>
        <p:nvPicPr>
          <p:cNvPr id="77" name="Picture 76" descr="Modelo_de_negoci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127" y="783216"/>
            <a:ext cx="7887694" cy="379673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>
            <a:spLocks noGrp="1"/>
          </p:cNvSpPr>
          <p:nvPr>
            <p:ph type="title"/>
          </p:nvPr>
        </p:nvSpPr>
        <p:spPr>
          <a:xfrm>
            <a:off x="1106176" y="324998"/>
            <a:ext cx="77268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 b="1" noProof="0" dirty="0">
                <a:solidFill>
                  <a:srgbClr val="1A1A1A"/>
                </a:solidFill>
                <a:latin typeface="Arial"/>
              </a:rPr>
              <a:t>Mockup</a:t>
            </a:r>
            <a:endParaRPr lang="es-CL" b="1" noProof="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4E7ECEB-3139-35F6-D6FB-D029576F9B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0618" y="862023"/>
            <a:ext cx="2036503" cy="381257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3DDA06DB-83B3-0AAF-6446-F22F68523E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3720" y="862023"/>
            <a:ext cx="2036503" cy="3812575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2B9325B4-B376-58AD-54DB-5372C7D81F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3720" y="862023"/>
            <a:ext cx="2036502" cy="3812575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B3F5320E-B4CB-6874-7471-E6870F97F6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03719" y="862022"/>
            <a:ext cx="2036503" cy="3812575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AAA82747-A54C-D723-1AD1-B34E74B9FA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03718" y="862022"/>
            <a:ext cx="2036502" cy="3812575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BAED7D46-8A40-5F34-86AF-E06163AE1AB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03718" y="862021"/>
            <a:ext cx="2036502" cy="3812575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E2579585-9182-E790-145A-09DABF0F075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03718" y="862020"/>
            <a:ext cx="2036502" cy="38125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itleConclusion"/>
          <p:cNvSpPr txBox="1">
            <a:spLocks noGrp="1"/>
          </p:cNvSpPr>
          <p:nvPr>
            <p:ph type="title"/>
          </p:nvPr>
        </p:nvSpPr>
        <p:spPr>
          <a:xfrm>
            <a:off x="490220" y="1050000"/>
            <a:ext cx="5486400" cy="60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b="1" noProof="0" dirty="0"/>
              <a:t>Conclusión</a:t>
            </a:r>
          </a:p>
        </p:txBody>
      </p:sp>
      <p:sp>
        <p:nvSpPr>
          <p:cNvPr id="91" name="BodyConclusion"/>
          <p:cNvSpPr txBox="1"/>
          <p:nvPr/>
        </p:nvSpPr>
        <p:spPr>
          <a:xfrm>
            <a:off x="490220" y="1750000"/>
            <a:ext cx="5486400" cy="3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 algn="l" rt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s-CL" sz="1250" b="0" i="0" noProof="0" dirty="0">
                <a:solidFill>
                  <a:srgbClr val="1A1A1A"/>
                </a:solidFill>
                <a:latin typeface="Arial"/>
              </a:rPr>
              <a:t>El estado del arte confirma que existen soluciones parciales de accesibilidad y control por voz, pero ninguna integra ambos enfoques específicamente para adultos mayores.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lang="es-CL" sz="1250" b="0" i="0" noProof="0" dirty="0">
                <a:solidFill>
                  <a:srgbClr val="1A1A1A"/>
                </a:solidFill>
                <a:latin typeface="Arial"/>
              </a:rPr>
              <a:t>El proyecto propone una aplicación móvil que interpreta lenguaje natural para facilitar tareas cotidianas del smartphone, incorporando confirmación, tolerancia a errores y retroalimentación multimodal.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s-CL" sz="1250" b="1" i="0" noProof="0" dirty="0">
                <a:solidFill>
                  <a:srgbClr val="143D73"/>
                </a:solidFill>
                <a:latin typeface="Arial"/>
              </a:rPr>
              <a:t>La siguiente etapa: transformar esta propuesta en requisitos verificables, definir el MVP y continuar avanzando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1206</Words>
  <Application>Microsoft Office PowerPoint</Application>
  <PresentationFormat>Presentación en pantalla (16:9)</PresentationFormat>
  <Paragraphs>196</Paragraphs>
  <Slides>17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19" baseType="lpstr">
      <vt:lpstr>Arial</vt:lpstr>
      <vt:lpstr>Simple Light</vt:lpstr>
      <vt:lpstr>APP de Accesibilidad Adulto Mayor  </vt:lpstr>
      <vt:lpstr>Índice</vt:lpstr>
      <vt:lpstr>Introducción</vt:lpstr>
      <vt:lpstr>Contexto</vt:lpstr>
      <vt:lpstr>Problemática</vt:lpstr>
      <vt:lpstr>Solución</vt:lpstr>
      <vt:lpstr>Metodología de Trabajo</vt:lpstr>
      <vt:lpstr>Plan de Trabajo</vt:lpstr>
      <vt:lpstr>Roles y Responsabilidades</vt:lpstr>
      <vt:lpstr>Mapa Tecnológico</vt:lpstr>
      <vt:lpstr>Competencias</vt:lpstr>
      <vt:lpstr>Arquitectura — MVVM</vt:lpstr>
      <vt:lpstr>Riesgos</vt:lpstr>
      <vt:lpstr>Seguridad</vt:lpstr>
      <vt:lpstr>Modelo de Negocio</vt:lpstr>
      <vt:lpstr>Mockup</vt:lpstr>
      <vt:lpstr>Conclusión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MIGUEL ANGEL PEREIRA PALAVICINO</cp:lastModifiedBy>
  <cp:revision>8</cp:revision>
  <dcterms:modified xsi:type="dcterms:W3CDTF">2026-09-03T02:45:34Z</dcterms:modified>
</cp:coreProperties>
</file>