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2" r:id="rId1"/>
  </p:sldMasterIdLst>
  <p:notesMasterIdLst>
    <p:notesMasterId r:id="rId19"/>
  </p:notesMasterIdLst>
  <p:sldIdLst>
    <p:sldId id="256" r:id="rId2"/>
    <p:sldId id="257" r:id="rId3"/>
    <p:sldId id="260" r:id="rId6"/>
    <p:sldId id="275" r:id="rId24"/>
    <p:sldId id="263" r:id="rId8"/>
    <p:sldId id="266" r:id="rId11"/>
    <p:sldId id="267" r:id="rId13"/>
    <p:sldId id="261" r:id="rId7"/>
    <p:sldId id="264" r:id="rId9"/>
    <p:sldId id="269" r:id="rId14"/>
    <p:sldId id="276" r:id="rId25"/>
    <p:sldId id="270" r:id="rId15"/>
    <p:sldId id="274"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0" d="100"/>
          <a:sy n="120" d="100"/>
        </p:scale>
        <p:origin x="1344" y="42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8.xml"/><Relationship Id="rId8" Type="http://schemas.openxmlformats.org/officeDocument/2006/relationships/slide" Target="slides/slide5.xml"/><Relationship Id="rId9" Type="http://schemas.openxmlformats.org/officeDocument/2006/relationships/slide" Target="slides/slide9.xml"/><Relationship Id="rId11"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10.xml"/><Relationship Id="rId15"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4.xml"/><Relationship Id="rId25"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43D73"/>
                </a:solidFill>
              </a:rPr>
              <a:t>Estado de requerimientos y casos de uso</a:t>
            </a:r>
          </a:p>
        </c:rich>
      </c:tx>
      <c:layout/>
      <c:overlay val="0"/>
    </c:title>
    <c:autoTitleDeleted val="0"/>
    <c:plotArea>
      <c:barChart>
        <c:barDir val="bar"/>
        <c:grouping val="stacked"/>
        <c:ser>
          <c:idx val="0"/>
          <c:order val="0"/>
          <c:tx>
            <c:strRef>
              <c:f>Sheet1!$B$1</c:f>
              <c:strCache>
                <c:ptCount val="1"/>
                <c:pt idx="0">
                  <c:v>Completo</c:v>
                </c:pt>
              </c:strCache>
            </c:strRef>
          </c:tx>
          <c:spPr>
            <a:solidFill>
              <a:srgbClr val="257CE1"/>
            </a:solidFill>
          </c:spPr>
          <c:cat>
            <c:strRef>
              <c:f>Sheet1!$A$2:$A$4</c:f>
              <c:strCache>
                <c:ptCount val="3"/>
                <c:pt idx="0">
                  <c:v>Casos de uso (8)</c:v>
                </c:pt>
                <c:pt idx="1">
                  <c:v>Req. no funcionales (8)</c:v>
                </c:pt>
                <c:pt idx="2">
                  <c:v>Req. funcionales (13)</c:v>
                </c:pt>
              </c:strCache>
            </c:strRef>
          </c:cat>
          <c:val>
            <c:numRef>
              <c:f>Sheet1!$B$2:$B$4</c:f>
              <c:numCache>
                <c:formatCode>General</c:formatCode>
                <c:ptCount val="3"/>
                <c:pt idx="0">
                  <c:v>2</c:v>
                </c:pt>
                <c:pt idx="1">
                  <c:v>4</c:v>
                </c:pt>
                <c:pt idx="2">
                  <c:v>6</c:v>
                </c:pt>
              </c:numCache>
            </c:numRef>
          </c:val>
        </c:ser>
        <c:ser>
          <c:idx val="1"/>
          <c:order val="1"/>
          <c:tx>
            <c:strRef>
              <c:f>Sheet1!$C$1</c:f>
              <c:strCache>
                <c:ptCount val="1"/>
                <c:pt idx="0">
                  <c:v>Parcial</c:v>
                </c:pt>
              </c:strCache>
            </c:strRef>
          </c:tx>
          <c:spPr>
            <a:solidFill>
              <a:srgbClr val="9CC3F0"/>
            </a:solidFill>
          </c:spPr>
          <c:cat>
            <c:strRef>
              <c:f>Sheet1!$A$2:$A$4</c:f>
              <c:strCache>
                <c:ptCount val="3"/>
                <c:pt idx="0">
                  <c:v>Casos de uso (8)</c:v>
                </c:pt>
                <c:pt idx="1">
                  <c:v>Req. no funcionales (8)</c:v>
                </c:pt>
                <c:pt idx="2">
                  <c:v>Req. funcionales (13)</c:v>
                </c:pt>
              </c:strCache>
            </c:strRef>
          </c:cat>
          <c:val>
            <c:numRef>
              <c:f>Sheet1!$C$2:$C$4</c:f>
              <c:numCache>
                <c:formatCode>General</c:formatCode>
                <c:ptCount val="3"/>
                <c:pt idx="0">
                  <c:v>3</c:v>
                </c:pt>
                <c:pt idx="1">
                  <c:v>3</c:v>
                </c:pt>
                <c:pt idx="2">
                  <c:v>3</c:v>
                </c:pt>
              </c:numCache>
            </c:numRef>
          </c:val>
        </c:ser>
        <c:ser>
          <c:idx val="2"/>
          <c:order val="2"/>
          <c:tx>
            <c:strRef>
              <c:f>Sheet1!$D$1</c:f>
              <c:strCache>
                <c:ptCount val="1"/>
                <c:pt idx="0">
                  <c:v>Pendiente</c:v>
                </c:pt>
              </c:strCache>
            </c:strRef>
          </c:tx>
          <c:spPr>
            <a:solidFill>
              <a:srgbClr val="D9D9D9"/>
            </a:solidFill>
          </c:spPr>
          <c:cat>
            <c:strRef>
              <c:f>Sheet1!$A$2:$A$4</c:f>
              <c:strCache>
                <c:ptCount val="3"/>
                <c:pt idx="0">
                  <c:v>Casos de uso (8)</c:v>
                </c:pt>
                <c:pt idx="1">
                  <c:v>Req. no funcionales (8)</c:v>
                </c:pt>
                <c:pt idx="2">
                  <c:v>Req. funcionales (13)</c:v>
                </c:pt>
              </c:strCache>
            </c:strRef>
          </c:cat>
          <c:val>
            <c:numRef>
              <c:f>Sheet1!$D$2:$D$4</c:f>
              <c:numCache>
                <c:formatCode>General</c:formatCode>
                <c:ptCount val="3"/>
                <c:pt idx="0">
                  <c:v>3</c:v>
                </c:pt>
                <c:pt idx="1">
                  <c:v>1</c:v>
                </c:pt>
                <c:pt idx="2">
                  <c:v>4</c:v>
                </c:pt>
              </c:numCache>
            </c:numRef>
          </c:val>
        </c:ser>
        <c:dLbls>
          <c:txPr>
            <a:bodyPr/>
            <a:lstStyle/>
            <a:p>
              <a:pPr>
                <a:defRPr sz="1000" b="1">
                  <a:solidFill>
                    <a:srgbClr val="1A1A1A"/>
                  </a:solidFill>
                </a:defRPr>
              </a:pPr>
            </a:p>
          </c:txPr>
          <c:dLblPos val="ct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1000">
                <a:solidFill>
                  <a:srgbClr val="1A1A1A"/>
                </a:solidFil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legend>
      <c:legendPos val="b"/>
      <c:overlay val="0"/>
      <c:txPr>
        <a:bodyPr/>
        <a:lstStyle/>
        <a:p>
          <a:pPr>
            <a:defRPr sz="1000">
              <a:solidFill>
                <a:srgbClr val="1A1A1A"/>
              </a:solidFil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83182376fa_0_0:notes"/>
          <p:cNvSpPr txBox="1">
            <a:spLocks noGrp="1"/>
          </p:cNvSpPr>
          <p:nvPr>
            <p:ph type="body" idx="1"/>
          </p:nvPr>
        </p:nvSpPr>
        <p:spPr>
          <a:xfrm>
            <a:off x="685583" y="4400004"/>
            <a:ext cx="5486700" cy="3601500"/>
          </a:xfrm>
          <a:prstGeom prst="rect">
            <a:avLst/>
          </a:prstGeom>
          <a:noFill/>
          <a:ln>
            <a:noFill/>
          </a:ln>
        </p:spPr>
        <p:txBody>
          <a:bodyPr spcFirstLastPara="1" wrap="square" lIns="45425" tIns="22700" rIns="45425" bIns="22700" anchor="t" anchorCtr="0">
            <a:noAutofit/>
          </a:bodyPr>
          <a:lstStyle/>
          <a:p>
            <a:r>
              <a:t>PRESENTA: Baltasar · 0:25</a:t>
            </a:r>
          </a:p>
          <a:p/>
          <a:p>
            <a:r>
              <a:t>Buenas tardes, profesor. Somos el grupo 6 y les presentamos el avance de la Fase 2 de WithYou, nuestra aplicación Android para que las personas mayores usen su teléfono hablándole con naturalidad. Vamos a ver qué cambió, cuánto llevamos, cómo está construida la app y, al final, una demostración en vivo.</a:t>
            </a:r>
          </a:p>
          <a:p/>
          <a:p>
            <a:r>
              <a:t>Apoyo: Presentación del avance de la Fase 2. Recordar en una frase qué es WithYou: una aplicación Android que permite a personas mayores usar su teléfono hablándole con naturalidad.</a:t>
            </a:r>
          </a:p>
        </p:txBody>
      </p:sp>
      <p:sp>
        <p:nvSpPr>
          <p:cNvPr id="68" name="Google Shape;68;g383182376f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63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8319dd5654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8319dd5654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PRESENTA: Baltasar · (incluido en 0:25)</a:t>
            </a:r>
          </a:p>
          <a:p/>
          <a:p>
            <a:r>
              <a:t>(Pasar rápido: el índice se lee solo.)</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PRESENTA: Baltasar · 0:45</a:t>
            </a:r>
          </a:p>
          <a:p/>
          <a:p>
            <a:r>
              <a:t>Primero, lo importante: el proyecto no cambió. Mantenemos el objetivo general, los cuatro objetivos específicos y la metodología Cascada, y no sacamos ninguna funcionalidad del alcance. Lo que sí hicimos fueron cuatro ajustes técnicos. Cerramos dos decisiones que estaban abiertas: Android 8 como versión mínima, y Room para contactos con DataStore para preferencias. Descubrimos que los teléfonos Android Go no reconocen voz sin internet, así que usamos el modo en línea. Ordenamos el desarrollo en ocho pasos, partiendo por un producto mínimo. Y adelantamos las pruebas unitarias. Ahora Miguel les muestra cuánto llevamos.</a:t>
            </a:r>
          </a:p>
          <a:p/>
          <a:p>
            <a:r>
              <a:t>Apoyo: Mensaje: el proyecto no cambió de objetivos ni de metodología. Lo que cambió son decisiones técnicas que estaban abiertas en la Fase 1 o que aparecieron al probar en el teléfono real.</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PRESENTA: Miguel · 0:50</a:t>
            </a:r>
          </a:p>
          <a:p/>
          <a:p>
            <a:r>
              <a:t>Hoy tenemos un 58 % de los requerimientos funcionales implementados. Lo calculamos así: de los 13 requerimientos, 6 están completos y 3 están parciales, que contamos a la mitad. En el gráfico se ve el detalle: en azul lo completo, en celeste lo parcial y en gris lo pendiente. Los parciales son la aclaración, la alarma y la confirmación: la lógica ya está lista y probada, solo falta su pantalla. Además, tenemos 61 pruebas automatizadas aprobadas y dos casos de uso funcionando de punta a punta.</a:t>
            </a:r>
          </a:p>
          <a:p/>
          <a:p>
            <a:r>
              <a:t>Apoyo: Cómo se calcula el porcentaje: requerimientos funcionales completos más los parciales contados a la mitad: (6 + 1,5) / 13 = 58 %. Completos: RF-01 captura de audio, RF-02 voz a texto, RF-03 intención, RF-08 linterna y volumen, RF-09 hora y fecha, RF-13 respuesta en voz y pantalla. Parciales: RF-04 aclaración, RF-05 alarma, RF-10 confirmación (la lógica está lista, falta la pantalla). Pendientes: RF-06 llamada, RF-07 mensaje, RF-11 contactos, RF-12 preferencias.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PRESENTA: Miguel · 0:30</a:t>
            </a:r>
          </a:p>
          <a:p/>
          <a:p>
            <a:r>
              <a:t>En la línea de fases: Inicio, Análisis y Diseño están cerradas desde la Fase 1. Desarrollo está en curso, en el paso 4 de 8. Y la fase de Pruebas ya la empezamos en parte, porque escribimos las pruebas junto con el código. Ahora José Luis les muestra con qué tecnologías lo construimos.</a:t>
            </a:r>
          </a:p>
          <a:p/>
          <a:p>
            <a:r>
              <a:t>Apoyo: Verde: fase cerrada. Azul: fase en curso. Gris: fase por iniciar. La fase de Pruebas se adelantó en parte porque las pruebas unitarias se escriben durante el desarrollo.</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PRESENTA: José Luis · 0:40</a:t>
            </a:r>
          </a:p>
          <a:p/>
          <a:p>
            <a:r>
              <a:t>Mantuvimos el stack que definimos en la Fase 1 y fijamos las versiones. La app está hecha en Kotlin, con Android 8 como versión mínima para cubrir teléfonos antiguos. Para la voz usamos las APIs nativas: SpeechRecognizer en español de Chile y TextToSpeech. Respecto a la Fase 1 agregamos tres cosas: Room para guardar contactos e historial, Navigation Component para la barra de navegación inferior, y Coroutines con StateFlow para manejar el estado de la pantalla.</a:t>
            </a:r>
          </a:p>
          <a:p/>
          <a:p>
            <a:r>
              <a:t>Apoyo: Lo nuevo respecto a la Fase 1: Room (antes solo estaba DataStore), Navigation Component para la barra inferior y Coroutines con StateFlow para el estado de la pantalla.</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PRESENTA: José Luis · 0:45</a:t>
            </a:r>
          </a:p>
          <a:p/>
          <a:p>
            <a:r>
              <a:t>La arquitectura MVVM que diseñamos ya está implementada en el código. La View, que es el HomeFragment, dibuja cada estado con su función render() y envía los eventos, por ejemplo cuando el usuario toca el micrófono. El ViewModel coordina todo y expone el estado de la pantalla: esperando, escuchando, procesando o respondido. Y el Model tiene la lógica: el intérprete de comandos, los servicios del teléfono y los datos. La regla clave es que el ViewModel nunca conoce a la View y depende de interfaces, no de Android. Gracias a eso podemos probar toda la lógica sin un teléfono. Miguel les explica cómo funciona por dentro.</a:t>
            </a:r>
          </a:p>
          <a:p/>
          <a:p>
            <a:r>
              <a:t>Apoyo: Regla clave: el ViewModel nunca conoce a la View ni usa el Context de una Activity, y depende de interfaces (SpeechService, TtsService, ActionExecutor). Por eso toda la lógica se prueba con JUnit sin teléfono.</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PRESENTA: Miguel · 1:05</a:t>
            </a:r>
          </a:p>
          <a:p/>
          <a:p>
            <a:r>
              <a:t>Cada instrucción pasa por cuatro etapas, y les voy a nombrar las funciones del código. Escuchar: al tocar el micrófono, el HomeViewModel ejecuta onMicClicked(), que llama a startListening() del servicio de voz. El reconocedor transcribe en español de Chile y entrega hasta tres versiones. Interpretar: en onResults(), cada versión pasa por parse() del IntentParser, que reconoce diez intenciones con su nivel de confianza, y nos quedamos con la que mejor entiende. Decidir: process() del CommandProcessor resuelve qué hacer. Una acción simple, como la linterna, se ejecuta; una crítica, como llamar, queda para confirmación, cuya pantalla llega en el paso 4; y si la confianza es baja, pide aclaración. Ejecutar y responder: execute() llama a setFlashlight() o changeVolume(), y respond() muestra el mensaje y llama a speak() en el mismo momento. Si el reconocedor no contesta en diez segundos, restartWatchdog() corta la espera.</a:t>
            </a:r>
          </a:p>
          <a:p/>
          <a:p>
            <a:r>
              <a:t>Apoyo: Funciones reales del código: HomeViewModel.onMicClicked(), SpeechService.startListening(), HomeViewModel.onResults(), IntentParser.parse(), CommandProcessor.process(), HomeViewModel.execute(), ActionExecutor.setFlashlight() / changeVolume(), HomeViewModel.respond(), TtsService.speak(), HomeViewModel.restartWatchdog(). Hoy, en la app, las decisiones de confirmación responden «disponible pronto» hasta que esté la pantalla del paso 4.</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PRESENTA: Joaquín · 0:35</a:t>
            </a:r>
          </a:p>
          <a:p/>
          <a:p>
            <a:r>
              <a:t>Para asegurar la calidad tenemos 61 pruebas automatizadas con JUnit, todas aprobadas. Probamos cada componente por separado: más de 40 formas coloquiales de decir una hora, frases reales en español de Chile, y cuándo hay que confirmar o aclarar. Para probar el flujo completo sin teléfono, reemplazamos el micrófono y la voz por versiones simuladas. Y además probamos la app en un teléfono real de gama baja, un Samsung J2 Core con 1 GB de RAM.</a:t>
            </a:r>
          </a:p>
          <a:p/>
          <a:p>
            <a:r>
              <a:t>Apoyo: Técnica: dobles de prueba (fakes) reemplazan el micrófono, la voz y el hardware, así se valida el flujo completo, incluidos errores del reconocedor y tiempos de espera, sin teléfono. Comando: gradlew testDebugUnitTest.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PRESENTA: Joaquín · 0:45</a:t>
            </a:r>
          </a:p>
          <a:p/>
          <a:p>
            <a:r>
              <a:t>Ese teléfono real nos mostró tres problemas que el emulador no mostraba. Uno: la app decía «sin conexión» teniendo internet. La causa era que Android Go no trae reconocimiento sin conexión, así que ahora usamos el modo en línea con reintento automático. Dos: la app se quedaba pegada en «te escucho». El reintento reutilizaba el mismo reconocedor; ahora creamos uno nuevo cada vez y agregamos el vigilante de diez segundos. Tres: la app no hablaba, porque el motor de voz estaba desactivado en el teléfono; quedó como requisito de instalación. En los tres casos buscamos la causa con Logcat antes de tocar el código. Ahora, la demostración.</a:t>
            </a:r>
          </a:p>
          <a:p/>
          <a:p>
            <a:r>
              <a:t>Apoyo: Los tres problemas aparecieron solo en el teléfono real, no en el emulador. Eso justifica probar desde temprano en un equipo de gama baja.</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PRESENTA: Miguel (José Luis maneja el teléfono) · 1:45</a:t>
            </a:r>
          </a:p>
          <a:p/>
          <a:p>
            <a:r>
              <a:t>«Este es el Samsung J2 Core, con 1 GB de RAM: el tipo de teléfono que tiene nuestro usuario. Vamos a darle cuatro instrucciones.» 1) «¿Qué hora es?»: «Fíjense que el botón cambia de color mientras escucha, y que la respuesta sale por voz y en pantalla al mismo tiempo.» 2) «¿Qué día es hoy?» 3) «Enciende la linterna» y «Apaga la linterna»: «Es una acción no crítica, por eso se ejecuta sin pedir confirmación.» 4) «Sube el volumen»: «El volumen nunca baja a cero, para que el usuario siga escuchando las respuestas.» Cierre: «Así funciona hoy el ciclo completo: escuchar, interpretar, decidir y responder.» Si algo falla: «el reconocimiento en Android Go necesita internet, vamos a repetir»; si vuelve a fallar, pasar al video de respaldo.</a:t>
            </a:r>
          </a:p>
          <a:p/>
          <a:p>
            <a:r>
              <a:t>Apoyo: Antes de presentar: teléfono cargado y con internet (Android Go necesita conexión para reconocer voz), Servicios de voz de Google activados, permiso de micrófono ya concedido, volumen alto, y conectar la pantalla del teléfono al proyector (por ejemplo con scrcpy o una cámara). Hablar cerca del micrófono y esperar a que el botón se ponga verde.</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PRESENTA: Baltasar · 0:40</a:t>
            </a:r>
          </a:p>
          <a:p/>
          <a:p>
            <a:r>
              <a:t>Nuestra meta es tener el 100 % de la aplicación en la semana 15, el 20 de noviembre. Para eso quedan cuatro bloques. Primero, el paso 4: las pantallas de confirmación y aclaración, y la alarma. Va primero porque destraba la alarma, las llamadas y los mensajes. Después, contactos frecuentes, llamadas y mensajes por voz. Luego, las preferencias de tamaño de texto y volumen. Y finalmente seguridad y pruebas: cifrado de datos, PIN, pruebas con TalkBack y medir que la respuesta tome menos de tres segundos.</a:t>
            </a:r>
          </a:p>
          <a:p/>
          <a:p>
            <a:r>
              <a:t>Apoyo: Meta del equipo: la aplicación completa en la semana 15 (20 de noviembre). El paso 4 va primero porque las pantallas de confirmación y aclaración destraban la alarma, las llamadas y los mensajes.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PRESENTA: Baltasar · 0:20</a:t>
            </a:r>
          </a:p>
          <a:p/>
          <a:p>
            <a:r>
              <a:t>Para cerrar: la arquitectura que diseñamos en la Fase 1 funciona en un teléfono real de gama baja, y el núcleo de la app, escuchar, interpretar y decidir, está completo y probado. Lo que falta es interfaz y acciones críticas. Muchas gracias, quedamos atentos a sus preguntas.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obj">
  <p:cSld name="OBJECT">
    <p:spTree>
      <p:nvGrpSpPr>
        <p:cNvPr id="1" name="Shape 50"/>
        <p:cNvGrpSpPr/>
        <p:nvPr/>
      </p:nvGrpSpPr>
      <p:grpSpPr>
        <a:xfrm>
          <a:off x="0" y="0"/>
          <a:ext cx="0" cy="0"/>
          <a:chOff x="0" y="0"/>
          <a:chExt cx="0" cy="0"/>
        </a:xfrm>
      </p:grpSpPr>
      <p:pic>
        <p:nvPicPr>
          <p:cNvPr id="51" name="Google Shape;51;p13"/>
          <p:cNvPicPr preferRelativeResize="0"/>
          <p:nvPr/>
        </p:nvPicPr>
        <p:blipFill rotWithShape="1">
          <a:blip r:embed="rId2">
            <a:alphaModFix/>
          </a:blip>
          <a:srcRect/>
          <a:stretch/>
        </p:blipFill>
        <p:spPr>
          <a:xfrm>
            <a:off x="0" y="180"/>
            <a:ext cx="9143683" cy="5143319"/>
          </a:xfrm>
          <a:prstGeom prst="rect">
            <a:avLst/>
          </a:prstGeom>
          <a:noFill/>
          <a:ln>
            <a:noFill/>
          </a:ln>
        </p:spPr>
      </p:pic>
      <p:sp>
        <p:nvSpPr>
          <p:cNvPr id="52" name="Google Shape;52;p13"/>
          <p:cNvSpPr txBox="1">
            <a:spLocks noGrp="1"/>
          </p:cNvSpPr>
          <p:nvPr>
            <p:ph type="ctrTitle"/>
          </p:nvPr>
        </p:nvSpPr>
        <p:spPr>
          <a:xfrm>
            <a:off x="1290910" y="3957015"/>
            <a:ext cx="3084600" cy="265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600"/>
              <a:buNone/>
              <a:defRPr sz="1700">
                <a:solidFill>
                  <a:schemeClr val="lt1"/>
                </a:solidFill>
              </a:defRPr>
            </a:lvl1pPr>
            <a:lvl2pPr lvl="1" algn="l">
              <a:lnSpc>
                <a:spcPct val="100000"/>
              </a:lnSpc>
              <a:spcBef>
                <a:spcPts val="0"/>
              </a:spcBef>
              <a:spcAft>
                <a:spcPts val="0"/>
              </a:spcAft>
              <a:buSzPts val="600"/>
              <a:buNone/>
              <a:defRPr/>
            </a:lvl2pPr>
            <a:lvl3pPr lvl="2" algn="l">
              <a:lnSpc>
                <a:spcPct val="100000"/>
              </a:lnSpc>
              <a:spcBef>
                <a:spcPts val="0"/>
              </a:spcBef>
              <a:spcAft>
                <a:spcPts val="0"/>
              </a:spcAft>
              <a:buSzPts val="600"/>
              <a:buNone/>
              <a:defRPr/>
            </a:lvl3pPr>
            <a:lvl4pPr lvl="3" algn="l">
              <a:lnSpc>
                <a:spcPct val="100000"/>
              </a:lnSpc>
              <a:spcBef>
                <a:spcPts val="0"/>
              </a:spcBef>
              <a:spcAft>
                <a:spcPts val="0"/>
              </a:spcAft>
              <a:buSzPts val="600"/>
              <a:buNone/>
              <a:defRPr/>
            </a:lvl4pPr>
            <a:lvl5pPr lvl="4" algn="l">
              <a:lnSpc>
                <a:spcPct val="100000"/>
              </a:lnSpc>
              <a:spcBef>
                <a:spcPts val="0"/>
              </a:spcBef>
              <a:spcAft>
                <a:spcPts val="0"/>
              </a:spcAft>
              <a:buSzPts val="600"/>
              <a:buNone/>
              <a:defRPr/>
            </a:lvl5pPr>
            <a:lvl6pPr lvl="5" algn="l">
              <a:lnSpc>
                <a:spcPct val="100000"/>
              </a:lnSpc>
              <a:spcBef>
                <a:spcPts val="0"/>
              </a:spcBef>
              <a:spcAft>
                <a:spcPts val="0"/>
              </a:spcAft>
              <a:buSzPts val="600"/>
              <a:buNone/>
              <a:defRPr/>
            </a:lvl6pPr>
            <a:lvl7pPr lvl="6" algn="l">
              <a:lnSpc>
                <a:spcPct val="100000"/>
              </a:lnSpc>
              <a:spcBef>
                <a:spcPts val="0"/>
              </a:spcBef>
              <a:spcAft>
                <a:spcPts val="0"/>
              </a:spcAft>
              <a:buSzPts val="600"/>
              <a:buNone/>
              <a:defRPr/>
            </a:lvl7pPr>
            <a:lvl8pPr lvl="7" algn="l">
              <a:lnSpc>
                <a:spcPct val="100000"/>
              </a:lnSpc>
              <a:spcBef>
                <a:spcPts val="0"/>
              </a:spcBef>
              <a:spcAft>
                <a:spcPts val="0"/>
              </a:spcAft>
              <a:buSzPts val="600"/>
              <a:buNone/>
              <a:defRPr/>
            </a:lvl8pPr>
            <a:lvl9pPr lvl="8" algn="l">
              <a:lnSpc>
                <a:spcPct val="100000"/>
              </a:lnSpc>
              <a:spcBef>
                <a:spcPts val="0"/>
              </a:spcBef>
              <a:spcAft>
                <a:spcPts val="0"/>
              </a:spcAft>
              <a:buSzPts val="600"/>
              <a:buNone/>
              <a:defRPr/>
            </a:lvl9pPr>
          </a:lstStyle>
          <a:p>
            <a:endParaRPr/>
          </a:p>
        </p:txBody>
      </p:sp>
      <p:sp>
        <p:nvSpPr>
          <p:cNvPr id="53" name="Google Shape;53;p13"/>
          <p:cNvSpPr txBox="1">
            <a:spLocks noGrp="1"/>
          </p:cNvSpPr>
          <p:nvPr>
            <p:ph type="subTitle" idx="1"/>
          </p:nvPr>
        </p:nvSpPr>
        <p:spPr>
          <a:xfrm>
            <a:off x="1290910" y="4371687"/>
            <a:ext cx="3962700" cy="1680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600"/>
              <a:buNone/>
              <a:defRPr sz="1100">
                <a:solidFill>
                  <a:schemeClr val="lt1"/>
                </a:solidFill>
                <a:latin typeface="Arial"/>
                <a:ea typeface="Arial"/>
                <a:cs typeface="Arial"/>
                <a:sym typeface="Arial"/>
              </a:defRPr>
            </a:lvl1pPr>
            <a:lvl2pPr lvl="1" algn="l">
              <a:lnSpc>
                <a:spcPct val="100000"/>
              </a:lnSpc>
              <a:spcBef>
                <a:spcPts val="0"/>
              </a:spcBef>
              <a:spcAft>
                <a:spcPts val="0"/>
              </a:spcAft>
              <a:buSzPts val="600"/>
              <a:buNone/>
              <a:defRPr/>
            </a:lvl2pPr>
            <a:lvl3pPr lvl="2" algn="l">
              <a:lnSpc>
                <a:spcPct val="100000"/>
              </a:lnSpc>
              <a:spcBef>
                <a:spcPts val="0"/>
              </a:spcBef>
              <a:spcAft>
                <a:spcPts val="0"/>
              </a:spcAft>
              <a:buSzPts val="600"/>
              <a:buNone/>
              <a:defRPr/>
            </a:lvl3pPr>
            <a:lvl4pPr lvl="3" algn="l">
              <a:lnSpc>
                <a:spcPct val="100000"/>
              </a:lnSpc>
              <a:spcBef>
                <a:spcPts val="0"/>
              </a:spcBef>
              <a:spcAft>
                <a:spcPts val="0"/>
              </a:spcAft>
              <a:buSzPts val="600"/>
              <a:buNone/>
              <a:defRPr/>
            </a:lvl4pPr>
            <a:lvl5pPr lvl="4" algn="l">
              <a:lnSpc>
                <a:spcPct val="100000"/>
              </a:lnSpc>
              <a:spcBef>
                <a:spcPts val="0"/>
              </a:spcBef>
              <a:spcAft>
                <a:spcPts val="0"/>
              </a:spcAft>
              <a:buSzPts val="600"/>
              <a:buNone/>
              <a:defRPr/>
            </a:lvl5pPr>
            <a:lvl6pPr lvl="5" algn="l">
              <a:lnSpc>
                <a:spcPct val="100000"/>
              </a:lnSpc>
              <a:spcBef>
                <a:spcPts val="0"/>
              </a:spcBef>
              <a:spcAft>
                <a:spcPts val="0"/>
              </a:spcAft>
              <a:buSzPts val="600"/>
              <a:buNone/>
              <a:defRPr/>
            </a:lvl6pPr>
            <a:lvl7pPr lvl="6" algn="l">
              <a:lnSpc>
                <a:spcPct val="100000"/>
              </a:lnSpc>
              <a:spcBef>
                <a:spcPts val="0"/>
              </a:spcBef>
              <a:spcAft>
                <a:spcPts val="0"/>
              </a:spcAft>
              <a:buSzPts val="600"/>
              <a:buNone/>
              <a:defRPr/>
            </a:lvl7pPr>
            <a:lvl8pPr lvl="7" algn="l">
              <a:lnSpc>
                <a:spcPct val="100000"/>
              </a:lnSpc>
              <a:spcBef>
                <a:spcPts val="0"/>
              </a:spcBef>
              <a:spcAft>
                <a:spcPts val="0"/>
              </a:spcAft>
              <a:buSzPts val="600"/>
              <a:buNone/>
              <a:defRPr/>
            </a:lvl8pPr>
            <a:lvl9pPr lvl="8" algn="l">
              <a:lnSpc>
                <a:spcPct val="100000"/>
              </a:lnSpc>
              <a:spcBef>
                <a:spcPts val="0"/>
              </a:spcBef>
              <a:spcAft>
                <a:spcPts val="0"/>
              </a:spcAft>
              <a:buSzPts val="600"/>
              <a:buNone/>
              <a:defRPr/>
            </a:lvl9pPr>
          </a:lstStyle>
          <a:p>
            <a:endParaRPr/>
          </a:p>
        </p:txBody>
      </p:sp>
      <p:sp>
        <p:nvSpPr>
          <p:cNvPr id="54" name="Google Shape;54;p13"/>
          <p:cNvSpPr/>
          <p:nvPr/>
        </p:nvSpPr>
        <p:spPr>
          <a:xfrm>
            <a:off x="1290910" y="4304541"/>
            <a:ext cx="4022703" cy="0"/>
          </a:xfrm>
          <a:custGeom>
            <a:avLst/>
            <a:gdLst/>
            <a:ahLst/>
            <a:cxnLst/>
            <a:rect l="l" t="t" r="r" b="b"/>
            <a:pathLst>
              <a:path w="8841105" h="120000" extrusionOk="0">
                <a:moveTo>
                  <a:pt x="0" y="0"/>
                </a:moveTo>
                <a:lnTo>
                  <a:pt x="8840652" y="0"/>
                </a:lnTo>
              </a:path>
            </a:pathLst>
          </a:custGeom>
          <a:noFill/>
          <a:ln w="4750"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55"/>
        <p:cNvGrpSpPr/>
        <p:nvPr/>
      </p:nvGrpSpPr>
      <p:grpSpPr>
        <a:xfrm>
          <a:off x="0" y="0"/>
          <a:ext cx="0" cy="0"/>
          <a:chOff x="0" y="0"/>
          <a:chExt cx="0" cy="0"/>
        </a:xfrm>
      </p:grpSpPr>
      <p:sp>
        <p:nvSpPr>
          <p:cNvPr id="56" name="Google Shape;56;p14"/>
          <p:cNvSpPr txBox="1">
            <a:spLocks noGrp="1"/>
          </p:cNvSpPr>
          <p:nvPr>
            <p:ph type="title"/>
          </p:nvPr>
        </p:nvSpPr>
        <p:spPr>
          <a:xfrm>
            <a:off x="1106176" y="324998"/>
            <a:ext cx="7726800" cy="3360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600"/>
              <a:buNone/>
              <a:defRPr sz="2200"/>
            </a:lvl1pPr>
            <a:lvl2pPr lvl="1" algn="l">
              <a:lnSpc>
                <a:spcPct val="100000"/>
              </a:lnSpc>
              <a:spcBef>
                <a:spcPts val="0"/>
              </a:spcBef>
              <a:spcAft>
                <a:spcPts val="0"/>
              </a:spcAft>
              <a:buSzPts val="600"/>
              <a:buNone/>
              <a:defRPr/>
            </a:lvl2pPr>
            <a:lvl3pPr lvl="2" algn="l">
              <a:lnSpc>
                <a:spcPct val="100000"/>
              </a:lnSpc>
              <a:spcBef>
                <a:spcPts val="0"/>
              </a:spcBef>
              <a:spcAft>
                <a:spcPts val="0"/>
              </a:spcAft>
              <a:buSzPts val="600"/>
              <a:buNone/>
              <a:defRPr/>
            </a:lvl3pPr>
            <a:lvl4pPr lvl="3" algn="l">
              <a:lnSpc>
                <a:spcPct val="100000"/>
              </a:lnSpc>
              <a:spcBef>
                <a:spcPts val="0"/>
              </a:spcBef>
              <a:spcAft>
                <a:spcPts val="0"/>
              </a:spcAft>
              <a:buSzPts val="600"/>
              <a:buNone/>
              <a:defRPr/>
            </a:lvl4pPr>
            <a:lvl5pPr lvl="4" algn="l">
              <a:lnSpc>
                <a:spcPct val="100000"/>
              </a:lnSpc>
              <a:spcBef>
                <a:spcPts val="0"/>
              </a:spcBef>
              <a:spcAft>
                <a:spcPts val="0"/>
              </a:spcAft>
              <a:buSzPts val="600"/>
              <a:buNone/>
              <a:defRPr/>
            </a:lvl5pPr>
            <a:lvl6pPr lvl="5" algn="l">
              <a:lnSpc>
                <a:spcPct val="100000"/>
              </a:lnSpc>
              <a:spcBef>
                <a:spcPts val="0"/>
              </a:spcBef>
              <a:spcAft>
                <a:spcPts val="0"/>
              </a:spcAft>
              <a:buSzPts val="600"/>
              <a:buNone/>
              <a:defRPr/>
            </a:lvl6pPr>
            <a:lvl7pPr lvl="6" algn="l">
              <a:lnSpc>
                <a:spcPct val="100000"/>
              </a:lnSpc>
              <a:spcBef>
                <a:spcPts val="0"/>
              </a:spcBef>
              <a:spcAft>
                <a:spcPts val="0"/>
              </a:spcAft>
              <a:buSzPts val="600"/>
              <a:buNone/>
              <a:defRPr/>
            </a:lvl7pPr>
            <a:lvl8pPr lvl="7" algn="l">
              <a:lnSpc>
                <a:spcPct val="100000"/>
              </a:lnSpc>
              <a:spcBef>
                <a:spcPts val="0"/>
              </a:spcBef>
              <a:spcAft>
                <a:spcPts val="0"/>
              </a:spcAft>
              <a:buSzPts val="600"/>
              <a:buNone/>
              <a:defRPr/>
            </a:lvl8pPr>
            <a:lvl9pPr lvl="8" algn="l">
              <a:lnSpc>
                <a:spcPct val="100000"/>
              </a:lnSpc>
              <a:spcBef>
                <a:spcPts val="0"/>
              </a:spcBef>
              <a:spcAft>
                <a:spcPts val="0"/>
              </a:spcAft>
              <a:buSzPts val="600"/>
              <a:buNone/>
              <a:defRPr/>
            </a:lvl9pPr>
          </a:lstStyle>
          <a:p>
            <a:endParaRPr/>
          </a:p>
        </p:txBody>
      </p:sp>
      <p:sp>
        <p:nvSpPr>
          <p:cNvPr id="57" name="Google Shape;57;p14"/>
          <p:cNvSpPr/>
          <p:nvPr/>
        </p:nvSpPr>
        <p:spPr>
          <a:xfrm>
            <a:off x="-2888" y="298402"/>
            <a:ext cx="1020772" cy="482505"/>
          </a:xfrm>
          <a:custGeom>
            <a:avLst/>
            <a:gdLst/>
            <a:ahLst/>
            <a:cxnLst/>
            <a:rect l="l" t="t" r="r" b="b"/>
            <a:pathLst>
              <a:path w="2243455" h="1060450" extrusionOk="0">
                <a:moveTo>
                  <a:pt x="2243429" y="0"/>
                </a:moveTo>
                <a:lnTo>
                  <a:pt x="0" y="0"/>
                </a:lnTo>
                <a:lnTo>
                  <a:pt x="0" y="1059999"/>
                </a:lnTo>
                <a:lnTo>
                  <a:pt x="2243429" y="1059999"/>
                </a:lnTo>
                <a:lnTo>
                  <a:pt x="2243429" y="0"/>
                </a:lnTo>
                <a:close/>
              </a:path>
            </a:pathLst>
          </a:custGeom>
          <a:solidFill>
            <a:srgbClr val="257CE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000000"/>
              </a:solidFill>
              <a:latin typeface="Arial"/>
              <a:ea typeface="Arial"/>
              <a:cs typeface="Arial"/>
              <a:sym typeface="Arial"/>
            </a:endParaRPr>
          </a:p>
        </p:txBody>
      </p:sp>
      <p:sp>
        <p:nvSpPr>
          <p:cNvPr id="58" name="Google Shape;58;p14"/>
          <p:cNvSpPr/>
          <p:nvPr/>
        </p:nvSpPr>
        <p:spPr>
          <a:xfrm>
            <a:off x="7704146" y="4640017"/>
            <a:ext cx="717111" cy="232585"/>
          </a:xfrm>
          <a:custGeom>
            <a:avLst/>
            <a:gdLst/>
            <a:ahLst/>
            <a:cxnLst/>
            <a:rect l="l" t="t" r="r" b="b"/>
            <a:pathLst>
              <a:path w="1576069" h="511175" extrusionOk="0">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w="1576069" h="511175" extrusionOk="0">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w="1576069" h="511175" extrusionOk="0">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w="1576069" h="511175" extrusionOk="0">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000000"/>
              </a:solidFill>
              <a:latin typeface="Arial"/>
              <a:ea typeface="Arial"/>
              <a:cs typeface="Arial"/>
              <a:sym typeface="Arial"/>
            </a:endParaRPr>
          </a:p>
        </p:txBody>
      </p:sp>
      <p:sp>
        <p:nvSpPr>
          <p:cNvPr id="59" name="Google Shape;59;p14"/>
          <p:cNvSpPr/>
          <p:nvPr/>
        </p:nvSpPr>
        <p:spPr>
          <a:xfrm>
            <a:off x="8470593" y="4659573"/>
            <a:ext cx="172199" cy="213804"/>
          </a:xfrm>
          <a:custGeom>
            <a:avLst/>
            <a:gdLst/>
            <a:ahLst/>
            <a:cxnLst/>
            <a:rect l="l" t="t" r="r" b="b"/>
            <a:pathLst>
              <a:path w="378459" h="469900" extrusionOk="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000000"/>
              </a:solidFill>
              <a:latin typeface="Arial"/>
              <a:ea typeface="Arial"/>
              <a:cs typeface="Arial"/>
              <a:sym typeface="Arial"/>
            </a:endParaRPr>
          </a:p>
        </p:txBody>
      </p:sp>
      <p:grpSp>
        <p:nvGrpSpPr>
          <p:cNvPr id="60" name="Google Shape;60;p14"/>
          <p:cNvGrpSpPr/>
          <p:nvPr/>
        </p:nvGrpSpPr>
        <p:grpSpPr>
          <a:xfrm>
            <a:off x="8665722" y="4601531"/>
            <a:ext cx="194206" cy="271780"/>
            <a:chOff x="19053919" y="10117702"/>
            <a:chExt cx="427015" cy="597582"/>
          </a:xfrm>
        </p:grpSpPr>
        <p:sp>
          <p:nvSpPr>
            <p:cNvPr id="61" name="Google Shape;61;p14"/>
            <p:cNvSpPr/>
            <p:nvPr/>
          </p:nvSpPr>
          <p:spPr>
            <a:xfrm>
              <a:off x="19053919" y="10237764"/>
              <a:ext cx="366394" cy="477520"/>
            </a:xfrm>
            <a:custGeom>
              <a:avLst/>
              <a:gdLst/>
              <a:ahLst/>
              <a:cxnLst/>
              <a:rect l="l" t="t" r="r" b="b"/>
              <a:pathLst>
                <a:path w="366394" h="477520" extrusionOk="0">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rgbClr val="000000"/>
                </a:solidFill>
                <a:latin typeface="Arial"/>
                <a:ea typeface="Arial"/>
                <a:cs typeface="Arial"/>
                <a:sym typeface="Arial"/>
              </a:endParaRPr>
            </a:p>
          </p:txBody>
        </p:sp>
        <p:pic>
          <p:nvPicPr>
            <p:cNvPr id="62" name="Google Shape;62;p14"/>
            <p:cNvPicPr preferRelativeResize="0"/>
            <p:nvPr/>
          </p:nvPicPr>
          <p:blipFill rotWithShape="1">
            <a:blip r:embed="rId2">
              <a:alphaModFix/>
            </a:blip>
            <a:srcRect/>
            <a:stretch/>
          </p:blipFill>
          <p:spPr>
            <a:xfrm>
              <a:off x="19368634" y="10117702"/>
              <a:ext cx="112300" cy="112268"/>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63"/>
        <p:cNvGrpSpPr/>
        <p:nvPr/>
      </p:nvGrpSpPr>
      <p:grpSpPr>
        <a:xfrm>
          <a:off x="0" y="0"/>
          <a:ext cx="0" cy="0"/>
          <a:chOff x="0" y="0"/>
          <a:chExt cx="0" cy="0"/>
        </a:xfrm>
      </p:grpSpPr>
      <p:pic>
        <p:nvPicPr>
          <p:cNvPr id="64" name="Google Shape;64;p15"/>
          <p:cNvPicPr preferRelativeResize="0"/>
          <p:nvPr/>
        </p:nvPicPr>
        <p:blipFill rotWithShape="1">
          <a:blip r:embed="rId2">
            <a:alphaModFix/>
          </a:blip>
          <a:srcRect/>
          <a:stretch/>
        </p:blipFill>
        <p:spPr>
          <a:xfrm>
            <a:off x="1529" y="0"/>
            <a:ext cx="9140300" cy="5143501"/>
          </a:xfrm>
          <a:prstGeom prst="rect">
            <a:avLst/>
          </a:prstGeom>
          <a:noFill/>
          <a:ln>
            <a:noFill/>
          </a:ln>
        </p:spPr>
      </p:pic>
      <p:sp>
        <p:nvSpPr>
          <p:cNvPr id="65" name="Google Shape;65;p15"/>
          <p:cNvSpPr txBox="1">
            <a:spLocks noGrp="1"/>
          </p:cNvSpPr>
          <p:nvPr>
            <p:ph type="title"/>
          </p:nvPr>
        </p:nvSpPr>
        <p:spPr>
          <a:xfrm>
            <a:off x="2180581" y="3160899"/>
            <a:ext cx="4449300" cy="699900"/>
          </a:xfrm>
          <a:prstGeom prst="rect">
            <a:avLst/>
          </a:prstGeom>
          <a:noFill/>
          <a:ln>
            <a:noFill/>
          </a:ln>
        </p:spPr>
        <p:txBody>
          <a:bodyPr spcFirstLastPara="1" wrap="square" lIns="0" tIns="0" rIns="0" bIns="0" anchor="t" anchorCtr="0">
            <a:spAutoFit/>
          </a:bodyPr>
          <a:lstStyle>
            <a:lvl1pPr lvl="0" algn="r">
              <a:lnSpc>
                <a:spcPct val="100000"/>
              </a:lnSpc>
              <a:spcBef>
                <a:spcPts val="0"/>
              </a:spcBef>
              <a:spcAft>
                <a:spcPts val="0"/>
              </a:spcAft>
              <a:buSzPts val="600"/>
              <a:buNone/>
              <a:defRPr sz="2300"/>
            </a:lvl1pPr>
            <a:lvl2pPr lvl="1" algn="l">
              <a:lnSpc>
                <a:spcPct val="100000"/>
              </a:lnSpc>
              <a:spcBef>
                <a:spcPts val="0"/>
              </a:spcBef>
              <a:spcAft>
                <a:spcPts val="0"/>
              </a:spcAft>
              <a:buSzPts val="600"/>
              <a:buNone/>
              <a:defRPr/>
            </a:lvl2pPr>
            <a:lvl3pPr lvl="2" algn="l">
              <a:lnSpc>
                <a:spcPct val="100000"/>
              </a:lnSpc>
              <a:spcBef>
                <a:spcPts val="0"/>
              </a:spcBef>
              <a:spcAft>
                <a:spcPts val="0"/>
              </a:spcAft>
              <a:buSzPts val="600"/>
              <a:buNone/>
              <a:defRPr/>
            </a:lvl3pPr>
            <a:lvl4pPr lvl="3" algn="l">
              <a:lnSpc>
                <a:spcPct val="100000"/>
              </a:lnSpc>
              <a:spcBef>
                <a:spcPts val="0"/>
              </a:spcBef>
              <a:spcAft>
                <a:spcPts val="0"/>
              </a:spcAft>
              <a:buSzPts val="600"/>
              <a:buNone/>
              <a:defRPr/>
            </a:lvl4pPr>
            <a:lvl5pPr lvl="4" algn="l">
              <a:lnSpc>
                <a:spcPct val="100000"/>
              </a:lnSpc>
              <a:spcBef>
                <a:spcPts val="0"/>
              </a:spcBef>
              <a:spcAft>
                <a:spcPts val="0"/>
              </a:spcAft>
              <a:buSzPts val="600"/>
              <a:buNone/>
              <a:defRPr/>
            </a:lvl5pPr>
            <a:lvl6pPr lvl="5" algn="l">
              <a:lnSpc>
                <a:spcPct val="100000"/>
              </a:lnSpc>
              <a:spcBef>
                <a:spcPts val="0"/>
              </a:spcBef>
              <a:spcAft>
                <a:spcPts val="0"/>
              </a:spcAft>
              <a:buSzPts val="600"/>
              <a:buNone/>
              <a:defRPr/>
            </a:lvl6pPr>
            <a:lvl7pPr lvl="6" algn="l">
              <a:lnSpc>
                <a:spcPct val="100000"/>
              </a:lnSpc>
              <a:spcBef>
                <a:spcPts val="0"/>
              </a:spcBef>
              <a:spcAft>
                <a:spcPts val="0"/>
              </a:spcAft>
              <a:buSzPts val="600"/>
              <a:buNone/>
              <a:defRPr/>
            </a:lvl7pPr>
            <a:lvl8pPr lvl="7" algn="l">
              <a:lnSpc>
                <a:spcPct val="100000"/>
              </a:lnSpc>
              <a:spcBef>
                <a:spcPts val="0"/>
              </a:spcBef>
              <a:spcAft>
                <a:spcPts val="0"/>
              </a:spcAft>
              <a:buSzPts val="600"/>
              <a:buNone/>
              <a:defRPr/>
            </a:lvl8pPr>
            <a:lvl9pPr lvl="8" algn="l">
              <a:lnSpc>
                <a:spcPct val="100000"/>
              </a:lnSpc>
              <a:spcBef>
                <a:spcPts val="0"/>
              </a:spcBef>
              <a:spcAft>
                <a:spcPts val="0"/>
              </a:spcAft>
              <a:buSzPts val="6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6"/>
          <p:cNvSpPr txBox="1">
            <a:spLocks noGrp="1"/>
          </p:cNvSpPr>
          <p:nvPr>
            <p:ph type="ctrTitle"/>
          </p:nvPr>
        </p:nvSpPr>
        <p:spPr>
          <a:xfrm>
            <a:off x="1290896" y="3957025"/>
            <a:ext cx="4358700" cy="7851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600"/>
              <a:buNone/>
            </a:pPr>
            <a:r>
              <a:rPr lang="es-CL" noProof="0" dirty="0"/>
              <a:t>WithYou: Avance Fase 2 (Desarrollo)</a:t>
            </a:r>
          </a:p>
        </p:txBody>
      </p:sp>
      <p:sp>
        <p:nvSpPr>
          <p:cNvPr id="71" name="Google Shape;71;p16"/>
          <p:cNvSpPr txBox="1">
            <a:spLocks noGrp="1"/>
          </p:cNvSpPr>
          <p:nvPr>
            <p:ph type="subTitle" idx="1"/>
          </p:nvPr>
        </p:nvSpPr>
        <p:spPr>
          <a:xfrm>
            <a:off x="1290900" y="4371665"/>
            <a:ext cx="3962700" cy="2154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500"/>
              <a:buFont typeface="Arial"/>
              <a:buNone/>
            </a:pPr>
            <a:r>
              <a:rPr lang="es-CL" sz="700" b="1" noProof="0" dirty="0"/>
              <a:t>Profesor: Aldo Martínez</a:t>
            </a:r>
          </a:p>
          <a:p>
            <a:pPr marL="0" lvl="0" indent="0" algn="l" rtl="0">
              <a:lnSpc>
                <a:spcPct val="100000"/>
              </a:lnSpc>
              <a:spcBef>
                <a:spcPts val="0"/>
              </a:spcBef>
              <a:spcAft>
                <a:spcPts val="0"/>
              </a:spcAft>
              <a:buClr>
                <a:schemeClr val="dk1"/>
              </a:buClr>
              <a:buSzPts val="500"/>
              <a:buFont typeface="Arial"/>
              <a:buNone/>
            </a:pPr>
            <a:r>
              <a:rPr lang="es-CL" sz="700" b="1" noProof="0" dirty="0"/>
              <a:t>Integrantes: Miguel Pereira, Baltasar Ordoñez, José Luis Donoso, Joaquin Mendoza</a:t>
            </a:r>
            <a:endParaRPr lang="es-CL" sz="1300" b="1" noProof="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7"/>
          <p:cNvSpPr txBox="1">
            <a:spLocks noGrp="1"/>
          </p:cNvSpPr>
          <p:nvPr>
            <p:ph type="title"/>
          </p:nvPr>
        </p:nvSpPr>
        <p:spPr>
          <a:xfrm>
            <a:off x="1106176" y="324998"/>
            <a:ext cx="7726800" cy="338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s-CL" sz="2400" b="1" noProof="0" dirty="0">
                <a:solidFill>
                  <a:srgbClr val="1A1A1A"/>
                </a:solidFill>
                <a:latin typeface="Arial"/>
              </a:rPr>
              <a:t>Índice</a:t>
            </a:r>
            <a:endParaRPr lang="es-CL" b="1" noProof="0" dirty="0"/>
          </a:p>
        </p:txBody>
      </p:sp>
      <p:sp>
        <p:nvSpPr>
          <p:cNvPr id="77" name="TextBox 76"/>
          <p:cNvSpPr txBox="1"/>
          <p:nvPr/>
        </p:nvSpPr>
        <p:spPr>
          <a:xfrm>
            <a:off x="502920" y="1097280"/>
            <a:ext cx="3840480" cy="3566160"/>
          </a:xfrm>
          <a:prstGeom prst="rect">
            <a:avLst/>
          </a:prstGeom>
          <a:noFill/>
        </p:spPr>
        <p:txBody>
          <a:bodyPr wrap="square" lIns="0" tIns="0" rIns="0" bIns="0" anchor="t">
            <a:spAutoFit/>
          </a:bodyPr>
          <a:lstStyle/>
          <a:p>
            <a:pPr algn="l">
              <a:spcAft>
                <a:spcPts val="1800"/>
              </a:spcAft>
            </a:pPr>
            <a:r>
              <a:rPr lang="es-CL" sz="1500" b="0" i="0" noProof="0" dirty="0">
                <a:solidFill>
                  <a:srgbClr val="1A1A1A"/>
                </a:solidFill>
                <a:latin typeface="Arial"/>
              </a:rPr>
              <a:t>1. Cambios respecto al proyecto original</a:t>
            </a:r>
          </a:p>
          <a:p>
            <a:pPr algn="l">
              <a:spcAft>
                <a:spcPts val="1800"/>
              </a:spcAft>
            </a:pPr>
            <a:r>
              <a:rPr lang="es-CL" sz="1500" b="0" i="0" noProof="0" dirty="0">
                <a:solidFill>
                  <a:srgbClr val="1A1A1A"/>
                </a:solidFill>
                <a:latin typeface="Arial"/>
              </a:rPr>
              <a:t>2. Avance del proyecto</a:t>
            </a:r>
          </a:p>
          <a:p>
            <a:pPr algn="l">
              <a:spcAft>
                <a:spcPts val="1800"/>
              </a:spcAft>
            </a:pPr>
            <a:r>
              <a:rPr lang="es-CL" sz="1500" b="0" i="0" noProof="0" dirty="0">
                <a:solidFill>
                  <a:srgbClr val="1A1A1A"/>
                </a:solidFill>
                <a:latin typeface="Arial"/>
              </a:rPr>
              <a:t>3. Avance por fase</a:t>
            </a:r>
          </a:p>
          <a:p>
            <a:pPr algn="l">
              <a:spcAft>
                <a:spcPts val="1800"/>
              </a:spcAft>
            </a:pPr>
            <a:r>
              <a:rPr lang="es-CL" sz="1500" b="0" i="0" noProof="0" dirty="0">
                <a:solidFill>
                  <a:srgbClr val="1A1A1A"/>
                </a:solidFill>
                <a:latin typeface="Arial"/>
              </a:rPr>
              <a:t>4. Mapa tecnológico</a:t>
            </a:r>
          </a:p>
          <a:p>
            <a:pPr algn="l">
              <a:spcAft>
                <a:spcPts val="1800"/>
              </a:spcAft>
            </a:pPr>
            <a:r>
              <a:rPr lang="es-CL" sz="1500" b="0" i="0" noProof="0" dirty="0">
                <a:solidFill>
                  <a:srgbClr val="1A1A1A"/>
                </a:solidFill>
                <a:latin typeface="Arial"/>
              </a:rPr>
              <a:t>5. Arquitectura MVVM</a:t>
            </a:r>
          </a:p>
          <a:p>
            <a:pPr algn="l">
              <a:spcAft>
                <a:spcPts val="1800"/>
              </a:spcAft>
            </a:pPr>
            <a:r>
              <a:rPr lang="es-CL" sz="1500" b="0" i="0" noProof="0" dirty="0">
                <a:solidFill>
                  <a:srgbClr val="1A1A1A"/>
                </a:solidFill>
                <a:latin typeface="Arial"/>
              </a:rPr>
              <a:t>6. Funcionamiento de la aplicación</a:t>
            </a:r>
          </a:p>
        </p:txBody>
      </p:sp>
      <p:sp>
        <p:nvSpPr>
          <p:cNvPr id="78" name="TextBox 77"/>
          <p:cNvSpPr txBox="1"/>
          <p:nvPr/>
        </p:nvSpPr>
        <p:spPr>
          <a:xfrm>
            <a:off x="4709159" y="1097280"/>
            <a:ext cx="3840480" cy="3566160"/>
          </a:xfrm>
          <a:prstGeom prst="rect">
            <a:avLst/>
          </a:prstGeom>
          <a:noFill/>
        </p:spPr>
        <p:txBody>
          <a:bodyPr wrap="square" lIns="0" tIns="0" rIns="0" bIns="0" anchor="t">
            <a:spAutoFit/>
          </a:bodyPr>
          <a:lstStyle/>
          <a:p>
            <a:pPr algn="l">
              <a:spcAft>
                <a:spcPts val="1800"/>
              </a:spcAft>
            </a:pPr>
            <a:r>
              <a:rPr lang="es-CL" sz="1500" b="0" i="0" noProof="0" dirty="0">
                <a:solidFill>
                  <a:srgbClr val="1A1A1A"/>
                </a:solidFill>
                <a:latin typeface="Arial"/>
              </a:rPr>
              <a:t>7. Calidad y pruebas</a:t>
            </a:r>
          </a:p>
          <a:p>
            <a:pPr algn="l">
              <a:spcAft>
                <a:spcPts val="1800"/>
              </a:spcAft>
            </a:pPr>
            <a:r>
              <a:rPr lang="es-CL" sz="1500" b="0" i="0" noProof="0" dirty="0">
                <a:solidFill>
                  <a:srgbClr val="1A1A1A"/>
                </a:solidFill>
                <a:latin typeface="Arial"/>
              </a:rPr>
              <a:t>8. Problemas y soluciones</a:t>
            </a:r>
          </a:p>
          <a:p>
            <a:pPr algn="l">
              <a:spcAft>
                <a:spcPts val="1800"/>
              </a:spcAft>
            </a:pPr>
            <a:r>
              <a:rPr lang="es-CL" sz="1500" b="0" i="0" noProof="0" dirty="0">
                <a:solidFill>
                  <a:srgbClr val="1A1A1A"/>
                </a:solidFill>
                <a:latin typeface="Arial"/>
              </a:rPr>
              <a:t>9. Demostración en vivo</a:t>
            </a:r>
          </a:p>
          <a:p>
            <a:pPr algn="l">
              <a:spcAft>
                <a:spcPts val="1800"/>
              </a:spcAft>
            </a:pPr>
            <a:r>
              <a:rPr lang="es-CL" sz="1500" b="0" i="0" noProof="0" dirty="0">
                <a:solidFill>
                  <a:srgbClr val="1A1A1A"/>
                </a:solidFill>
                <a:latin typeface="Arial"/>
              </a:rPr>
              <a:t>10. Próximos pasos</a:t>
            </a:r>
          </a:p>
          <a:p>
            <a:pPr algn="l">
              <a:spcAft>
                <a:spcPts val="1800"/>
              </a:spcAft>
            </a:pPr>
            <a:r>
              <a:rPr lang="es-CL" sz="1500" b="0" i="0" noProof="0" dirty="0">
                <a:solidFill>
                  <a:srgbClr val="1A1A1A"/>
                </a:solidFill>
                <a:latin typeface="Arial"/>
              </a:rPr>
              <a:t>11. Conclusión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7"/>
          <p:cNvSpPr txBox="1">
            <a:spLocks noGrp="1"/>
          </p:cNvSpPr>
          <p:nvPr>
            <p:ph type="title"/>
          </p:nvPr>
        </p:nvSpPr>
        <p:spPr>
          <a:xfrm>
            <a:off x="1106176" y="324998"/>
            <a:ext cx="7726800" cy="338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s-CL" sz="2200" b="1" noProof="0" dirty="0">
                <a:solidFill>
                  <a:srgbClr val="1A1A1A"/>
                </a:solidFill>
                <a:latin typeface="Arial"/>
              </a:rPr>
              <a:t>Cambios respecto al proyecto original</a:t>
            </a:r>
            <a:endParaRPr lang="es-CL" b="1" noProof="0" dirty="0"/>
          </a:p>
        </p:txBody>
      </p:sp>
      <p:sp>
        <p:nvSpPr>
          <p:cNvPr id="77" name="TextBox 76"/>
          <p:cNvSpPr txBox="1"/>
          <p:nvPr/>
        </p:nvSpPr>
        <p:spPr>
          <a:xfrm>
            <a:off x="502920" y="1005840"/>
            <a:ext cx="8138160" cy="1188720"/>
          </a:xfrm>
          <a:prstGeom prst="rect">
            <a:avLst/>
          </a:prstGeom>
          <a:noFill/>
        </p:spPr>
        <p:txBody>
          <a:bodyPr wrap="square" lIns="0" tIns="0" rIns="0" bIns="0" anchor="t">
            <a:spAutoFit/>
          </a:bodyPr>
          <a:lstStyle/>
          <a:p>
            <a:pPr algn="l">
              <a:lnSpc>
                <a:spcPct val="110000"/>
              </a:lnSpc>
              <a:spcAft>
                <a:spcPts val="600"/>
              </a:spcAft>
            </a:pPr>
            <a:r>
              <a:rPr lang="es-CL" sz="1300" b="0" i="0" noProof="0" dirty="0">
                <a:solidFill>
                  <a:srgbClr val="1A1A1A"/>
                </a:solidFill>
                <a:latin typeface="Arial"/>
              </a:rPr>
              <a:t>Se mantienen el objetivo general, los cuatro objetivos específicos y la metodología Cascada. No se eliminó ninguna funcionalidad del alcance definido en la Fase 1.</a:t>
            </a:r>
          </a:p>
          <a:p>
            <a:pPr algn="l">
              <a:lnSpc>
                <a:spcPct val="110000"/>
              </a:lnSpc>
              <a:spcAft>
                <a:spcPts val="0"/>
              </a:spcAft>
            </a:pPr>
            <a:r>
              <a:rPr lang="es-CL" sz="1300" b="0" i="1" noProof="0" dirty="0">
                <a:solidFill>
                  <a:srgbClr val="555555"/>
                </a:solidFill>
                <a:latin typeface="Arial"/>
              </a:rPr>
              <a:t>Los cambios son ajustes técnicos tomados durante el desarrollo:</a:t>
            </a:r>
          </a:p>
        </p:txBody>
      </p:sp>
      <p:sp>
        <p:nvSpPr>
          <p:cNvPr id="78" name="Rounded Rectangle 77"/>
          <p:cNvSpPr/>
          <p:nvPr/>
        </p:nvSpPr>
        <p:spPr>
          <a:xfrm>
            <a:off x="502920" y="2377440"/>
            <a:ext cx="1920240" cy="18288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91440" rtlCol="0" anchor="ctr"/>
          <a:lstStyle/>
          <a:p>
            <a:pPr algn="l">
              <a:lnSpc>
                <a:spcPct val="100000"/>
              </a:lnSpc>
              <a:spcAft>
                <a:spcPts val="600"/>
              </a:spcAft>
            </a:pPr>
            <a:r>
              <a:rPr lang="es-CL" sz="1250" b="1" i="0" noProof="0" dirty="0">
                <a:solidFill>
                  <a:srgbClr val="143D73"/>
                </a:solidFill>
                <a:latin typeface="Arial"/>
              </a:rPr>
              <a:t>Decisiones abiertas cerradas</a:t>
            </a:r>
          </a:p>
          <a:p>
            <a:pPr algn="l">
              <a:lnSpc>
                <a:spcPct val="108000"/>
              </a:lnSpc>
              <a:spcAft>
                <a:spcPts val="0"/>
              </a:spcAft>
            </a:pPr>
            <a:r>
              <a:rPr lang="es-CL" sz="1050" b="0" i="0" noProof="0" dirty="0">
                <a:solidFill>
                  <a:srgbClr val="1A1A1A"/>
                </a:solidFill>
                <a:latin typeface="Arial"/>
              </a:rPr>
              <a:t>Android 8.0 como versión mínima (minSdk 26). Room para contactos e historial y DataStore para preferencias.</a:t>
            </a:r>
          </a:p>
        </p:txBody>
      </p:sp>
      <p:sp>
        <p:nvSpPr>
          <p:cNvPr id="79" name="Rounded Rectangle 78"/>
          <p:cNvSpPr/>
          <p:nvPr/>
        </p:nvSpPr>
        <p:spPr>
          <a:xfrm>
            <a:off x="2560320" y="2377440"/>
            <a:ext cx="1920240" cy="18288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91440" rtlCol="0" anchor="ctr"/>
          <a:lstStyle/>
          <a:p>
            <a:pPr algn="l">
              <a:lnSpc>
                <a:spcPct val="100000"/>
              </a:lnSpc>
              <a:spcAft>
                <a:spcPts val="600"/>
              </a:spcAft>
            </a:pPr>
            <a:r>
              <a:rPr lang="es-CL" sz="1250" b="1" i="0" noProof="0" dirty="0">
                <a:solidFill>
                  <a:srgbClr val="143D73"/>
                </a:solidFill>
                <a:latin typeface="Arial"/>
              </a:rPr>
              <a:t>Voz en línea en Android Go</a:t>
            </a:r>
          </a:p>
          <a:p>
            <a:pPr algn="l">
              <a:lnSpc>
                <a:spcPct val="108000"/>
              </a:lnSpc>
              <a:spcAft>
                <a:spcPts val="0"/>
              </a:spcAft>
            </a:pPr>
            <a:r>
              <a:rPr lang="es-CL" sz="1050" b="0" i="0" noProof="0" dirty="0">
                <a:solidFill>
                  <a:srgbClr val="1A1A1A"/>
                </a:solidFill>
                <a:latin typeface="Arial"/>
              </a:rPr>
              <a:t>Android Go no trae reconocimiento sin conexión: se usa el modo en línea con reintento automático.</a:t>
            </a:r>
          </a:p>
        </p:txBody>
      </p:sp>
      <p:sp>
        <p:nvSpPr>
          <p:cNvPr id="80" name="Rounded Rectangle 79"/>
          <p:cNvSpPr/>
          <p:nvPr/>
        </p:nvSpPr>
        <p:spPr>
          <a:xfrm>
            <a:off x="4617720" y="2377440"/>
            <a:ext cx="1920240" cy="18288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91440" rtlCol="0" anchor="ctr"/>
          <a:lstStyle/>
          <a:p>
            <a:pPr algn="l">
              <a:lnSpc>
                <a:spcPct val="100000"/>
              </a:lnSpc>
              <a:spcAft>
                <a:spcPts val="600"/>
              </a:spcAft>
            </a:pPr>
            <a:r>
              <a:rPr lang="es-CL" sz="1250" b="1" i="0" noProof="0" dirty="0">
                <a:solidFill>
                  <a:srgbClr val="143D73"/>
                </a:solidFill>
                <a:latin typeface="Arial"/>
              </a:rPr>
              <a:t>Desarrollo incremental</a:t>
            </a:r>
          </a:p>
          <a:p>
            <a:pPr algn="l">
              <a:lnSpc>
                <a:spcPct val="108000"/>
              </a:lnSpc>
              <a:spcAft>
                <a:spcPts val="0"/>
              </a:spcAft>
            </a:pPr>
            <a:r>
              <a:rPr lang="es-CL" sz="1050" b="0" i="0" noProof="0" dirty="0">
                <a:solidFill>
                  <a:srgbClr val="1A1A1A"/>
                </a:solidFill>
                <a:latin typeface="Arial"/>
              </a:rPr>
              <a:t>Ocho pasos, con el producto mínimo viable primero, validado en un teléfono real antes de seguir.</a:t>
            </a:r>
          </a:p>
        </p:txBody>
      </p:sp>
      <p:sp>
        <p:nvSpPr>
          <p:cNvPr id="81" name="Rounded Rectangle 80"/>
          <p:cNvSpPr/>
          <p:nvPr/>
        </p:nvSpPr>
        <p:spPr>
          <a:xfrm>
            <a:off x="6675120" y="2377440"/>
            <a:ext cx="1920240" cy="18288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91440" rtlCol="0" anchor="ctr"/>
          <a:lstStyle/>
          <a:p>
            <a:pPr algn="l">
              <a:lnSpc>
                <a:spcPct val="100000"/>
              </a:lnSpc>
              <a:spcAft>
                <a:spcPts val="600"/>
              </a:spcAft>
            </a:pPr>
            <a:r>
              <a:rPr lang="es-CL" sz="1250" b="1" i="0" noProof="0" dirty="0">
                <a:solidFill>
                  <a:srgbClr val="143D73"/>
                </a:solidFill>
                <a:latin typeface="Arial"/>
              </a:rPr>
              <a:t>Pruebas unitarias adelantadas</a:t>
            </a:r>
          </a:p>
          <a:p>
            <a:pPr algn="l">
              <a:lnSpc>
                <a:spcPct val="108000"/>
              </a:lnSpc>
              <a:spcAft>
                <a:spcPts val="0"/>
              </a:spcAft>
            </a:pPr>
            <a:r>
              <a:rPr lang="es-CL" sz="1050" b="0" i="0" noProof="0" dirty="0">
                <a:solidFill>
                  <a:srgbClr val="1A1A1A"/>
                </a:solidFill>
                <a:latin typeface="Arial"/>
              </a:rPr>
              <a:t>Las pruebas unitarias se escriben junto al código. La semana 14 queda para usabilidad y compatibilidad.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7"/>
          <p:cNvSpPr txBox="1">
            <a:spLocks noGrp="1"/>
          </p:cNvSpPr>
          <p:nvPr>
            <p:ph type="title"/>
          </p:nvPr>
        </p:nvSpPr>
        <p:spPr>
          <a:xfrm>
            <a:off x="1106176" y="324998"/>
            <a:ext cx="7726800" cy="338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s-CL" sz="2200" b="1" noProof="0" dirty="0">
                <a:solidFill>
                  <a:srgbClr val="1A1A1A"/>
                </a:solidFill>
                <a:latin typeface="Arial"/>
              </a:rPr>
              <a:t>Avance del proyecto</a:t>
            </a:r>
            <a:endParaRPr lang="es-CL" b="1" noProof="0" dirty="0"/>
          </a:p>
        </p:txBody>
      </p:sp>
      <p:sp>
        <p:nvSpPr>
          <p:cNvPr id="77" name="TextBox 76"/>
          <p:cNvSpPr txBox="1"/>
          <p:nvPr/>
        </p:nvSpPr>
        <p:spPr>
          <a:xfrm>
            <a:off x="502920" y="1005840"/>
            <a:ext cx="8138160" cy="553998"/>
          </a:xfrm>
          <a:prstGeom prst="rect">
            <a:avLst/>
          </a:prstGeom>
          <a:noFill/>
        </p:spPr>
        <p:txBody>
          <a:bodyPr wrap="square" lIns="0" tIns="0" rIns="0" bIns="0" anchor="t">
            <a:spAutoFit/>
          </a:bodyPr>
          <a:lstStyle/>
          <a:p>
            <a:r>
              <a:rPr lang="es-CL" sz="1200" noProof="0" dirty="0"/>
              <a:t>Estado del código al 27-09-2026: pasos 1 a 3 del plan de desarrollo completos y paso 4 de 8 en curso.</a:t>
            </a:r>
            <a:endParaRPr lang="es-CL" sz="1350" b="1" i="0" noProof="0" dirty="0">
              <a:solidFill>
                <a:srgbClr val="143D73"/>
              </a:solidFill>
              <a:latin typeface="Arial"/>
            </a:endParaRPr>
          </a:p>
        </p:txBody>
      </p:sp>
      <p:sp>
        <p:nvSpPr>
          <p:cNvPr id="78" name="Rounded Rectangle 77"/>
          <p:cNvSpPr/>
          <p:nvPr/>
        </p:nvSpPr>
        <p:spPr>
          <a:xfrm>
            <a:off x="502920" y="1600200"/>
            <a:ext cx="2651760" cy="278892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28016" rIns="228600" bIns="128016" rtlCol="0" anchor="ctr"/>
          <a:lstStyle/>
          <a:p>
            <a:pPr algn="l">
              <a:lnSpc>
                <a:spcPct val="110000"/>
              </a:lnSpc>
              <a:spcAft>
                <a:spcPts val="0"/>
              </a:spcAft>
            </a:pPr>
            <a:r>
              <a:rPr lang="es-CL" sz="4000" b="1" i="0" noProof="0" dirty="0">
                <a:solidFill>
                  <a:srgbClr val="143D73"/>
                </a:solidFill>
                <a:latin typeface="Arial"/>
              </a:rPr>
              <a:t>58 %</a:t>
            </a:r>
          </a:p>
          <a:p>
            <a:pPr algn="l">
              <a:lnSpc>
                <a:spcPct val="110000"/>
              </a:lnSpc>
              <a:spcAft>
                <a:spcPts val="0"/>
              </a:spcAft>
            </a:pPr>
            <a:r>
              <a:rPr lang="es-CL" sz="1200" b="1" i="0" noProof="0" dirty="0">
                <a:solidFill>
                  <a:srgbClr val="143D73"/>
                </a:solidFill>
                <a:latin typeface="Arial"/>
              </a:rPr>
              <a:t>de los requerimientos funcionales implementados</a:t>
            </a:r>
          </a:p>
          <a:p>
            <a:pPr algn="l">
              <a:lnSpc>
                <a:spcPct val="110000"/>
              </a:lnSpc>
              <a:spcBef>
                <a:spcPts val="600"/>
              </a:spcBef>
              <a:spcAft>
                <a:spcPts val="0"/>
              </a:spcAft>
            </a:pPr>
            <a:r>
              <a:rPr lang="es-CL" sz="1050" b="0" i="0" noProof="0" dirty="0">
                <a:solidFill>
                  <a:srgbClr val="1A1A1A"/>
                </a:solidFill>
                <a:latin typeface="Arial"/>
              </a:rPr>
              <a:t>6 completos y 3 parciales de 13 (los parciales cuentan al 50 %).</a:t>
            </a:r>
          </a:p>
          <a:p>
            <a:pPr algn="l">
              <a:lnSpc>
                <a:spcPct val="110000"/>
              </a:lnSpc>
              <a:spcBef>
                <a:spcPts val="600"/>
              </a:spcBef>
              <a:spcAft>
                <a:spcPts val="0"/>
              </a:spcAft>
            </a:pPr>
            <a:r>
              <a:rPr lang="es-CL" sz="1050" b="0" i="0" noProof="0" dirty="0">
                <a:solidFill>
                  <a:srgbClr val="1A1A1A"/>
                </a:solidFill>
                <a:latin typeface="Arial"/>
              </a:rPr>
              <a:t>61 pruebas automatizadas aprobadas.</a:t>
            </a:r>
          </a:p>
          <a:p>
            <a:pPr algn="l">
              <a:lnSpc>
                <a:spcPct val="110000"/>
              </a:lnSpc>
              <a:spcBef>
                <a:spcPts val="600"/>
              </a:spcBef>
              <a:spcAft>
                <a:spcPts val="0"/>
              </a:spcAft>
            </a:pPr>
            <a:r>
              <a:rPr lang="es-CL" sz="1050" b="0" i="0" noProof="0" dirty="0">
                <a:solidFill>
                  <a:srgbClr val="1A1A1A"/>
                </a:solidFill>
                <a:latin typeface="Arial"/>
              </a:rPr>
              <a:t>2 de 8 casos de uso operativos de punta a punta.</a:t>
            </a:r>
          </a:p>
        </p:txBody>
      </p:sp>
      <p:graphicFrame>
        <p:nvGraphicFramePr>
          <p:cNvPr id="79" name="Chart 78"/>
          <p:cNvGraphicFramePr>
            <a:graphicFrameLocks noGrp="1"/>
          </p:cNvGraphicFramePr>
          <p:nvPr/>
        </p:nvGraphicFramePr>
        <p:xfrm>
          <a:off x="3429000" y="1554480"/>
          <a:ext cx="5212080" cy="288036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7"/>
          <p:cNvSpPr txBox="1">
            <a:spLocks noGrp="1"/>
          </p:cNvSpPr>
          <p:nvPr>
            <p:ph type="title"/>
          </p:nvPr>
        </p:nvSpPr>
        <p:spPr>
          <a:xfrm>
            <a:off x="1106176" y="324998"/>
            <a:ext cx="7726800" cy="338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s-CL" sz="2200" b="1" noProof="0" dirty="0">
                <a:solidFill>
                  <a:srgbClr val="1A1A1A"/>
                </a:solidFill>
                <a:latin typeface="Arial"/>
              </a:rPr>
              <a:t>Avance por fase</a:t>
            </a:r>
            <a:endParaRPr lang="es-CL" b="1" noProof="0" dirty="0"/>
          </a:p>
        </p:txBody>
      </p:sp>
      <p:sp>
        <p:nvSpPr>
          <p:cNvPr id="77" name="TextBox 76"/>
          <p:cNvSpPr txBox="1"/>
          <p:nvPr/>
        </p:nvSpPr>
        <p:spPr>
          <a:xfrm>
            <a:off x="502920" y="960120"/>
            <a:ext cx="8138160" cy="413511"/>
          </a:xfrm>
          <a:prstGeom prst="rect">
            <a:avLst/>
          </a:prstGeom>
          <a:noFill/>
        </p:spPr>
        <p:txBody>
          <a:bodyPr wrap="square" lIns="0" tIns="0" rIns="0" bIns="0" anchor="t">
            <a:spAutoFit/>
          </a:bodyPr>
          <a:lstStyle/>
          <a:p>
            <a:pPr algn="l">
              <a:lnSpc>
                <a:spcPct val="112000"/>
              </a:lnSpc>
              <a:spcAft>
                <a:spcPts val="0"/>
              </a:spcAft>
            </a:pPr>
            <a:r>
              <a:rPr lang="es-CL" sz="1250" b="0" i="0" noProof="0" dirty="0">
                <a:solidFill>
                  <a:srgbClr val="1A1A1A"/>
                </a:solidFill>
                <a:latin typeface="Arial"/>
              </a:rPr>
              <a:t>Metodología Cascada: Inicio, Análisis y Diseño están cerradas; Desarrollo está en curso.</a:t>
            </a:r>
            <a:endParaRPr lang="es-CL" sz="1250" b="0" i="0" noProof="0" dirty="0">
              <a:solidFill>
                <a:srgbClr val="1A1A1A"/>
              </a:solidFill>
              <a:latin typeface="Arial"/>
            </a:endParaRPr>
          </a:p>
        </p:txBody>
      </p:sp>
      <p:sp>
        <p:nvSpPr>
          <p:cNvPr id="78" name="Oval 77"/>
          <p:cNvSpPr/>
          <p:nvPr/>
        </p:nvSpPr>
        <p:spPr>
          <a:xfrm>
            <a:off x="1007364" y="2011680"/>
            <a:ext cx="347472" cy="347472"/>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s-CL" sz="1500" b="1" noProof="0" dirty="0">
                <a:solidFill>
                  <a:srgbClr val="FFFFFF"/>
                </a:solidFill>
                <a:latin typeface="Arial"/>
              </a:rPr>
              <a:t>1</a:t>
            </a:r>
          </a:p>
        </p:txBody>
      </p:sp>
      <p:cxnSp>
        <p:nvCxnSpPr>
          <p:cNvPr id="79" name="Connector 78"/>
          <p:cNvCxnSpPr/>
          <p:nvPr/>
        </p:nvCxnSpPr>
        <p:spPr>
          <a:xfrm>
            <a:off x="1354836" y="2185416"/>
            <a:ext cx="1008888" cy="0"/>
          </a:xfrm>
          <a:prstGeom prst="line">
            <a:avLst/>
          </a:prstGeom>
          <a:ln w="16510">
            <a:solidFill>
              <a:srgbClr val="257CE1"/>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502920" y="2450592"/>
            <a:ext cx="1283208" cy="320040"/>
          </a:xfrm>
          <a:prstGeom prst="rect">
            <a:avLst/>
          </a:prstGeom>
          <a:noFill/>
        </p:spPr>
        <p:txBody>
          <a:bodyPr wrap="square" lIns="0" tIns="0" rIns="0" bIns="0" anchor="t">
            <a:spAutoFit/>
          </a:bodyPr>
          <a:lstStyle/>
          <a:p>
            <a:pPr algn="ctr">
              <a:spcAft>
                <a:spcPts val="0"/>
              </a:spcAft>
            </a:pPr>
            <a:r>
              <a:rPr lang="es-CL" sz="1150" b="1" i="0" noProof="0" dirty="0">
                <a:solidFill>
                  <a:srgbClr val="143D73"/>
                </a:solidFill>
                <a:latin typeface="Arial"/>
              </a:rPr>
              <a:t>Inicio</a:t>
            </a:r>
          </a:p>
        </p:txBody>
      </p:sp>
      <p:sp>
        <p:nvSpPr>
          <p:cNvPr id="81" name="TextBox 80"/>
          <p:cNvSpPr txBox="1"/>
          <p:nvPr/>
        </p:nvSpPr>
        <p:spPr>
          <a:xfrm>
            <a:off x="502920" y="2788920"/>
            <a:ext cx="1283208" cy="1417320"/>
          </a:xfrm>
          <a:prstGeom prst="rect">
            <a:avLst/>
          </a:prstGeom>
          <a:noFill/>
        </p:spPr>
        <p:txBody>
          <a:bodyPr wrap="square" lIns="0" tIns="0" rIns="0" bIns="0" anchor="t">
            <a:spAutoFit/>
          </a:bodyPr>
          <a:lstStyle/>
          <a:p>
            <a:pPr algn="ctr">
              <a:lnSpc>
                <a:spcPct val="105000"/>
              </a:lnSpc>
              <a:spcAft>
                <a:spcPts val="0"/>
              </a:spcAft>
            </a:pPr>
            <a:r>
              <a:rPr lang="es-CL" sz="900" b="0" i="0" noProof="0" dirty="0">
                <a:solidFill>
                  <a:srgbClr val="1A1A1A"/>
                </a:solidFill>
                <a:latin typeface="Arial"/>
              </a:rPr>
              <a:t>Completada. Estado del arte, objetivos y acta de constitución.</a:t>
            </a:r>
          </a:p>
        </p:txBody>
      </p:sp>
      <p:sp>
        <p:nvSpPr>
          <p:cNvPr id="82" name="Oval 81"/>
          <p:cNvSpPr/>
          <p:nvPr/>
        </p:nvSpPr>
        <p:spPr>
          <a:xfrm>
            <a:off x="2363724" y="2011680"/>
            <a:ext cx="347472" cy="347472"/>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s-CL" sz="1500" b="1" noProof="0" dirty="0">
                <a:solidFill>
                  <a:srgbClr val="FFFFFF"/>
                </a:solidFill>
                <a:latin typeface="Arial"/>
              </a:rPr>
              <a:t>2</a:t>
            </a:r>
          </a:p>
        </p:txBody>
      </p:sp>
      <p:cxnSp>
        <p:nvCxnSpPr>
          <p:cNvPr id="83" name="Connector 82"/>
          <p:cNvCxnSpPr/>
          <p:nvPr/>
        </p:nvCxnSpPr>
        <p:spPr>
          <a:xfrm>
            <a:off x="2711196" y="2185416"/>
            <a:ext cx="1008888" cy="0"/>
          </a:xfrm>
          <a:prstGeom prst="line">
            <a:avLst/>
          </a:prstGeom>
          <a:ln w="16510">
            <a:solidFill>
              <a:srgbClr val="257CE1"/>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1859280" y="2450592"/>
            <a:ext cx="1283208" cy="320040"/>
          </a:xfrm>
          <a:prstGeom prst="rect">
            <a:avLst/>
          </a:prstGeom>
          <a:noFill/>
        </p:spPr>
        <p:txBody>
          <a:bodyPr wrap="square" lIns="0" tIns="0" rIns="0" bIns="0" anchor="t">
            <a:spAutoFit/>
          </a:bodyPr>
          <a:lstStyle/>
          <a:p>
            <a:pPr algn="ctr">
              <a:spcAft>
                <a:spcPts val="0"/>
              </a:spcAft>
            </a:pPr>
            <a:r>
              <a:rPr lang="es-CL" sz="1150" b="1" i="0" noProof="0" dirty="0">
                <a:solidFill>
                  <a:srgbClr val="143D73"/>
                </a:solidFill>
                <a:latin typeface="Arial"/>
              </a:rPr>
              <a:t>Análisis</a:t>
            </a:r>
          </a:p>
        </p:txBody>
      </p:sp>
      <p:sp>
        <p:nvSpPr>
          <p:cNvPr id="85" name="TextBox 84"/>
          <p:cNvSpPr txBox="1"/>
          <p:nvPr/>
        </p:nvSpPr>
        <p:spPr>
          <a:xfrm>
            <a:off x="1859280" y="2788920"/>
            <a:ext cx="1283208" cy="1417320"/>
          </a:xfrm>
          <a:prstGeom prst="rect">
            <a:avLst/>
          </a:prstGeom>
          <a:noFill/>
        </p:spPr>
        <p:txBody>
          <a:bodyPr wrap="square" lIns="0" tIns="0" rIns="0" bIns="0" anchor="t">
            <a:spAutoFit/>
          </a:bodyPr>
          <a:lstStyle/>
          <a:p>
            <a:pPr algn="ctr">
              <a:lnSpc>
                <a:spcPct val="105000"/>
              </a:lnSpc>
              <a:spcAft>
                <a:spcPts val="0"/>
              </a:spcAft>
            </a:pPr>
            <a:r>
              <a:rPr lang="es-CL" sz="900" b="0" i="0" noProof="0" dirty="0">
                <a:solidFill>
                  <a:srgbClr val="1A1A1A"/>
                </a:solidFill>
                <a:latin typeface="Arial"/>
              </a:rPr>
              <a:t>Completada. 13 RF, 8 RNF, 8 casos de uso y mockup.</a:t>
            </a:r>
          </a:p>
        </p:txBody>
      </p:sp>
      <p:sp>
        <p:nvSpPr>
          <p:cNvPr id="86" name="Oval 85"/>
          <p:cNvSpPr/>
          <p:nvPr/>
        </p:nvSpPr>
        <p:spPr>
          <a:xfrm>
            <a:off x="3720083" y="2011680"/>
            <a:ext cx="347472" cy="347472"/>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s-CL" sz="1500" b="1" noProof="0" dirty="0">
                <a:solidFill>
                  <a:srgbClr val="FFFFFF"/>
                </a:solidFill>
                <a:latin typeface="Arial"/>
              </a:rPr>
              <a:t>3</a:t>
            </a:r>
          </a:p>
        </p:txBody>
      </p:sp>
      <p:cxnSp>
        <p:nvCxnSpPr>
          <p:cNvPr id="87" name="Connector 86"/>
          <p:cNvCxnSpPr/>
          <p:nvPr/>
        </p:nvCxnSpPr>
        <p:spPr>
          <a:xfrm>
            <a:off x="4067556" y="2185416"/>
            <a:ext cx="1008888" cy="0"/>
          </a:xfrm>
          <a:prstGeom prst="line">
            <a:avLst/>
          </a:prstGeom>
          <a:ln w="16510">
            <a:solidFill>
              <a:srgbClr val="257CE1"/>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3215640" y="2450592"/>
            <a:ext cx="1283208" cy="320040"/>
          </a:xfrm>
          <a:prstGeom prst="rect">
            <a:avLst/>
          </a:prstGeom>
          <a:noFill/>
        </p:spPr>
        <p:txBody>
          <a:bodyPr wrap="square" lIns="0" tIns="0" rIns="0" bIns="0" anchor="t">
            <a:spAutoFit/>
          </a:bodyPr>
          <a:lstStyle/>
          <a:p>
            <a:pPr algn="ctr">
              <a:spcAft>
                <a:spcPts val="0"/>
              </a:spcAft>
            </a:pPr>
            <a:r>
              <a:rPr lang="es-CL" sz="1150" b="1" i="0" noProof="0" dirty="0">
                <a:solidFill>
                  <a:srgbClr val="143D73"/>
                </a:solidFill>
                <a:latin typeface="Arial"/>
              </a:rPr>
              <a:t>Diseño</a:t>
            </a:r>
          </a:p>
        </p:txBody>
      </p:sp>
      <p:sp>
        <p:nvSpPr>
          <p:cNvPr id="89" name="TextBox 88"/>
          <p:cNvSpPr txBox="1"/>
          <p:nvPr/>
        </p:nvSpPr>
        <p:spPr>
          <a:xfrm>
            <a:off x="3215640" y="2788920"/>
            <a:ext cx="1283208" cy="1417320"/>
          </a:xfrm>
          <a:prstGeom prst="rect">
            <a:avLst/>
          </a:prstGeom>
          <a:noFill/>
        </p:spPr>
        <p:txBody>
          <a:bodyPr wrap="square" lIns="0" tIns="0" rIns="0" bIns="0" anchor="t">
            <a:spAutoFit/>
          </a:bodyPr>
          <a:lstStyle/>
          <a:p>
            <a:pPr algn="ctr">
              <a:lnSpc>
                <a:spcPct val="105000"/>
              </a:lnSpc>
              <a:spcAft>
                <a:spcPts val="0"/>
              </a:spcAft>
            </a:pPr>
            <a:r>
              <a:rPr lang="es-CL" sz="900" b="0" i="0" noProof="0" dirty="0">
                <a:solidFill>
                  <a:srgbClr val="1A1A1A"/>
                </a:solidFill>
                <a:latin typeface="Arial"/>
              </a:rPr>
              <a:t>Completada. Arquitectura MVVM y modelo de datos.</a:t>
            </a:r>
          </a:p>
        </p:txBody>
      </p:sp>
      <p:sp>
        <p:nvSpPr>
          <p:cNvPr id="90" name="Oval 89"/>
          <p:cNvSpPr/>
          <p:nvPr/>
        </p:nvSpPr>
        <p:spPr>
          <a:xfrm>
            <a:off x="5076444" y="2011680"/>
            <a:ext cx="347472" cy="347472"/>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s-CL" sz="1500" b="1" noProof="0" dirty="0">
                <a:solidFill>
                  <a:srgbClr val="FFFFFF"/>
                </a:solidFill>
                <a:latin typeface="Arial"/>
              </a:rPr>
              <a:t>4</a:t>
            </a:r>
          </a:p>
        </p:txBody>
      </p:sp>
      <p:cxnSp>
        <p:nvCxnSpPr>
          <p:cNvPr id="91" name="Connector 90"/>
          <p:cNvCxnSpPr/>
          <p:nvPr/>
        </p:nvCxnSpPr>
        <p:spPr>
          <a:xfrm>
            <a:off x="5423916" y="2185416"/>
            <a:ext cx="1008888" cy="0"/>
          </a:xfrm>
          <a:prstGeom prst="line">
            <a:avLst/>
          </a:prstGeom>
          <a:ln w="16510">
            <a:solidFill>
              <a:srgbClr val="257CE1"/>
            </a:solidFill>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4572000" y="2450592"/>
            <a:ext cx="1283208" cy="320040"/>
          </a:xfrm>
          <a:prstGeom prst="rect">
            <a:avLst/>
          </a:prstGeom>
          <a:noFill/>
        </p:spPr>
        <p:txBody>
          <a:bodyPr wrap="square" lIns="0" tIns="0" rIns="0" bIns="0" anchor="t">
            <a:spAutoFit/>
          </a:bodyPr>
          <a:lstStyle/>
          <a:p>
            <a:pPr algn="ctr">
              <a:spcAft>
                <a:spcPts val="0"/>
              </a:spcAft>
            </a:pPr>
            <a:r>
              <a:rPr lang="es-CL" sz="1150" b="1" i="0" noProof="0" dirty="0">
                <a:solidFill>
                  <a:srgbClr val="143D73"/>
                </a:solidFill>
                <a:latin typeface="Arial"/>
              </a:rPr>
              <a:t>Desarrollo</a:t>
            </a:r>
          </a:p>
        </p:txBody>
      </p:sp>
      <p:sp>
        <p:nvSpPr>
          <p:cNvPr id="93" name="TextBox 92"/>
          <p:cNvSpPr txBox="1"/>
          <p:nvPr/>
        </p:nvSpPr>
        <p:spPr>
          <a:xfrm>
            <a:off x="4572000" y="2788920"/>
            <a:ext cx="1283208" cy="1417320"/>
          </a:xfrm>
          <a:prstGeom prst="rect">
            <a:avLst/>
          </a:prstGeom>
          <a:noFill/>
        </p:spPr>
        <p:txBody>
          <a:bodyPr wrap="square" lIns="0" tIns="0" rIns="0" bIns="0" anchor="t">
            <a:spAutoFit/>
          </a:bodyPr>
          <a:lstStyle/>
          <a:p>
            <a:pPr algn="ctr">
              <a:lnSpc>
                <a:spcPct val="105000"/>
              </a:lnSpc>
              <a:spcAft>
                <a:spcPts val="0"/>
              </a:spcAft>
            </a:pPr>
            <a:r>
              <a:rPr lang="es-CL" sz="900" b="0" i="0" noProof="0" dirty="0">
                <a:solidFill>
                  <a:srgbClr val="1A1A1A"/>
                </a:solidFill>
                <a:latin typeface="Arial"/>
              </a:rPr>
              <a:t>En curso (semanas 6 a 13). Pasos 1 a 3 listos; paso 4 de 8 en curso.</a:t>
            </a:r>
          </a:p>
        </p:txBody>
      </p:sp>
      <p:sp>
        <p:nvSpPr>
          <p:cNvPr id="94" name="Oval 93"/>
          <p:cNvSpPr/>
          <p:nvPr/>
        </p:nvSpPr>
        <p:spPr>
          <a:xfrm>
            <a:off x="6432803" y="2011680"/>
            <a:ext cx="347472" cy="347472"/>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s-CL" sz="1500" b="1" noProof="0" dirty="0">
                <a:solidFill>
                  <a:srgbClr val="FFFFFF"/>
                </a:solidFill>
                <a:latin typeface="Arial"/>
              </a:rPr>
              <a:t>5</a:t>
            </a:r>
          </a:p>
        </p:txBody>
      </p:sp>
      <p:cxnSp>
        <p:nvCxnSpPr>
          <p:cNvPr id="95" name="Connector 94"/>
          <p:cNvCxnSpPr/>
          <p:nvPr/>
        </p:nvCxnSpPr>
        <p:spPr>
          <a:xfrm>
            <a:off x="6780276" y="2185416"/>
            <a:ext cx="1008888" cy="0"/>
          </a:xfrm>
          <a:prstGeom prst="line">
            <a:avLst/>
          </a:prstGeom>
          <a:ln w="16510">
            <a:solidFill>
              <a:srgbClr val="257CE1"/>
            </a:solidFill>
          </a:ln>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5928360" y="2450592"/>
            <a:ext cx="1283208" cy="320040"/>
          </a:xfrm>
          <a:prstGeom prst="rect">
            <a:avLst/>
          </a:prstGeom>
          <a:noFill/>
        </p:spPr>
        <p:txBody>
          <a:bodyPr wrap="square" lIns="0" tIns="0" rIns="0" bIns="0" anchor="t">
            <a:spAutoFit/>
          </a:bodyPr>
          <a:lstStyle/>
          <a:p>
            <a:pPr algn="ctr">
              <a:spcAft>
                <a:spcPts val="0"/>
              </a:spcAft>
            </a:pPr>
            <a:r>
              <a:rPr lang="es-CL" sz="1150" b="1" i="0" noProof="0" dirty="0">
                <a:solidFill>
                  <a:srgbClr val="143D73"/>
                </a:solidFill>
                <a:latin typeface="Arial"/>
              </a:rPr>
              <a:t>Pruebas</a:t>
            </a:r>
          </a:p>
        </p:txBody>
      </p:sp>
      <p:sp>
        <p:nvSpPr>
          <p:cNvPr id="97" name="TextBox 96"/>
          <p:cNvSpPr txBox="1"/>
          <p:nvPr/>
        </p:nvSpPr>
        <p:spPr>
          <a:xfrm>
            <a:off x="5928360" y="2788920"/>
            <a:ext cx="1283208" cy="1417320"/>
          </a:xfrm>
          <a:prstGeom prst="rect">
            <a:avLst/>
          </a:prstGeom>
          <a:noFill/>
        </p:spPr>
        <p:txBody>
          <a:bodyPr wrap="square" lIns="0" tIns="0" rIns="0" bIns="0" anchor="t">
            <a:spAutoFit/>
          </a:bodyPr>
          <a:lstStyle/>
          <a:p>
            <a:pPr algn="ctr">
              <a:lnSpc>
                <a:spcPct val="105000"/>
              </a:lnSpc>
              <a:spcAft>
                <a:spcPts val="0"/>
              </a:spcAft>
            </a:pPr>
            <a:r>
              <a:rPr lang="es-CL" sz="900" b="0" i="0" noProof="0" dirty="0">
                <a:solidFill>
                  <a:srgbClr val="1A1A1A"/>
                </a:solidFill>
                <a:latin typeface="Arial"/>
              </a:rPr>
              <a:t>Adelantada en parte: 61 pruebas unitarias. Usabilidad en la semana 14.</a:t>
            </a:r>
          </a:p>
        </p:txBody>
      </p:sp>
      <p:sp>
        <p:nvSpPr>
          <p:cNvPr id="98" name="Oval 97"/>
          <p:cNvSpPr/>
          <p:nvPr/>
        </p:nvSpPr>
        <p:spPr>
          <a:xfrm>
            <a:off x="7789164" y="2011680"/>
            <a:ext cx="347472" cy="347472"/>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s-CL" sz="1500" b="1" noProof="0" dirty="0">
                <a:solidFill>
                  <a:srgbClr val="FFFFFF"/>
                </a:solidFill>
                <a:latin typeface="Arial"/>
              </a:rPr>
              <a:t>6</a:t>
            </a:r>
          </a:p>
        </p:txBody>
      </p:sp>
      <p:sp>
        <p:nvSpPr>
          <p:cNvPr id="99" name="TextBox 98"/>
          <p:cNvSpPr txBox="1"/>
          <p:nvPr/>
        </p:nvSpPr>
        <p:spPr>
          <a:xfrm>
            <a:off x="7284720" y="2450592"/>
            <a:ext cx="1283208" cy="320040"/>
          </a:xfrm>
          <a:prstGeom prst="rect">
            <a:avLst/>
          </a:prstGeom>
          <a:noFill/>
        </p:spPr>
        <p:txBody>
          <a:bodyPr wrap="square" lIns="0" tIns="0" rIns="0" bIns="0" anchor="t">
            <a:spAutoFit/>
          </a:bodyPr>
          <a:lstStyle/>
          <a:p>
            <a:pPr algn="ctr">
              <a:spcAft>
                <a:spcPts val="0"/>
              </a:spcAft>
            </a:pPr>
            <a:r>
              <a:rPr lang="es-CL" sz="1150" b="1" i="0" noProof="0" dirty="0">
                <a:solidFill>
                  <a:srgbClr val="143D73"/>
                </a:solidFill>
                <a:latin typeface="Arial"/>
              </a:rPr>
              <a:t>Cierre</a:t>
            </a:r>
          </a:p>
        </p:txBody>
      </p:sp>
      <p:sp>
        <p:nvSpPr>
          <p:cNvPr id="100" name="TextBox 99"/>
          <p:cNvSpPr txBox="1"/>
          <p:nvPr/>
        </p:nvSpPr>
        <p:spPr>
          <a:xfrm>
            <a:off x="7284720" y="2788920"/>
            <a:ext cx="1283208" cy="1417320"/>
          </a:xfrm>
          <a:prstGeom prst="rect">
            <a:avLst/>
          </a:prstGeom>
          <a:noFill/>
        </p:spPr>
        <p:txBody>
          <a:bodyPr wrap="square" lIns="0" tIns="0" rIns="0" bIns="0" anchor="t">
            <a:spAutoFit/>
          </a:bodyPr>
          <a:lstStyle/>
          <a:p>
            <a:pPr algn="ctr">
              <a:lnSpc>
                <a:spcPct val="105000"/>
              </a:lnSpc>
              <a:spcAft>
                <a:spcPts val="0"/>
              </a:spcAft>
            </a:pPr>
            <a:r>
              <a:rPr lang="es-CL" sz="900" b="0" i="0" noProof="0" dirty="0">
                <a:solidFill>
                  <a:srgbClr val="1A1A1A"/>
                </a:solidFill>
                <a:latin typeface="Arial"/>
              </a:rPr>
              <a:t>Pendiente (semanas 15 a 18).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7"/>
          <p:cNvSpPr txBox="1">
            <a:spLocks noGrp="1"/>
          </p:cNvSpPr>
          <p:nvPr>
            <p:ph type="title"/>
          </p:nvPr>
        </p:nvSpPr>
        <p:spPr>
          <a:xfrm>
            <a:off x="1106176" y="324998"/>
            <a:ext cx="7726800" cy="338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s-CL" sz="2200" b="1" noProof="0" dirty="0">
                <a:solidFill>
                  <a:srgbClr val="1A1A1A"/>
                </a:solidFill>
                <a:latin typeface="Arial"/>
              </a:rPr>
              <a:t>Mapa tecnológico</a:t>
            </a:r>
            <a:endParaRPr lang="es-CL" b="1" noProof="0" dirty="0"/>
          </a:p>
        </p:txBody>
      </p:sp>
      <p:sp>
        <p:nvSpPr>
          <p:cNvPr id="77" name="TextBox 76"/>
          <p:cNvSpPr txBox="1"/>
          <p:nvPr/>
        </p:nvSpPr>
        <p:spPr>
          <a:xfrm>
            <a:off x="502920" y="960120"/>
            <a:ext cx="8138160" cy="390556"/>
          </a:xfrm>
          <a:prstGeom prst="rect">
            <a:avLst/>
          </a:prstGeom>
          <a:noFill/>
        </p:spPr>
        <p:txBody>
          <a:bodyPr wrap="square" lIns="0" tIns="0" rIns="0" bIns="0" anchor="t">
            <a:spAutoFit/>
          </a:bodyPr>
          <a:lstStyle/>
          <a:p>
            <a:pPr algn="l">
              <a:lnSpc>
                <a:spcPct val="110000"/>
              </a:lnSpc>
              <a:spcAft>
                <a:spcPts val="0"/>
              </a:spcAft>
            </a:pPr>
            <a:r>
              <a:rPr lang="es-CL" sz="1200" b="0" i="0" noProof="0" dirty="0">
                <a:solidFill>
                  <a:srgbClr val="1A1A1A"/>
                </a:solidFill>
                <a:latin typeface="Arial"/>
              </a:rPr>
              <a:t>Se mantiene el stack de la Fase 1. Se agregaron Room, Navigation Component y Coroutines, y se fijaron las versiones.</a:t>
            </a:r>
          </a:p>
        </p:txBody>
      </p:sp>
      <p:graphicFrame>
        <p:nvGraphicFramePr>
          <p:cNvPr id="78" name="Table 77"/>
          <p:cNvGraphicFramePr>
            <a:graphicFrameLocks noGrp="1"/>
          </p:cNvGraphicFramePr>
          <p:nvPr>
            <p:extLst>
              <p:ext uri="{D42A27DB-BD31-4B8C-83A1-F6EECF244321}">
                <p14:modId xmlns:p14="http://schemas.microsoft.com/office/powerpoint/2010/main" val="3329438746"/>
              </p:ext>
            </p:extLst>
          </p:nvPr>
        </p:nvGraphicFramePr>
        <p:xfrm>
          <a:off x="502920" y="1325880"/>
          <a:ext cx="8138160" cy="3031236"/>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tblGrid>
              <a:tr h="233172">
                <a:tc>
                  <a:txBody>
                    <a:bodyPr/>
                    <a:lstStyle/>
                    <a:p>
                      <a:pPr algn="l"/>
                      <a:r>
                        <a:rPr lang="es-CL" sz="1150" b="1" noProof="0" dirty="0">
                          <a:solidFill>
                            <a:srgbClr val="FFFFFF"/>
                          </a:solidFill>
                          <a:latin typeface="Arial"/>
                        </a:rPr>
                        <a:t>Componente</a:t>
                      </a:r>
                    </a:p>
                  </a:txBody>
                  <a:tcPr marL="54864" marR="54864" marT="27432" marB="27432" anchor="ctr">
                    <a:solidFill>
                      <a:srgbClr val="257CE1"/>
                    </a:solidFill>
                  </a:tcPr>
                </a:tc>
                <a:tc>
                  <a:txBody>
                    <a:bodyPr/>
                    <a:lstStyle/>
                    <a:p>
                      <a:pPr algn="ctr"/>
                      <a:r>
                        <a:rPr lang="es-CL" sz="1150" b="1" noProof="0" dirty="0">
                          <a:solidFill>
                            <a:srgbClr val="FFFFFF"/>
                          </a:solidFill>
                          <a:latin typeface="Arial"/>
                        </a:rPr>
                        <a:t>Tecnología implementada</a:t>
                      </a:r>
                    </a:p>
                  </a:txBody>
                  <a:tcPr marL="54864" marR="54864" marT="27432" marB="27432" anchor="ctr">
                    <a:solidFill>
                      <a:srgbClr val="257CE1"/>
                    </a:solidFill>
                  </a:tcPr>
                </a:tc>
                <a:extLst>
                  <a:ext uri="{0D108BD9-81ED-4DB2-BD59-A6C34878D82A}">
                    <a16:rowId xmlns:a16="http://schemas.microsoft.com/office/drawing/2014/main" val="10000"/>
                  </a:ext>
                </a:extLst>
              </a:tr>
              <a:tr h="233172">
                <a:tc>
                  <a:txBody>
                    <a:bodyPr/>
                    <a:lstStyle/>
                    <a:p>
                      <a:pPr algn="l"/>
                      <a:r>
                        <a:rPr lang="es-CL" sz="950" noProof="0" dirty="0">
                          <a:solidFill>
                            <a:srgbClr val="1A1A1A"/>
                          </a:solidFill>
                          <a:latin typeface="Arial"/>
                        </a:rPr>
                        <a:t>Arquitectura</a:t>
                      </a:r>
                    </a:p>
                  </a:txBody>
                  <a:tcPr marL="54864" marR="54864" marT="27432" marB="27432" anchor="ctr">
                    <a:solidFill>
                      <a:srgbClr val="FFFFFF"/>
                    </a:solidFill>
                  </a:tcPr>
                </a:tc>
                <a:tc>
                  <a:txBody>
                    <a:bodyPr/>
                    <a:lstStyle/>
                    <a:p>
                      <a:pPr algn="l"/>
                      <a:r>
                        <a:rPr lang="es-CL" sz="950" noProof="0" dirty="0">
                          <a:solidFill>
                            <a:srgbClr val="1A1A1A"/>
                          </a:solidFill>
                          <a:latin typeface="Arial"/>
                        </a:rPr>
                        <a:t>MVVM por capas con inyección de dependencias manual (AppContainer)</a:t>
                      </a:r>
                    </a:p>
                  </a:txBody>
                  <a:tcPr marL="54864" marR="54864" marT="27432" marB="27432" anchor="ctr">
                    <a:solidFill>
                      <a:srgbClr val="FFFFFF"/>
                    </a:solidFill>
                  </a:tcPr>
                </a:tc>
                <a:extLst>
                  <a:ext uri="{0D108BD9-81ED-4DB2-BD59-A6C34878D82A}">
                    <a16:rowId xmlns:a16="http://schemas.microsoft.com/office/drawing/2014/main" val="10001"/>
                  </a:ext>
                </a:extLst>
              </a:tr>
              <a:tr h="233172">
                <a:tc>
                  <a:txBody>
                    <a:bodyPr/>
                    <a:lstStyle/>
                    <a:p>
                      <a:pPr algn="l"/>
                      <a:r>
                        <a:rPr lang="es-CL" sz="950" noProof="0" dirty="0">
                          <a:solidFill>
                            <a:srgbClr val="1A1A1A"/>
                          </a:solidFill>
                          <a:latin typeface="Arial"/>
                        </a:rPr>
                        <a:t>Lenguaje y compilación</a:t>
                      </a:r>
                    </a:p>
                  </a:txBody>
                  <a:tcPr marL="54864" marR="54864" marT="27432" marB="27432" anchor="ctr">
                    <a:solidFill>
                      <a:srgbClr val="F2F4F7"/>
                    </a:solidFill>
                  </a:tcPr>
                </a:tc>
                <a:tc>
                  <a:txBody>
                    <a:bodyPr/>
                    <a:lstStyle/>
                    <a:p>
                      <a:pPr algn="l"/>
                      <a:r>
                        <a:rPr lang="es-CL" sz="950" noProof="0" dirty="0" err="1">
                          <a:solidFill>
                            <a:srgbClr val="1A1A1A"/>
                          </a:solidFill>
                          <a:latin typeface="Arial"/>
                        </a:rPr>
                        <a:t>Kotlin 1.9.22 · JDK 17 · Gradle 8.2.1 + AGP 8.2.2</a:t>
                      </a:r>
                      <a:endParaRPr lang="es-CL" sz="950" noProof="0" dirty="0">
                        <a:solidFill>
                          <a:srgbClr val="1A1A1A"/>
                        </a:solidFill>
                        <a:latin typeface="Arial"/>
                      </a:endParaRPr>
                    </a:p>
                  </a:txBody>
                  <a:tcPr marL="54864" marR="54864" marT="27432" marB="27432" anchor="ctr">
                    <a:solidFill>
                      <a:srgbClr val="F2F4F7"/>
                    </a:solidFill>
                  </a:tcPr>
                </a:tc>
                <a:extLst>
                  <a:ext uri="{0D108BD9-81ED-4DB2-BD59-A6C34878D82A}">
                    <a16:rowId xmlns:a16="http://schemas.microsoft.com/office/drawing/2014/main" val="10002"/>
                  </a:ext>
                </a:extLst>
              </a:tr>
              <a:tr h="233172">
                <a:tc>
                  <a:txBody>
                    <a:bodyPr/>
                    <a:lstStyle/>
                    <a:p>
                      <a:pPr algn="l"/>
                      <a:r>
                        <a:rPr lang="es-CL" sz="950" noProof="0" dirty="0">
                          <a:solidFill>
                            <a:srgbClr val="1A1A1A"/>
                          </a:solidFill>
                          <a:latin typeface="Arial"/>
                        </a:rPr>
                        <a:t>Versiones de Android</a:t>
                      </a:r>
                    </a:p>
                  </a:txBody>
                  <a:tcPr marL="54864" marR="54864" marT="27432" marB="27432" anchor="ctr">
                    <a:solidFill>
                      <a:srgbClr val="FFFFFF"/>
                    </a:solidFill>
                  </a:tcPr>
                </a:tc>
                <a:tc>
                  <a:txBody>
                    <a:bodyPr/>
                    <a:lstStyle/>
                    <a:p>
                      <a:pPr algn="l"/>
                      <a:r>
                        <a:rPr lang="es-CL" sz="950" noProof="0" dirty="0">
                          <a:solidFill>
                            <a:srgbClr val="1A1A1A"/>
                          </a:solidFill>
                          <a:latin typeface="Arial"/>
                        </a:rPr>
                        <a:t>minSdk 26 (Android 8.0) · targetSdk 34</a:t>
                      </a:r>
                      <a:endParaRPr lang="es-CL" sz="950" noProof="0" dirty="0">
                        <a:solidFill>
                          <a:srgbClr val="1A1A1A"/>
                        </a:solidFill>
                        <a:latin typeface="Arial"/>
                      </a:endParaRPr>
                    </a:p>
                  </a:txBody>
                  <a:tcPr marL="54864" marR="54864" marT="27432" marB="27432" anchor="ctr">
                    <a:solidFill>
                      <a:srgbClr val="FFFFFF"/>
                    </a:solidFill>
                  </a:tcPr>
                </a:tc>
                <a:extLst>
                  <a:ext uri="{0D108BD9-81ED-4DB2-BD59-A6C34878D82A}">
                    <a16:rowId xmlns:a16="http://schemas.microsoft.com/office/drawing/2014/main" val="10003"/>
                  </a:ext>
                </a:extLst>
              </a:tr>
              <a:tr h="233172">
                <a:tc>
                  <a:txBody>
                    <a:bodyPr/>
                    <a:lstStyle/>
                    <a:p>
                      <a:pPr algn="l"/>
                      <a:r>
                        <a:rPr lang="es-CL" sz="950" noProof="0" dirty="0">
                          <a:solidFill>
                            <a:srgbClr val="1A1A1A"/>
                          </a:solidFill>
                          <a:latin typeface="Arial"/>
                        </a:rPr>
                        <a:t>Plataforma / UI</a:t>
                      </a:r>
                    </a:p>
                  </a:txBody>
                  <a:tcPr marL="54864" marR="54864" marT="27432" marB="27432" anchor="ctr">
                    <a:solidFill>
                      <a:srgbClr val="F2F4F7"/>
                    </a:solidFill>
                  </a:tcPr>
                </a:tc>
                <a:tc>
                  <a:txBody>
                    <a:bodyPr/>
                    <a:lstStyle/>
                    <a:p>
                      <a:pPr algn="l"/>
                      <a:r>
                        <a:rPr lang="es-CL" sz="950" noProof="0" dirty="0" err="1">
                          <a:solidFill>
                            <a:srgbClr val="1A1A1A"/>
                          </a:solidFill>
                          <a:latin typeface="Arial"/>
                        </a:rPr>
                        <a:t>Android Views + XML · Material Design 3 · Navigation Component</a:t>
                      </a:r>
                      <a:endParaRPr lang="es-CL" sz="950" noProof="0" dirty="0">
                        <a:solidFill>
                          <a:srgbClr val="1A1A1A"/>
                        </a:solidFill>
                        <a:latin typeface="Arial"/>
                      </a:endParaRPr>
                    </a:p>
                  </a:txBody>
                  <a:tcPr marL="54864" marR="54864" marT="27432" marB="27432" anchor="ctr">
                    <a:solidFill>
                      <a:srgbClr val="F2F4F7"/>
                    </a:solidFill>
                  </a:tcPr>
                </a:tc>
                <a:extLst>
                  <a:ext uri="{0D108BD9-81ED-4DB2-BD59-A6C34878D82A}">
                    <a16:rowId xmlns:a16="http://schemas.microsoft.com/office/drawing/2014/main" val="10004"/>
                  </a:ext>
                </a:extLst>
              </a:tr>
              <a:tr h="233172">
                <a:tc>
                  <a:txBody>
                    <a:bodyPr/>
                    <a:lstStyle/>
                    <a:p>
                      <a:pPr algn="l"/>
                      <a:r>
                        <a:rPr lang="es-CL" sz="950" noProof="0" dirty="0">
                          <a:solidFill>
                            <a:srgbClr val="1A1A1A"/>
                          </a:solidFill>
                          <a:latin typeface="Arial"/>
                        </a:rPr>
                        <a:t>Reconocimiento de voz</a:t>
                      </a:r>
                    </a:p>
                  </a:txBody>
                  <a:tcPr marL="54864" marR="54864" marT="27432" marB="27432" anchor="ctr">
                    <a:solidFill>
                      <a:srgbClr val="FFFFFF"/>
                    </a:solidFill>
                  </a:tcPr>
                </a:tc>
                <a:tc>
                  <a:txBody>
                    <a:bodyPr/>
                    <a:lstStyle/>
                    <a:p>
                      <a:pPr algn="l"/>
                      <a:r>
                        <a:rPr lang="es-CL" sz="950" noProof="0" dirty="0" err="1">
                          <a:solidFill>
                            <a:srgbClr val="1A1A1A"/>
                          </a:solidFill>
                          <a:latin typeface="Arial"/>
                        </a:rPr>
                        <a:t>SpeechRecognizer en español de Chile (es-CL), 3 alternativas</a:t>
                      </a:r>
                      <a:endParaRPr lang="es-CL" sz="950" noProof="0" dirty="0">
                        <a:solidFill>
                          <a:srgbClr val="1A1A1A"/>
                        </a:solidFill>
                        <a:latin typeface="Arial"/>
                      </a:endParaRPr>
                    </a:p>
                  </a:txBody>
                  <a:tcPr marL="54864" marR="54864" marT="27432" marB="27432" anchor="ctr">
                    <a:solidFill>
                      <a:srgbClr val="FFFFFF"/>
                    </a:solidFill>
                  </a:tcPr>
                </a:tc>
                <a:extLst>
                  <a:ext uri="{0D108BD9-81ED-4DB2-BD59-A6C34878D82A}">
                    <a16:rowId xmlns:a16="http://schemas.microsoft.com/office/drawing/2014/main" val="10005"/>
                  </a:ext>
                </a:extLst>
              </a:tr>
              <a:tr h="233172">
                <a:tc>
                  <a:txBody>
                    <a:bodyPr/>
                    <a:lstStyle/>
                    <a:p>
                      <a:pPr algn="l"/>
                      <a:r>
                        <a:rPr lang="es-CL" sz="950" noProof="0" dirty="0">
                          <a:solidFill>
                            <a:srgbClr val="1A1A1A"/>
                          </a:solidFill>
                          <a:latin typeface="Arial"/>
                        </a:rPr>
                        <a:t>Síntesis de voz</a:t>
                      </a:r>
                    </a:p>
                  </a:txBody>
                  <a:tcPr marL="54864" marR="54864" marT="27432" marB="27432" anchor="ctr">
                    <a:solidFill>
                      <a:srgbClr val="F2F4F7"/>
                    </a:solidFill>
                  </a:tcPr>
                </a:tc>
                <a:tc>
                  <a:txBody>
                    <a:bodyPr/>
                    <a:lstStyle/>
                    <a:p>
                      <a:pPr algn="l"/>
                      <a:r>
                        <a:rPr lang="es-CL" sz="950" noProof="0" dirty="0" err="1">
                          <a:solidFill>
                            <a:srgbClr val="1A1A1A"/>
                          </a:solidFill>
                          <a:latin typeface="Arial"/>
                        </a:rPr>
                        <a:t>TextToSpeech en español, velocidad 0,9</a:t>
                      </a:r>
                    </a:p>
                  </a:txBody>
                  <a:tcPr marL="54864" marR="54864" marT="27432" marB="27432" anchor="ctr">
                    <a:solidFill>
                      <a:srgbClr val="F2F4F7"/>
                    </a:solidFill>
                  </a:tcPr>
                </a:tc>
                <a:extLst>
                  <a:ext uri="{0D108BD9-81ED-4DB2-BD59-A6C34878D82A}">
                    <a16:rowId xmlns:a16="http://schemas.microsoft.com/office/drawing/2014/main" val="10006"/>
                  </a:ext>
                </a:extLst>
              </a:tr>
              <a:tr h="233172">
                <a:tc>
                  <a:txBody>
                    <a:bodyPr/>
                    <a:lstStyle/>
                    <a:p>
                      <a:pPr algn="l"/>
                      <a:r>
                        <a:rPr lang="es-CL" sz="950" noProof="0" dirty="0">
                          <a:solidFill>
                            <a:srgbClr val="1A1A1A"/>
                          </a:solidFill>
                          <a:latin typeface="Arial"/>
                        </a:rPr>
                        <a:t>Interpretación de intención</a:t>
                      </a:r>
                    </a:p>
                  </a:txBody>
                  <a:tcPr marL="54864" marR="54864" marT="27432" marB="27432" anchor="ctr">
                    <a:solidFill>
                      <a:srgbClr val="FFFFFF"/>
                    </a:solidFill>
                  </a:tcPr>
                </a:tc>
                <a:tc>
                  <a:txBody>
                    <a:bodyPr/>
                    <a:lstStyle/>
                    <a:p>
                      <a:pPr algn="l"/>
                      <a:r>
                        <a:rPr lang="es-CL" sz="950" noProof="0" dirty="0" err="1">
                          <a:solidFill>
                            <a:srgbClr val="1A1A1A"/>
                          </a:solidFill>
                          <a:latin typeface="Arial"/>
                        </a:rPr>
                        <a:t>IntentParser y CommandProcessor propios, basados en reglas</a:t>
                      </a:r>
                      <a:endParaRPr lang="es-CL" sz="950" noProof="0" dirty="0">
                        <a:solidFill>
                          <a:srgbClr val="1A1A1A"/>
                        </a:solidFill>
                        <a:latin typeface="Arial"/>
                      </a:endParaRPr>
                    </a:p>
                  </a:txBody>
                  <a:tcPr marL="54864" marR="54864" marT="27432" marB="27432" anchor="ctr">
                    <a:solidFill>
                      <a:srgbClr val="FFFFFF"/>
                    </a:solidFill>
                  </a:tcPr>
                </a:tc>
                <a:extLst>
                  <a:ext uri="{0D108BD9-81ED-4DB2-BD59-A6C34878D82A}">
                    <a16:rowId xmlns:a16="http://schemas.microsoft.com/office/drawing/2014/main" val="10007"/>
                  </a:ext>
                </a:extLst>
              </a:tr>
              <a:tr h="233172">
                <a:tc>
                  <a:txBody>
                    <a:bodyPr/>
                    <a:lstStyle/>
                    <a:p>
                      <a:pPr algn="l"/>
                      <a:r>
                        <a:rPr lang="es-CL" sz="950" noProof="0" dirty="0">
                          <a:solidFill>
                            <a:srgbClr val="1A1A1A"/>
                          </a:solidFill>
                          <a:latin typeface="Arial"/>
                        </a:rPr>
                        <a:t>Ejecución de acciones</a:t>
                      </a:r>
                    </a:p>
                  </a:txBody>
                  <a:tcPr marL="54864" marR="54864" marT="27432" marB="27432" anchor="ctr">
                    <a:solidFill>
                      <a:srgbClr val="F2F4F7"/>
                    </a:solidFill>
                  </a:tcPr>
                </a:tc>
                <a:tc>
                  <a:txBody>
                    <a:bodyPr/>
                    <a:lstStyle/>
                    <a:p>
                      <a:pPr algn="l"/>
                      <a:r>
                        <a:rPr lang="es-CL" sz="950" noProof="0" dirty="0" err="1">
                          <a:solidFill>
                            <a:srgbClr val="1A1A1A"/>
                          </a:solidFill>
                          <a:latin typeface="Arial"/>
                        </a:rPr>
                        <a:t>CameraManager y AudioManager · AlarmClock e Intents (pendiente)</a:t>
                      </a:r>
                      <a:endParaRPr lang="es-CL" sz="950" noProof="0" dirty="0">
                        <a:solidFill>
                          <a:srgbClr val="1A1A1A"/>
                        </a:solidFill>
                        <a:latin typeface="Arial"/>
                      </a:endParaRPr>
                    </a:p>
                  </a:txBody>
                  <a:tcPr marL="54864" marR="54864" marT="27432" marB="27432" anchor="ctr">
                    <a:solidFill>
                      <a:srgbClr val="F2F4F7"/>
                    </a:solidFill>
                  </a:tcPr>
                </a:tc>
                <a:extLst>
                  <a:ext uri="{0D108BD9-81ED-4DB2-BD59-A6C34878D82A}">
                    <a16:rowId xmlns:a16="http://schemas.microsoft.com/office/drawing/2014/main" val="10008"/>
                  </a:ext>
                </a:extLst>
              </a:tr>
              <a:tr h="233172">
                <a:tc>
                  <a:txBody>
                    <a:bodyPr/>
                    <a:lstStyle/>
                    <a:p>
                      <a:pPr algn="l"/>
                      <a:r>
                        <a:rPr lang="es-CL" sz="950" noProof="0" dirty="0">
                          <a:solidFill>
                            <a:srgbClr val="1A1A1A"/>
                          </a:solidFill>
                          <a:latin typeface="Arial"/>
                        </a:rPr>
                        <a:t>Almacenamiento local</a:t>
                      </a:r>
                    </a:p>
                  </a:txBody>
                  <a:tcPr marL="54864" marR="54864" marT="27432" marB="27432" anchor="ctr">
                    <a:solidFill>
                      <a:srgbClr val="FFFFFF"/>
                    </a:solidFill>
                  </a:tcPr>
                </a:tc>
                <a:tc>
                  <a:txBody>
                    <a:bodyPr/>
                    <a:lstStyle/>
                    <a:p>
                      <a:pPr algn="l"/>
                      <a:r>
                        <a:rPr lang="es-CL" sz="950" noProof="0" dirty="0">
                          <a:solidFill>
                            <a:srgbClr val="1A1A1A"/>
                          </a:solidFill>
                          <a:latin typeface="Arial"/>
                        </a:rPr>
                        <a:t>Room 2.6.1 (contactos e historial) · DataStore 1.0.0 (preferencias)</a:t>
                      </a:r>
                    </a:p>
                  </a:txBody>
                  <a:tcPr marL="54864" marR="54864" marT="27432" marB="27432" anchor="ctr">
                    <a:solidFill>
                      <a:srgbClr val="FFFFFF"/>
                    </a:solidFill>
                  </a:tcPr>
                </a:tc>
                <a:extLst>
                  <a:ext uri="{0D108BD9-81ED-4DB2-BD59-A6C34878D82A}">
                    <a16:rowId xmlns:a16="http://schemas.microsoft.com/office/drawing/2014/main" val="10009"/>
                  </a:ext>
                </a:extLst>
              </a:tr>
              <a:tr h="233172">
                <a:tc>
                  <a:txBody>
                    <a:bodyPr/>
                    <a:lstStyle/>
                    <a:p>
                      <a:pPr algn="l"/>
                      <a:r>
                        <a:rPr lang="es-CL" sz="950" noProof="0" dirty="0">
                          <a:solidFill>
                            <a:srgbClr val="1A1A1A"/>
                          </a:solidFill>
                          <a:latin typeface="Arial"/>
                        </a:rPr>
                        <a:t>Estado y asincronía</a:t>
                      </a:r>
                    </a:p>
                  </a:txBody>
                  <a:tcPr marL="54864" marR="54864" marT="27432" marB="27432" anchor="ctr">
                    <a:solidFill>
                      <a:srgbClr val="F2F4F7"/>
                    </a:solidFill>
                  </a:tcPr>
                </a:tc>
                <a:tc>
                  <a:txBody>
                    <a:bodyPr/>
                    <a:lstStyle/>
                    <a:p>
                      <a:pPr algn="l"/>
                      <a:r>
                        <a:rPr lang="es-CL" sz="950" noProof="0" dirty="0" err="1">
                          <a:solidFill>
                            <a:srgbClr val="1A1A1A"/>
                          </a:solidFill>
                          <a:latin typeface="Arial"/>
                        </a:rPr>
                        <a:t>ViewModel · StateFlow · Kotlin Coroutines 1.7.3</a:t>
                      </a:r>
                    </a:p>
                  </a:txBody>
                  <a:tcPr marL="54864" marR="54864" marT="27432" marB="27432" anchor="ctr">
                    <a:solidFill>
                      <a:srgbClr val="F2F4F7"/>
                    </a:solidFill>
                  </a:tcPr>
                </a:tc>
                <a:extLst>
                  <a:ext uri="{0D108BD9-81ED-4DB2-BD59-A6C34878D82A}">
                    <a16:rowId xmlns:a16="http://schemas.microsoft.com/office/drawing/2014/main" val="10010"/>
                  </a:ext>
                </a:extLst>
              </a:tr>
              <a:tr h="233172">
                <a:tc>
                  <a:txBody>
                    <a:bodyPr/>
                    <a:lstStyle/>
                    <a:p>
                      <a:pPr algn="l"/>
                      <a:r>
                        <a:rPr lang="es-CL" sz="950" noProof="0" dirty="0">
                          <a:solidFill>
                            <a:srgbClr val="1A1A1A"/>
                          </a:solidFill>
                          <a:latin typeface="Arial"/>
                        </a:rPr>
                        <a:t>Pruebas</a:t>
                      </a:r>
                    </a:p>
                  </a:txBody>
                  <a:tcPr marL="54864" marR="54864" marT="27432" marB="27432" anchor="ctr">
                    <a:solidFill>
                      <a:srgbClr val="F2F4F7"/>
                    </a:solidFill>
                  </a:tcPr>
                </a:tc>
                <a:tc>
                  <a:txBody>
                    <a:bodyPr/>
                    <a:lstStyle/>
                    <a:p>
                      <a:pPr algn="l"/>
                      <a:r>
                        <a:rPr lang="es-CL" sz="950" noProof="0" dirty="0" err="1">
                          <a:solidFill>
                            <a:srgbClr val="1A1A1A"/>
                          </a:solidFill>
                          <a:latin typeface="Arial"/>
                        </a:rPr>
                        <a:t>JUnit 4.13.2 + coroutines-test · Espresso (configurado)</a:t>
                      </a:r>
                    </a:p>
                  </a:txBody>
                  <a:tcPr marL="54864" marR="54864" marT="27432" marB="27432" anchor="ctr">
                    <a:solidFill>
                      <a:srgbClr val="F2F4F7"/>
                    </a:solidFill>
                  </a:tcPr>
                </a:tc>
                <a:extLst>
                  <a:ext uri="{0D108BD9-81ED-4DB2-BD59-A6C34878D82A}">
                    <a16:rowId xmlns:a16="http://schemas.microsoft.com/office/drawing/2014/main" val="10010"/>
                  </a:ext>
                </a:extLst>
              </a:tr>
              <a:tr h="233172">
                <a:tc>
                  <a:txBody>
                    <a:bodyPr/>
                    <a:lstStyle/>
                    <a:p>
                      <a:pPr algn="l"/>
                      <a:r>
                        <a:rPr lang="es-CL" sz="950" noProof="0" dirty="0">
                          <a:solidFill>
                            <a:srgbClr val="1A1A1A"/>
                          </a:solidFill>
                          <a:latin typeface="Arial"/>
                        </a:rPr>
                        <a:t>Control de versiones</a:t>
                      </a:r>
                    </a:p>
                  </a:txBody>
                  <a:tcPr marL="54864" marR="54864" marT="27432" marB="27432" anchor="ctr">
                    <a:solidFill>
                      <a:srgbClr val="F2F4F7"/>
                    </a:solidFill>
                  </a:tcPr>
                </a:tc>
                <a:tc>
                  <a:txBody>
                    <a:bodyPr/>
                    <a:lstStyle/>
                    <a:p>
                      <a:pPr algn="l"/>
                      <a:r>
                        <a:rPr lang="es-CL" sz="950" noProof="0" dirty="0" err="1">
                          <a:solidFill>
                            <a:srgbClr val="1A1A1A"/>
                          </a:solidFill>
                          <a:latin typeface="Arial"/>
                        </a:rPr>
                        <a:t>Git / GitHub</a:t>
                      </a:r>
                    </a:p>
                  </a:txBody>
                  <a:tcPr marL="54864" marR="54864" marT="27432" marB="27432" anchor="ctr">
                    <a:solidFill>
                      <a:srgbClr val="F2F4F7"/>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7"/>
          <p:cNvSpPr txBox="1">
            <a:spLocks noGrp="1"/>
          </p:cNvSpPr>
          <p:nvPr>
            <p:ph type="title"/>
          </p:nvPr>
        </p:nvSpPr>
        <p:spPr>
          <a:xfrm>
            <a:off x="1106176" y="324998"/>
            <a:ext cx="7726800" cy="338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s-CL" sz="2200" b="1" noProof="0" dirty="0">
                <a:solidFill>
                  <a:srgbClr val="1A1A1A"/>
                </a:solidFill>
                <a:latin typeface="Arial"/>
              </a:rPr>
              <a:t>Arquitectura MVVM implementada</a:t>
            </a:r>
            <a:endParaRPr lang="es-CL" b="1" noProof="0" dirty="0"/>
          </a:p>
        </p:txBody>
      </p:sp>
      <p:pic>
        <p:nvPicPr>
          <p:cNvPr id="77" name="Picture 76" descr="Diagrama_Arquitectura.png"/>
          <p:cNvPicPr>
            <a:picLocks noChangeAspect="1"/>
          </p:cNvPicPr>
          <p:nvPr/>
        </p:nvPicPr>
        <p:blipFill>
          <a:blip r:embed="rId2"/>
          <a:stretch>
            <a:fillRect/>
          </a:stretch>
        </p:blipFill>
        <p:spPr>
          <a:xfrm>
            <a:off x="502920" y="1280160"/>
            <a:ext cx="5120640" cy="3181004"/>
          </a:xfrm>
          <a:prstGeom prst="rect">
            <a:avLst/>
          </a:prstGeom>
        </p:spPr>
      </p:pic>
      <p:sp>
        <p:nvSpPr>
          <p:cNvPr id="78" name="TextBox 77"/>
          <p:cNvSpPr txBox="1"/>
          <p:nvPr/>
        </p:nvSpPr>
        <p:spPr>
          <a:xfrm>
            <a:off x="5943599" y="1280160"/>
            <a:ext cx="2697480" cy="3566160"/>
          </a:xfrm>
          <a:prstGeom prst="rect">
            <a:avLst/>
          </a:prstGeom>
          <a:noFill/>
        </p:spPr>
        <p:txBody>
          <a:bodyPr wrap="square" lIns="0" tIns="0" rIns="0" bIns="0" anchor="t">
            <a:spAutoFit/>
          </a:bodyPr>
          <a:lstStyle/>
          <a:p>
            <a:pPr algn="l">
              <a:spcAft>
                <a:spcPts val="800"/>
              </a:spcAft>
            </a:pPr>
            <a:r>
              <a:rPr lang="es-CL" sz="1400" b="1" i="0" noProof="0" dirty="0">
                <a:solidFill>
                  <a:srgbClr val="143D73"/>
                </a:solidFill>
                <a:latin typeface="Arial"/>
              </a:rPr>
              <a:t>Capas en el código</a:t>
            </a:r>
          </a:p>
          <a:p>
            <a:pPr algn="l">
              <a:spcAft>
                <a:spcPts val="200"/>
              </a:spcAft>
            </a:pPr>
            <a:r>
              <a:rPr lang="es-CL" sz="1200" b="1" i="0" noProof="0" dirty="0">
                <a:solidFill>
                  <a:srgbClr val="257CE1"/>
                </a:solidFill>
                <a:latin typeface="Arial"/>
              </a:rPr>
              <a:t>View (ui/)</a:t>
            </a:r>
          </a:p>
          <a:p>
            <a:pPr algn="l">
              <a:lnSpc>
                <a:spcPct val="105000"/>
              </a:lnSpc>
              <a:spcAft>
                <a:spcPts val="1000"/>
              </a:spcAft>
            </a:pPr>
            <a:r>
              <a:rPr lang="es-CL" sz="1050" b="0" i="0" noProof="0" dirty="0">
                <a:solidFill>
                  <a:srgbClr val="1A1A1A"/>
                </a:solidFill>
                <a:latin typeface="Arial"/>
              </a:rPr>
              <a:t>MainActivity, HomeFragment y layouts XML. Dibuja el estado y envía los eventos.</a:t>
            </a:r>
          </a:p>
          <a:p>
            <a:pPr algn="l">
              <a:spcAft>
                <a:spcPts val="200"/>
              </a:spcAft>
            </a:pPr>
            <a:r>
              <a:rPr lang="es-CL" sz="1200" b="1" i="0" noProof="0" dirty="0">
                <a:solidFill>
                  <a:srgbClr val="257CE1"/>
                </a:solidFill>
                <a:latin typeface="Arial"/>
              </a:rPr>
              <a:t>ViewModel</a:t>
            </a:r>
          </a:p>
          <a:p>
            <a:pPr algn="l">
              <a:lnSpc>
                <a:spcPct val="105000"/>
              </a:lnSpc>
              <a:spcAft>
                <a:spcPts val="1000"/>
              </a:spcAft>
            </a:pPr>
            <a:r>
              <a:rPr lang="es-CL" sz="1050" b="0" i="0" noProof="0" dirty="0">
                <a:solidFill>
                  <a:srgbClr val="1A1A1A"/>
                </a:solidFill>
                <a:latin typeface="Arial"/>
              </a:rPr>
              <a:t>HomeViewModel expone HomeUiState con StateFlow: Idle, Listening, Processing, Responded.</a:t>
            </a:r>
          </a:p>
          <a:p>
            <a:pPr algn="l">
              <a:spcAft>
                <a:spcPts val="200"/>
              </a:spcAft>
            </a:pPr>
            <a:r>
              <a:rPr lang="es-CL" sz="1200" b="1" i="0" noProof="0" dirty="0">
                <a:solidFill>
                  <a:srgbClr val="257CE1"/>
                </a:solidFill>
                <a:latin typeface="Arial"/>
              </a:rPr>
              <a:t>Model</a:t>
            </a:r>
          </a:p>
          <a:p>
            <a:pPr algn="l">
              <a:lnSpc>
                <a:spcPct val="105000"/>
              </a:lnSpc>
              <a:spcAft>
                <a:spcPts val="1000"/>
              </a:spcAft>
            </a:pPr>
            <a:r>
              <a:rPr lang="es-CL" sz="1050" b="0" i="0" noProof="0" dirty="0">
                <a:solidFill>
                  <a:srgbClr val="1A1A1A"/>
                </a:solidFill>
                <a:latin typeface="Arial"/>
              </a:rPr>
              <a:t>domain/: IntentParser y CommandProcessor. services/: voz, texto a voz y acciones, detrás de interfaces. data/: Room y DataStore.</a:t>
            </a:r>
          </a:p>
          <a:p>
            <a:pPr algn="l">
              <a:spcAft>
                <a:spcPts val="200"/>
              </a:spcAft>
            </a:pPr>
            <a:r>
              <a:rPr lang="es-CL" sz="1200" b="1" i="0" noProof="0" dirty="0">
                <a:solidFill>
                  <a:srgbClr val="257CE1"/>
                </a:solidFill>
                <a:latin typeface="Arial"/>
              </a:rPr>
              <a:t>AppContainer</a:t>
            </a:r>
          </a:p>
          <a:p>
            <a:pPr algn="l">
              <a:lnSpc>
                <a:spcPct val="105000"/>
              </a:lnSpc>
              <a:spcAft>
                <a:spcPts val="1000"/>
              </a:spcAft>
            </a:pPr>
            <a:r>
              <a:rPr lang="es-CL" sz="1050" b="0" i="0" noProof="0" dirty="0">
                <a:solidFill>
                  <a:srgbClr val="1A1A1A"/>
                </a:solidFill>
                <a:latin typeface="Arial"/>
              </a:rPr>
              <a:t>Crea y conecta las capas una sola vez.</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7"/>
          <p:cNvSpPr txBox="1">
            <a:spLocks noGrp="1"/>
          </p:cNvSpPr>
          <p:nvPr>
            <p:ph type="title"/>
          </p:nvPr>
        </p:nvSpPr>
        <p:spPr>
          <a:xfrm>
            <a:off x="1106176" y="324998"/>
            <a:ext cx="7726800" cy="338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s-CL" sz="2200" b="1" noProof="0" dirty="0">
                <a:solidFill>
                  <a:srgbClr val="1A1A1A"/>
                </a:solidFill>
                <a:latin typeface="Arial"/>
              </a:rPr>
              <a:t>Funcionamiento de la aplicación</a:t>
            </a:r>
            <a:endParaRPr lang="es-CL" b="1" noProof="0" dirty="0"/>
          </a:p>
        </p:txBody>
      </p:sp>
      <p:sp>
        <p:nvSpPr>
          <p:cNvPr id="77" name="TextBox 76"/>
          <p:cNvSpPr txBox="1"/>
          <p:nvPr/>
        </p:nvSpPr>
        <p:spPr>
          <a:xfrm>
            <a:off x="502920" y="960120"/>
            <a:ext cx="8138160" cy="457200"/>
          </a:xfrm>
          <a:prstGeom prst="rect">
            <a:avLst/>
          </a:prstGeom>
          <a:noFill/>
        </p:spPr>
        <p:txBody>
          <a:bodyPr wrap="square" lIns="0" tIns="0" rIns="0" bIns="0" anchor="t">
            <a:spAutoFit/>
          </a:bodyPr>
          <a:lstStyle/>
          <a:p>
            <a:pPr algn="l">
              <a:spcAft>
                <a:spcPts val="0"/>
              </a:spcAft>
            </a:pPr>
            <a:r>
              <a:rPr lang="es-CL" sz="1300" b="0" i="1" noProof="0" dirty="0">
                <a:solidFill>
                  <a:srgbClr val="555555"/>
                </a:solidFill>
                <a:latin typeface="Arial"/>
              </a:rPr>
              <a:t>HomeViewModel coordina el flujo; cada etapa es un componente independiente y probado.</a:t>
            </a:r>
          </a:p>
        </p:txBody>
      </p:sp>
      <p:sp>
        <p:nvSpPr>
          <p:cNvPr id="78" name="Oval 77"/>
          <p:cNvSpPr/>
          <p:nvPr/>
        </p:nvSpPr>
        <p:spPr>
          <a:xfrm>
            <a:off x="1239012" y="1554480"/>
            <a:ext cx="402336" cy="402336"/>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s-CL" sz="1500" b="1" noProof="0" dirty="0">
                <a:solidFill>
                  <a:srgbClr val="FFFFFF"/>
                </a:solidFill>
                <a:latin typeface="Arial"/>
              </a:rPr>
              <a:t>1</a:t>
            </a:r>
          </a:p>
        </p:txBody>
      </p:sp>
      <p:sp>
        <p:nvSpPr>
          <p:cNvPr id="79" name="TextBox 78"/>
          <p:cNvSpPr txBox="1"/>
          <p:nvPr/>
        </p:nvSpPr>
        <p:spPr>
          <a:xfrm>
            <a:off x="502920" y="2084832"/>
            <a:ext cx="1874519" cy="1737360"/>
          </a:xfrm>
          <a:prstGeom prst="rect">
            <a:avLst/>
          </a:prstGeom>
          <a:noFill/>
        </p:spPr>
        <p:txBody>
          <a:bodyPr wrap="square" lIns="0" tIns="0" rIns="0" bIns="0" anchor="t">
            <a:spAutoFit/>
          </a:bodyPr>
          <a:lstStyle/>
          <a:p>
            <a:pPr algn="ctr">
              <a:lnSpc>
                <a:spcPct val="100000"/>
              </a:lnSpc>
              <a:spcAft>
                <a:spcPts val="500"/>
              </a:spcAft>
            </a:pPr>
            <a:r>
              <a:rPr lang="es-CL" sz="1200" b="1" i="0" noProof="0" dirty="0">
                <a:solidFill>
                  <a:srgbClr val="143D73"/>
                </a:solidFill>
                <a:latin typeface="Arial"/>
              </a:rPr>
              <a:t>Escuchar</a:t>
            </a:r>
          </a:p>
          <a:p>
            <a:pPr algn="ctr">
              <a:lnSpc>
                <a:spcPct val="110000"/>
              </a:lnSpc>
              <a:spcAft>
                <a:spcPts val="0"/>
              </a:spcAft>
            </a:pPr>
            <a:r>
              <a:rPr lang="es-CL" sz="1000" b="0" i="0" noProof="0" dirty="0">
                <a:solidFill>
                  <a:srgbClr val="1A1A1A"/>
                </a:solidFill>
                <a:latin typeface="Arial"/>
              </a:rPr>
              <a:t>onMicClicked() llama a startListening(). El reconocedor transcribe en es-CL y entrega hasta 3 versiones.</a:t>
            </a:r>
          </a:p>
        </p:txBody>
      </p:sp>
      <p:cxnSp>
        <p:nvCxnSpPr>
          <p:cNvPr id="80" name="Connector 79"/>
          <p:cNvCxnSpPr/>
          <p:nvPr/>
        </p:nvCxnSpPr>
        <p:spPr>
          <a:xfrm>
            <a:off x="2359151" y="1746504"/>
            <a:ext cx="155448" cy="0"/>
          </a:xfrm>
          <a:prstGeom prst="line">
            <a:avLst/>
          </a:prstGeom>
          <a:ln w="25400">
            <a:solidFill>
              <a:srgbClr val="257CE1"/>
            </a:solidFill>
          </a:ln>
        </p:spPr>
        <p:style>
          <a:lnRef idx="2">
            <a:schemeClr val="accent1"/>
          </a:lnRef>
          <a:fillRef idx="0">
            <a:schemeClr val="accent1"/>
          </a:fillRef>
          <a:effectRef idx="1">
            <a:schemeClr val="accent1"/>
          </a:effectRef>
          <a:fontRef idx="minor">
            <a:schemeClr val="tx1"/>
          </a:fontRef>
        </p:style>
      </p:cxnSp>
      <p:sp>
        <p:nvSpPr>
          <p:cNvPr id="81" name="Oval 80"/>
          <p:cNvSpPr/>
          <p:nvPr/>
        </p:nvSpPr>
        <p:spPr>
          <a:xfrm>
            <a:off x="3232403" y="1554480"/>
            <a:ext cx="402336" cy="402336"/>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s-CL" sz="1500" b="1" noProof="0" dirty="0">
                <a:solidFill>
                  <a:srgbClr val="FFFFFF"/>
                </a:solidFill>
                <a:latin typeface="Arial"/>
              </a:rPr>
              <a:t>2</a:t>
            </a:r>
          </a:p>
        </p:txBody>
      </p:sp>
      <p:sp>
        <p:nvSpPr>
          <p:cNvPr id="82" name="TextBox 81"/>
          <p:cNvSpPr txBox="1"/>
          <p:nvPr/>
        </p:nvSpPr>
        <p:spPr>
          <a:xfrm>
            <a:off x="2496311" y="2084832"/>
            <a:ext cx="1874519" cy="1737360"/>
          </a:xfrm>
          <a:prstGeom prst="rect">
            <a:avLst/>
          </a:prstGeom>
          <a:noFill/>
        </p:spPr>
        <p:txBody>
          <a:bodyPr wrap="square" lIns="0" tIns="0" rIns="0" bIns="0" anchor="t">
            <a:spAutoFit/>
          </a:bodyPr>
          <a:lstStyle/>
          <a:p>
            <a:pPr algn="ctr">
              <a:lnSpc>
                <a:spcPct val="100000"/>
              </a:lnSpc>
              <a:spcAft>
                <a:spcPts val="500"/>
              </a:spcAft>
            </a:pPr>
            <a:r>
              <a:rPr lang="es-CL" sz="1200" b="1" i="0" noProof="0" dirty="0">
                <a:solidFill>
                  <a:srgbClr val="143D73"/>
                </a:solidFill>
                <a:latin typeface="Arial"/>
              </a:rPr>
              <a:t>Interpretar</a:t>
            </a:r>
          </a:p>
          <a:p>
            <a:pPr algn="ctr">
              <a:lnSpc>
                <a:spcPct val="110000"/>
              </a:lnSpc>
              <a:spcAft>
                <a:spcPts val="0"/>
              </a:spcAft>
            </a:pPr>
            <a:r>
              <a:rPr lang="es-CL" sz="1000" b="0" i="0" noProof="0" dirty="0">
                <a:solidFill>
                  <a:srgbClr val="1A1A1A"/>
                </a:solidFill>
                <a:latin typeface="Arial"/>
              </a:rPr>
              <a:t>onResults() pasa cada versión por parse() del IntentParser (10 intenciones con confianza) y usa la mejor.</a:t>
            </a:r>
          </a:p>
        </p:txBody>
      </p:sp>
      <p:cxnSp>
        <p:nvCxnSpPr>
          <p:cNvPr id="83" name="Connector 82"/>
          <p:cNvCxnSpPr/>
          <p:nvPr/>
        </p:nvCxnSpPr>
        <p:spPr>
          <a:xfrm>
            <a:off x="4352544" y="1746504"/>
            <a:ext cx="155448" cy="0"/>
          </a:xfrm>
          <a:prstGeom prst="line">
            <a:avLst/>
          </a:prstGeom>
          <a:ln w="25400">
            <a:solidFill>
              <a:srgbClr val="257CE1"/>
            </a:solidFill>
          </a:ln>
        </p:spPr>
        <p:style>
          <a:lnRef idx="2">
            <a:schemeClr val="accent1"/>
          </a:lnRef>
          <a:fillRef idx="0">
            <a:schemeClr val="accent1"/>
          </a:fillRef>
          <a:effectRef idx="1">
            <a:schemeClr val="accent1"/>
          </a:effectRef>
          <a:fontRef idx="minor">
            <a:schemeClr val="tx1"/>
          </a:fontRef>
        </p:style>
      </p:cxnSp>
      <p:sp>
        <p:nvSpPr>
          <p:cNvPr id="84" name="Oval 83"/>
          <p:cNvSpPr/>
          <p:nvPr/>
        </p:nvSpPr>
        <p:spPr>
          <a:xfrm>
            <a:off x="5225795" y="1554480"/>
            <a:ext cx="402336" cy="402336"/>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s-CL" sz="1500" b="1" noProof="0" dirty="0">
                <a:solidFill>
                  <a:srgbClr val="FFFFFF"/>
                </a:solidFill>
                <a:latin typeface="Arial"/>
              </a:rPr>
              <a:t>3</a:t>
            </a:r>
          </a:p>
        </p:txBody>
      </p:sp>
      <p:sp>
        <p:nvSpPr>
          <p:cNvPr id="85" name="TextBox 84"/>
          <p:cNvSpPr txBox="1"/>
          <p:nvPr/>
        </p:nvSpPr>
        <p:spPr>
          <a:xfrm>
            <a:off x="4489703" y="2084832"/>
            <a:ext cx="1874519" cy="1737360"/>
          </a:xfrm>
          <a:prstGeom prst="rect">
            <a:avLst/>
          </a:prstGeom>
          <a:noFill/>
        </p:spPr>
        <p:txBody>
          <a:bodyPr wrap="square" lIns="0" tIns="0" rIns="0" bIns="0" anchor="t">
            <a:spAutoFit/>
          </a:bodyPr>
          <a:lstStyle/>
          <a:p>
            <a:pPr algn="ctr">
              <a:lnSpc>
                <a:spcPct val="100000"/>
              </a:lnSpc>
              <a:spcAft>
                <a:spcPts val="500"/>
              </a:spcAft>
            </a:pPr>
            <a:r>
              <a:rPr lang="es-CL" sz="1200" b="1" i="0" noProof="0" dirty="0">
                <a:solidFill>
                  <a:srgbClr val="143D73"/>
                </a:solidFill>
                <a:latin typeface="Arial"/>
              </a:rPr>
              <a:t>Decidir</a:t>
            </a:r>
          </a:p>
          <a:p>
            <a:pPr algn="ctr">
              <a:lnSpc>
                <a:spcPct val="110000"/>
              </a:lnSpc>
              <a:spcAft>
                <a:spcPts val="0"/>
              </a:spcAft>
            </a:pPr>
            <a:r>
              <a:rPr lang="es-CL" sz="1000" b="0" i="0" noProof="0" dirty="0">
                <a:solidFill>
                  <a:srgbClr val="1A1A1A"/>
                </a:solidFill>
                <a:latin typeface="Arial"/>
              </a:rPr>
              <a:t>process() del CommandProcessor: ejecutar, pedir confirmación, pedir aclaración, pedir un dato o rechazar.</a:t>
            </a:r>
          </a:p>
        </p:txBody>
      </p:sp>
      <p:cxnSp>
        <p:nvCxnSpPr>
          <p:cNvPr id="86" name="Connector 85"/>
          <p:cNvCxnSpPr/>
          <p:nvPr/>
        </p:nvCxnSpPr>
        <p:spPr>
          <a:xfrm>
            <a:off x="6345936" y="1746504"/>
            <a:ext cx="155447" cy="0"/>
          </a:xfrm>
          <a:prstGeom prst="line">
            <a:avLst/>
          </a:prstGeom>
          <a:ln w="25400">
            <a:solidFill>
              <a:srgbClr val="257CE1"/>
            </a:solidFill>
          </a:ln>
        </p:spPr>
        <p:style>
          <a:lnRef idx="2">
            <a:schemeClr val="accent1"/>
          </a:lnRef>
          <a:fillRef idx="0">
            <a:schemeClr val="accent1"/>
          </a:fillRef>
          <a:effectRef idx="1">
            <a:schemeClr val="accent1"/>
          </a:effectRef>
          <a:fontRef idx="minor">
            <a:schemeClr val="tx1"/>
          </a:fontRef>
        </p:style>
      </p:cxnSp>
      <p:sp>
        <p:nvSpPr>
          <p:cNvPr id="87" name="Oval 86"/>
          <p:cNvSpPr/>
          <p:nvPr/>
        </p:nvSpPr>
        <p:spPr>
          <a:xfrm>
            <a:off x="7219187" y="1554480"/>
            <a:ext cx="402336" cy="402336"/>
          </a:xfrm>
          <a:prstGeom prst="ellipse">
            <a:avLst/>
          </a:prstGeom>
          <a:solidFill>
            <a:srgbClr val="257CE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s-CL" sz="1500" b="1" noProof="0" dirty="0">
                <a:solidFill>
                  <a:srgbClr val="FFFFFF"/>
                </a:solidFill>
                <a:latin typeface="Arial"/>
              </a:rPr>
              <a:t>4</a:t>
            </a:r>
          </a:p>
        </p:txBody>
      </p:sp>
      <p:sp>
        <p:nvSpPr>
          <p:cNvPr id="88" name="TextBox 87"/>
          <p:cNvSpPr txBox="1"/>
          <p:nvPr/>
        </p:nvSpPr>
        <p:spPr>
          <a:xfrm>
            <a:off x="6483095" y="2084832"/>
            <a:ext cx="1874519" cy="1737360"/>
          </a:xfrm>
          <a:prstGeom prst="rect">
            <a:avLst/>
          </a:prstGeom>
          <a:noFill/>
        </p:spPr>
        <p:txBody>
          <a:bodyPr wrap="square" lIns="0" tIns="0" rIns="0" bIns="0" anchor="t">
            <a:spAutoFit/>
          </a:bodyPr>
          <a:lstStyle/>
          <a:p>
            <a:pPr algn="ctr">
              <a:lnSpc>
                <a:spcPct val="100000"/>
              </a:lnSpc>
              <a:spcAft>
                <a:spcPts val="500"/>
              </a:spcAft>
            </a:pPr>
            <a:r>
              <a:rPr lang="es-CL" sz="1200" b="1" i="0" noProof="0" dirty="0">
                <a:solidFill>
                  <a:srgbClr val="143D73"/>
                </a:solidFill>
                <a:latin typeface="Arial"/>
              </a:rPr>
              <a:t>Ejecutar y responder</a:t>
            </a:r>
          </a:p>
          <a:p>
            <a:pPr algn="ctr">
              <a:lnSpc>
                <a:spcPct val="110000"/>
              </a:lnSpc>
              <a:spcAft>
                <a:spcPts val="0"/>
              </a:spcAft>
            </a:pPr>
            <a:r>
              <a:rPr lang="es-CL" sz="1000" b="0" i="0" noProof="0" dirty="0">
                <a:solidFill>
                  <a:srgbClr val="1A1A1A"/>
                </a:solidFill>
                <a:latin typeface="Arial"/>
              </a:rPr>
              <a:t>execute() llama a setFlashlight() o changeVolume(); respond() muestra el mensaje y llama a speak() a la vez.</a:t>
            </a:r>
          </a:p>
        </p:txBody>
      </p:sp>
      <p:sp>
        <p:nvSpPr>
          <p:cNvPr id="89" name="TextBox 88"/>
          <p:cNvSpPr txBox="1"/>
          <p:nvPr/>
        </p:nvSpPr>
        <p:spPr>
          <a:xfrm>
            <a:off x="502920" y="3749039"/>
            <a:ext cx="8138160" cy="822960"/>
          </a:xfrm>
          <a:prstGeom prst="rect">
            <a:avLst/>
          </a:prstGeom>
          <a:noFill/>
        </p:spPr>
        <p:txBody>
          <a:bodyPr wrap="square" lIns="0" tIns="0" rIns="0" bIns="0" anchor="t">
            <a:spAutoFit/>
          </a:bodyPr>
          <a:lstStyle/>
          <a:p>
            <a:pPr algn="l">
              <a:lnSpc>
                <a:spcPct val="110000"/>
              </a:lnSpc>
              <a:spcAft>
                <a:spcPts val="0"/>
              </a:spcAft>
            </a:pPr>
            <a:r>
              <a:rPr lang="es-CL" sz="1200" b="0" i="1" noProof="0" dirty="0">
                <a:solidFill>
                  <a:srgbClr val="555555"/>
                </a:solidFill>
                <a:latin typeface="Arial"/>
              </a:rPr>
              <a:t>Ejemplo: «enciende la linterna» es no crítica y se ejecuta de inmediato. «Llama a María» es crítica: la lógica ya la deja para confirmación, y su pantalla llega en el paso 4. Si no hay respuesta en 10 s, restartWatchdog() corta la espera.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7"/>
          <p:cNvSpPr txBox="1">
            <a:spLocks noGrp="1"/>
          </p:cNvSpPr>
          <p:nvPr>
            <p:ph type="title"/>
          </p:nvPr>
        </p:nvSpPr>
        <p:spPr>
          <a:xfrm>
            <a:off x="1106176" y="324998"/>
            <a:ext cx="7726800" cy="338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s-CL" sz="2200" b="1" noProof="0" dirty="0">
                <a:solidFill>
                  <a:srgbClr val="1A1A1A"/>
                </a:solidFill>
                <a:latin typeface="Arial"/>
              </a:rPr>
              <a:t>Calidad y pruebas</a:t>
            </a:r>
            <a:endParaRPr lang="es-CL" b="1" noProof="0" dirty="0"/>
          </a:p>
        </p:txBody>
      </p:sp>
      <p:graphicFrame>
        <p:nvGraphicFramePr>
          <p:cNvPr id="77" name="Table 76"/>
          <p:cNvGraphicFramePr>
            <a:graphicFrameLocks noGrp="1"/>
          </p:cNvGraphicFramePr>
          <p:nvPr>
            <p:extLst>
              <p:ext uri="{D42A27DB-BD31-4B8C-83A1-F6EECF244321}">
                <p14:modId xmlns:p14="http://schemas.microsoft.com/office/powerpoint/2010/main" val="3226033951"/>
              </p:ext>
            </p:extLst>
          </p:nvPr>
        </p:nvGraphicFramePr>
        <p:xfrm>
          <a:off x="502920" y="960120"/>
          <a:ext cx="8138160" cy="3072384"/>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53949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384048">
                <a:tc>
                  <a:txBody>
                    <a:bodyPr/>
                    <a:lstStyle/>
                    <a:p>
                      <a:pPr algn="l"/>
                      <a:r>
                        <a:rPr lang="es-CL" sz="1200" b="1" noProof="0" dirty="0">
                          <a:solidFill>
                            <a:srgbClr val="FFFFFF"/>
                          </a:solidFill>
                          <a:latin typeface="Arial"/>
                        </a:rPr>
                        <a:t>Clase de prueba</a:t>
                      </a:r>
                    </a:p>
                  </a:txBody>
                  <a:tcPr marL="54864" marR="54864" marT="27432" marB="27432" anchor="ctr">
                    <a:solidFill>
                      <a:srgbClr val="257CE1"/>
                    </a:solidFill>
                  </a:tcPr>
                </a:tc>
                <a:tc>
                  <a:txBody>
                    <a:bodyPr/>
                    <a:lstStyle/>
                    <a:p>
                      <a:pPr algn="ctr"/>
                      <a:r>
                        <a:rPr lang="es-CL" sz="1200" b="1" noProof="0" dirty="0">
                          <a:solidFill>
                            <a:srgbClr val="FFFFFF"/>
                          </a:solidFill>
                          <a:latin typeface="Arial"/>
                        </a:rPr>
                        <a:t>Qué valida</a:t>
                      </a:r>
                    </a:p>
                  </a:txBody>
                  <a:tcPr marL="54864" marR="54864" marT="27432" marB="27432" anchor="ctr">
                    <a:solidFill>
                      <a:srgbClr val="257CE1"/>
                    </a:solidFill>
                  </a:tcPr>
                </a:tc>
                <a:tc>
                  <a:txBody>
                    <a:bodyPr/>
                    <a:lstStyle/>
                    <a:p>
                      <a:pPr algn="ctr"/>
                      <a:r>
                        <a:rPr lang="es-CL" sz="1200" b="1" noProof="0" dirty="0">
                          <a:solidFill>
                            <a:srgbClr val="FFFFFF"/>
                          </a:solidFill>
                          <a:latin typeface="Arial"/>
                        </a:rPr>
                        <a:t>Pruebas</a:t>
                      </a:r>
                    </a:p>
                  </a:txBody>
                  <a:tcPr marL="54864" marR="54864" marT="27432" marB="27432" anchor="ctr">
                    <a:solidFill>
                      <a:srgbClr val="257CE1"/>
                    </a:solidFill>
                  </a:tcPr>
                </a:tc>
                <a:extLst>
                  <a:ext uri="{0D108BD9-81ED-4DB2-BD59-A6C34878D82A}">
                    <a16:rowId xmlns:a16="http://schemas.microsoft.com/office/drawing/2014/main" val="10000"/>
                  </a:ext>
                </a:extLst>
              </a:tr>
              <a:tr h="384048">
                <a:tc>
                  <a:txBody>
                    <a:bodyPr/>
                    <a:lstStyle/>
                    <a:p>
                      <a:pPr algn="l"/>
                      <a:r>
                        <a:rPr lang="es-CL" sz="1150" noProof="0" dirty="0">
                          <a:solidFill>
                            <a:srgbClr val="1A1A1A"/>
                          </a:solidFill>
                          <a:latin typeface="Arial"/>
                        </a:rPr>
                        <a:t>TextNormalizerTest</a:t>
                      </a:r>
                    </a:p>
                  </a:txBody>
                  <a:tcPr marL="54864" marR="54864" marT="27432" marB="27432" anchor="ctr">
                    <a:solidFill>
                      <a:srgbClr val="FFFFFF"/>
                    </a:solidFill>
                  </a:tcPr>
                </a:tc>
                <a:tc>
                  <a:txBody>
                    <a:bodyPr/>
                    <a:lstStyle/>
                    <a:p>
                      <a:pPr algn="l"/>
                      <a:r>
                        <a:rPr lang="es-CL" sz="1150" noProof="0" dirty="0">
                          <a:solidFill>
                            <a:srgbClr val="1A1A1A"/>
                          </a:solidFill>
                          <a:latin typeface="Arial"/>
                        </a:rPr>
                        <a:t>Normalización de texto (minúsculas, tildes, formatos de hora)</a:t>
                      </a:r>
                    </a:p>
                  </a:txBody>
                  <a:tcPr marL="54864" marR="54864" marT="27432" marB="27432" anchor="ctr">
                    <a:solidFill>
                      <a:srgbClr val="FFFFFF"/>
                    </a:solidFill>
                  </a:tcPr>
                </a:tc>
                <a:tc>
                  <a:txBody>
                    <a:bodyPr/>
                    <a:lstStyle/>
                    <a:p>
                      <a:pPr algn="l"/>
                      <a:r>
                        <a:rPr lang="es-CL" sz="1150" noProof="0" dirty="0">
                          <a:solidFill>
                            <a:srgbClr val="1A1A1A"/>
                          </a:solidFill>
                          <a:latin typeface="Arial"/>
                        </a:rPr>
                        <a:t>2</a:t>
                      </a:r>
                    </a:p>
                  </a:txBody>
                  <a:tcPr marL="54864" marR="54864" marT="27432" marB="27432" anchor="ctr">
                    <a:solidFill>
                      <a:srgbClr val="FFFFFF"/>
                    </a:solidFill>
                  </a:tcPr>
                </a:tc>
                <a:extLst>
                  <a:ext uri="{0D108BD9-81ED-4DB2-BD59-A6C34878D82A}">
                    <a16:rowId xmlns:a16="http://schemas.microsoft.com/office/drawing/2014/main" val="10001"/>
                  </a:ext>
                </a:extLst>
              </a:tr>
              <a:tr h="384048">
                <a:tc>
                  <a:txBody>
                    <a:bodyPr/>
                    <a:lstStyle/>
                    <a:p>
                      <a:pPr algn="l"/>
                      <a:r>
                        <a:rPr lang="es-CL" sz="1150" noProof="0" dirty="0">
                          <a:solidFill>
                            <a:srgbClr val="1A1A1A"/>
                          </a:solidFill>
                          <a:latin typeface="Arial"/>
                        </a:rPr>
                        <a:t>TimeExtractorTest</a:t>
                      </a:r>
                    </a:p>
                  </a:txBody>
                  <a:tcPr marL="54864" marR="54864" marT="27432" marB="27432" anchor="ctr">
                    <a:solidFill>
                      <a:srgbClr val="F2F4F7"/>
                    </a:solidFill>
                  </a:tcPr>
                </a:tc>
                <a:tc>
                  <a:txBody>
                    <a:bodyPr/>
                    <a:lstStyle/>
                    <a:p>
                      <a:pPr algn="l"/>
                      <a:r>
                        <a:rPr lang="es-CL" sz="1150" noProof="0" dirty="0">
                          <a:solidFill>
                            <a:srgbClr val="1A1A1A"/>
                          </a:solidFill>
                          <a:latin typeface="Arial"/>
                        </a:rPr>
                        <a:t>Más de 40 expresiones horarias coloquiales</a:t>
                      </a:r>
                    </a:p>
                  </a:txBody>
                  <a:tcPr marL="54864" marR="54864" marT="27432" marB="27432" anchor="ctr">
                    <a:solidFill>
                      <a:srgbClr val="F2F4F7"/>
                    </a:solidFill>
                  </a:tcPr>
                </a:tc>
                <a:tc>
                  <a:txBody>
                    <a:bodyPr/>
                    <a:lstStyle/>
                    <a:p>
                      <a:pPr algn="l"/>
                      <a:r>
                        <a:rPr lang="es-CL" sz="1150" noProof="0" dirty="0">
                          <a:solidFill>
                            <a:srgbClr val="1A1A1A"/>
                          </a:solidFill>
                          <a:latin typeface="Arial"/>
                        </a:rPr>
                        <a:t>3</a:t>
                      </a:r>
                    </a:p>
                  </a:txBody>
                  <a:tcPr marL="54864" marR="54864" marT="27432" marB="27432" anchor="ctr">
                    <a:solidFill>
                      <a:srgbClr val="F2F4F7"/>
                    </a:solidFill>
                  </a:tcPr>
                </a:tc>
                <a:extLst>
                  <a:ext uri="{0D108BD9-81ED-4DB2-BD59-A6C34878D82A}">
                    <a16:rowId xmlns:a16="http://schemas.microsoft.com/office/drawing/2014/main" val="10002"/>
                  </a:ext>
                </a:extLst>
              </a:tr>
              <a:tr h="384048">
                <a:tc>
                  <a:txBody>
                    <a:bodyPr/>
                    <a:lstStyle/>
                    <a:p>
                      <a:pPr algn="l"/>
                      <a:r>
                        <a:rPr lang="es-CL" sz="1150" noProof="0" dirty="0">
                          <a:solidFill>
                            <a:srgbClr val="1A1A1A"/>
                          </a:solidFill>
                          <a:latin typeface="Arial"/>
                        </a:rPr>
                        <a:t>ContactMatcherTest</a:t>
                      </a:r>
                    </a:p>
                  </a:txBody>
                  <a:tcPr marL="54864" marR="54864" marT="27432" marB="27432" anchor="ctr">
                    <a:solidFill>
                      <a:srgbClr val="FFFFFF"/>
                    </a:solidFill>
                  </a:tcPr>
                </a:tc>
                <a:tc>
                  <a:txBody>
                    <a:bodyPr/>
                    <a:lstStyle/>
                    <a:p>
                      <a:pPr algn="l"/>
                      <a:r>
                        <a:rPr lang="es-CL" sz="1150" noProof="0" dirty="0">
                          <a:solidFill>
                            <a:srgbClr val="1A1A1A"/>
                          </a:solidFill>
                          <a:latin typeface="Arial"/>
                        </a:rPr>
                        <a:t>Búsqueda difusa, ambigüedades y nombres por parentesco</a:t>
                      </a:r>
                    </a:p>
                  </a:txBody>
                  <a:tcPr marL="54864" marR="54864" marT="27432" marB="27432" anchor="ctr">
                    <a:solidFill>
                      <a:srgbClr val="FFFFFF"/>
                    </a:solidFill>
                  </a:tcPr>
                </a:tc>
                <a:tc>
                  <a:txBody>
                    <a:bodyPr/>
                    <a:lstStyle/>
                    <a:p>
                      <a:pPr algn="l"/>
                      <a:r>
                        <a:rPr lang="es-CL" sz="1200" dirty="0">
                          <a:solidFill>
                            <a:srgbClr val="1A1A1A"/>
                          </a:solidFill>
                        </a:rPr>
                        <a:t>8</a:t>
                      </a:r>
                      <a:endParaRPr lang="es-CL" sz="1150" noProof="0" dirty="0">
                        <a:solidFill>
                          <a:srgbClr val="1A1A1A"/>
                        </a:solidFill>
                        <a:latin typeface="Arial"/>
                      </a:endParaRPr>
                    </a:p>
                  </a:txBody>
                  <a:tcPr marL="54864" marR="54864" marT="27432" marB="27432" anchor="ctr">
                    <a:solidFill>
                      <a:srgbClr val="FFFFFF"/>
                    </a:solidFill>
                  </a:tcPr>
                </a:tc>
                <a:extLst>
                  <a:ext uri="{0D108BD9-81ED-4DB2-BD59-A6C34878D82A}">
                    <a16:rowId xmlns:a16="http://schemas.microsoft.com/office/drawing/2014/main" val="10003"/>
                  </a:ext>
                </a:extLst>
              </a:tr>
              <a:tr h="384048">
                <a:tc>
                  <a:txBody>
                    <a:bodyPr/>
                    <a:lstStyle/>
                    <a:p>
                      <a:pPr algn="l"/>
                      <a:r>
                        <a:rPr lang="es-CL" sz="1150" noProof="0" dirty="0">
                          <a:solidFill>
                            <a:srgbClr val="1A1A1A"/>
                          </a:solidFill>
                          <a:latin typeface="Arial"/>
                        </a:rPr>
                        <a:t>IntentParserTest</a:t>
                      </a:r>
                    </a:p>
                  </a:txBody>
                  <a:tcPr marL="54864" marR="54864" marT="27432" marB="27432" anchor="ctr">
                    <a:solidFill>
                      <a:srgbClr val="F2F4F7"/>
                    </a:solidFill>
                  </a:tcPr>
                </a:tc>
                <a:tc>
                  <a:txBody>
                    <a:bodyPr/>
                    <a:lstStyle/>
                    <a:p>
                      <a:pPr algn="l"/>
                      <a:r>
                        <a:rPr lang="es-CL" sz="1150" noProof="0" dirty="0">
                          <a:solidFill>
                            <a:srgbClr val="1A1A1A"/>
                          </a:solidFill>
                          <a:latin typeface="Arial"/>
                        </a:rPr>
                        <a:t>Frases reales en español de Chile y su intención esperada</a:t>
                      </a:r>
                    </a:p>
                  </a:txBody>
                  <a:tcPr marL="54864" marR="54864" marT="27432" marB="27432" anchor="ctr">
                    <a:solidFill>
                      <a:srgbClr val="F2F4F7"/>
                    </a:solidFill>
                  </a:tcPr>
                </a:tc>
                <a:tc>
                  <a:txBody>
                    <a:bodyPr/>
                    <a:lstStyle/>
                    <a:p>
                      <a:pPr algn="l"/>
                      <a:r>
                        <a:rPr lang="es-CL" sz="1200" dirty="0">
                          <a:solidFill>
                            <a:srgbClr val="1A1A1A"/>
                          </a:solidFill>
                        </a:rPr>
                        <a:t>11</a:t>
                      </a:r>
                      <a:endParaRPr lang="es-CL" sz="1150" noProof="0" dirty="0">
                        <a:solidFill>
                          <a:srgbClr val="1A1A1A"/>
                        </a:solidFill>
                        <a:latin typeface="Arial"/>
                      </a:endParaRPr>
                    </a:p>
                  </a:txBody>
                  <a:tcPr marL="54864" marR="54864" marT="27432" marB="27432" anchor="ctr">
                    <a:solidFill>
                      <a:srgbClr val="F2F4F7"/>
                    </a:solidFill>
                  </a:tcPr>
                </a:tc>
                <a:extLst>
                  <a:ext uri="{0D108BD9-81ED-4DB2-BD59-A6C34878D82A}">
                    <a16:rowId xmlns:a16="http://schemas.microsoft.com/office/drawing/2014/main" val="10004"/>
                  </a:ext>
                </a:extLst>
              </a:tr>
              <a:tr h="384048">
                <a:tc>
                  <a:txBody>
                    <a:bodyPr/>
                    <a:lstStyle/>
                    <a:p>
                      <a:pPr algn="l"/>
                      <a:r>
                        <a:rPr lang="es-CL" sz="1150" noProof="0" dirty="0">
                          <a:solidFill>
                            <a:srgbClr val="1A1A1A"/>
                          </a:solidFill>
                          <a:latin typeface="Arial"/>
                        </a:rPr>
                        <a:t>CommandProcessorTest</a:t>
                      </a:r>
                    </a:p>
                  </a:txBody>
                  <a:tcPr marL="54864" marR="54864" marT="27432" marB="27432" anchor="ctr">
                    <a:solidFill>
                      <a:srgbClr val="FFFFFF"/>
                    </a:solidFill>
                  </a:tcPr>
                </a:tc>
                <a:tc>
                  <a:txBody>
                    <a:bodyPr/>
                    <a:lstStyle/>
                    <a:p>
                      <a:pPr algn="l"/>
                      <a:r>
                        <a:rPr lang="es-CL" sz="1150" noProof="0" dirty="0">
                          <a:solidFill>
                            <a:srgbClr val="1A1A1A"/>
                          </a:solidFill>
                          <a:latin typeface="Arial"/>
                        </a:rPr>
                        <a:t>Confirmación, aclaración, validación de hora y teléfono</a:t>
                      </a:r>
                    </a:p>
                  </a:txBody>
                  <a:tcPr marL="54864" marR="54864" marT="27432" marB="27432" anchor="ctr">
                    <a:solidFill>
                      <a:srgbClr val="FFFFFF"/>
                    </a:solidFill>
                  </a:tcPr>
                </a:tc>
                <a:tc>
                  <a:txBody>
                    <a:bodyPr/>
                    <a:lstStyle/>
                    <a:p>
                      <a:pPr algn="l"/>
                      <a:r>
                        <a:rPr lang="es-CL" sz="1200" dirty="0">
                          <a:solidFill>
                            <a:srgbClr val="1A1A1A"/>
                          </a:solidFill>
                        </a:rPr>
                        <a:t>21</a:t>
                      </a:r>
                      <a:endParaRPr lang="es-CL" sz="1150" noProof="0" dirty="0">
                        <a:solidFill>
                          <a:srgbClr val="1A1A1A"/>
                        </a:solidFill>
                        <a:latin typeface="Arial"/>
                      </a:endParaRPr>
                    </a:p>
                  </a:txBody>
                  <a:tcPr marL="54864" marR="54864" marT="27432" marB="27432" anchor="ctr">
                    <a:solidFill>
                      <a:srgbClr val="FFFFFF"/>
                    </a:solidFill>
                  </a:tcPr>
                </a:tc>
                <a:extLst>
                  <a:ext uri="{0D108BD9-81ED-4DB2-BD59-A6C34878D82A}">
                    <a16:rowId xmlns:a16="http://schemas.microsoft.com/office/drawing/2014/main" val="10005"/>
                  </a:ext>
                </a:extLst>
              </a:tr>
              <a:tr h="384048">
                <a:tc>
                  <a:txBody>
                    <a:bodyPr/>
                    <a:lstStyle/>
                    <a:p>
                      <a:pPr algn="l"/>
                      <a:r>
                        <a:rPr lang="es-CL" sz="1150" noProof="0" dirty="0">
                          <a:solidFill>
                            <a:srgbClr val="1A1A1A"/>
                          </a:solidFill>
                          <a:latin typeface="Arial"/>
                        </a:rPr>
                        <a:t>HomeViewModelTest</a:t>
                      </a:r>
                    </a:p>
                  </a:txBody>
                  <a:tcPr marL="54864" marR="54864" marT="27432" marB="27432" anchor="ctr">
                    <a:solidFill>
                      <a:srgbClr val="F2F4F7"/>
                    </a:solidFill>
                  </a:tcPr>
                </a:tc>
                <a:tc>
                  <a:txBody>
                    <a:bodyPr/>
                    <a:lstStyle/>
                    <a:p>
                      <a:pPr algn="l"/>
                      <a:r>
                        <a:rPr lang="es-CL" sz="1150" noProof="0" dirty="0">
                          <a:solidFill>
                            <a:srgbClr val="1A1A1A"/>
                          </a:solidFill>
                          <a:latin typeface="Arial"/>
                        </a:rPr>
                        <a:t>Flujo completo de la pantalla con servicios simulados</a:t>
                      </a:r>
                    </a:p>
                  </a:txBody>
                  <a:tcPr marL="54864" marR="54864" marT="27432" marB="27432" anchor="ctr">
                    <a:solidFill>
                      <a:srgbClr val="F2F4F7"/>
                    </a:solidFill>
                  </a:tcPr>
                </a:tc>
                <a:tc>
                  <a:txBody>
                    <a:bodyPr/>
                    <a:lstStyle/>
                    <a:p>
                      <a:pPr algn="l"/>
                      <a:r>
                        <a:rPr lang="es-CL" sz="1200" dirty="0">
                          <a:solidFill>
                            <a:srgbClr val="1A1A1A"/>
                          </a:solidFill>
                        </a:rPr>
                        <a:t>16</a:t>
                      </a:r>
                      <a:endParaRPr lang="es-CL" sz="1150" noProof="0" dirty="0">
                        <a:solidFill>
                          <a:srgbClr val="1A1A1A"/>
                        </a:solidFill>
                        <a:latin typeface="Arial"/>
                      </a:endParaRPr>
                    </a:p>
                  </a:txBody>
                  <a:tcPr marL="54864" marR="54864" marT="27432" marB="27432" anchor="ctr">
                    <a:solidFill>
                      <a:srgbClr val="F2F4F7"/>
                    </a:solidFill>
                  </a:tcPr>
                </a:tc>
                <a:extLst>
                  <a:ext uri="{0D108BD9-81ED-4DB2-BD59-A6C34878D82A}">
                    <a16:rowId xmlns:a16="http://schemas.microsoft.com/office/drawing/2014/main" val="10006"/>
                  </a:ext>
                </a:extLst>
              </a:tr>
              <a:tr h="384048">
                <a:tc>
                  <a:txBody>
                    <a:bodyPr/>
                    <a:lstStyle/>
                    <a:p>
                      <a:pPr algn="l"/>
                      <a:r>
                        <a:rPr lang="es-CL" sz="1150" noProof="0" dirty="0" b="1">
                          <a:solidFill>
                            <a:srgbClr val="1A1A1A"/>
                          </a:solidFill>
                          <a:latin typeface="Arial"/>
                        </a:rPr>
                        <a:t>Total</a:t>
                      </a:r>
                    </a:p>
                  </a:txBody>
                  <a:tcPr marL="54864" marR="54864" marT="27432" marB="27432" anchor="ctr">
                    <a:solidFill>
                      <a:srgbClr val="F2F4F7"/>
                    </a:solidFill>
                  </a:tcPr>
                </a:tc>
                <a:tc>
                  <a:txBody>
                    <a:bodyPr/>
                    <a:lstStyle/>
                    <a:p>
                      <a:pPr algn="l"/>
                      <a:r>
                        <a:rPr lang="es-CL" sz="1150" noProof="0" dirty="0" b="1">
                          <a:solidFill>
                            <a:srgbClr val="1A1A1A"/>
                          </a:solidFill>
                          <a:latin typeface="Arial"/>
                        </a:rPr>
                        <a:t>Todas aprobadas · prueba manual en Samsung Galaxy J2 Core (1 GB RAM)</a:t>
                      </a:r>
                    </a:p>
                  </a:txBody>
                  <a:tcPr marL="54864" marR="54864" marT="27432" marB="27432" anchor="ctr">
                    <a:solidFill>
                      <a:srgbClr val="F2F4F7"/>
                    </a:solidFill>
                  </a:tcPr>
                </a:tc>
                <a:tc>
                  <a:txBody>
                    <a:bodyPr/>
                    <a:lstStyle/>
                    <a:p>
                      <a:pPr algn="l"/>
                      <a:r>
                        <a:rPr lang="es-CL" sz="1200" dirty="0" b="1">
                          <a:solidFill>
                            <a:srgbClr val="1A1A1A"/>
                          </a:solidFill>
                        </a:rPr>
                        <a:t>61</a:t>
                      </a:r>
                      <a:endParaRPr lang="es-CL" sz="1150" noProof="0" dirty="0">
                        <a:solidFill>
                          <a:srgbClr val="1A1A1A"/>
                        </a:solidFill>
                        <a:latin typeface="Arial"/>
                      </a:endParaRPr>
                    </a:p>
                  </a:txBody>
                  <a:tcPr marL="54864" marR="54864" marT="27432" marB="27432" anchor="ctr">
                    <a:solidFill>
                      <a:srgbClr val="F2F4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7"/>
          <p:cNvSpPr txBox="1">
            <a:spLocks noGrp="1"/>
          </p:cNvSpPr>
          <p:nvPr>
            <p:ph type="title"/>
          </p:nvPr>
        </p:nvSpPr>
        <p:spPr>
          <a:xfrm>
            <a:off x="1106176" y="324998"/>
            <a:ext cx="7726800" cy="338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s-CL" sz="2200" b="1" noProof="0" dirty="0">
                <a:solidFill>
                  <a:srgbClr val="1A1A1A"/>
                </a:solidFill>
                <a:latin typeface="Arial"/>
              </a:rPr>
              <a:t>Problemas encontrados y soluciones</a:t>
            </a:r>
            <a:endParaRPr lang="es-CL" b="1" noProof="0" dirty="0"/>
          </a:p>
        </p:txBody>
      </p:sp>
      <p:graphicFrame>
        <p:nvGraphicFramePr>
          <p:cNvPr id="77" name="Table 76"/>
          <p:cNvGraphicFramePr>
            <a:graphicFrameLocks noGrp="1"/>
          </p:cNvGraphicFramePr>
          <p:nvPr>
            <p:extLst>
              <p:ext uri="{D42A27DB-BD31-4B8C-83A1-F6EECF244321}">
                <p14:modId xmlns:p14="http://schemas.microsoft.com/office/powerpoint/2010/main" val="2972687218"/>
              </p:ext>
            </p:extLst>
          </p:nvPr>
        </p:nvGraphicFramePr>
        <p:xfrm>
          <a:off x="502920" y="1005840"/>
          <a:ext cx="8138160" cy="2011680"/>
        </p:xfrm>
        <a:graphic>
          <a:graphicData uri="http://schemas.openxmlformats.org/drawingml/2006/table">
            <a:tbl>
              <a:tblPr firstRow="1" bandRow="1">
                <a:tableStyleId>{5C22544A-7EE6-4342-B048-85BDC9FD1C3A}</a:tableStyleId>
              </a:tblPr>
              <a:tblGrid>
                <a:gridCol w="3657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359228">
                <a:tc>
                  <a:txBody>
                    <a:bodyPr/>
                    <a:lstStyle/>
                    <a:p>
                      <a:pPr algn="l"/>
                      <a:r>
                        <a:rPr lang="es-CL" sz="1100" b="1" noProof="0" dirty="0">
                          <a:solidFill>
                            <a:srgbClr val="FFFFFF"/>
                          </a:solidFill>
                          <a:latin typeface="Arial"/>
                        </a:rPr>
                        <a:t>#</a:t>
                      </a:r>
                    </a:p>
                  </a:txBody>
                  <a:tcPr marL="54864" marR="54864" marT="27432" marB="27432" anchor="ctr">
                    <a:solidFill>
                      <a:srgbClr val="257CE1"/>
                    </a:solidFill>
                  </a:tcPr>
                </a:tc>
                <a:tc>
                  <a:txBody>
                    <a:bodyPr/>
                    <a:lstStyle/>
                    <a:p>
                      <a:pPr algn="ctr"/>
                      <a:r>
                        <a:rPr lang="es-CL" sz="1100" b="1" noProof="0" dirty="0">
                          <a:solidFill>
                            <a:srgbClr val="FFFFFF"/>
                          </a:solidFill>
                          <a:latin typeface="Arial"/>
                        </a:rPr>
                        <a:t>Problema observado</a:t>
                      </a:r>
                    </a:p>
                  </a:txBody>
                  <a:tcPr marL="54864" marR="54864" marT="27432" marB="27432" anchor="ctr">
                    <a:solidFill>
                      <a:srgbClr val="257CE1"/>
                    </a:solidFill>
                  </a:tcPr>
                </a:tc>
                <a:tc>
                  <a:txBody>
                    <a:bodyPr/>
                    <a:lstStyle/>
                    <a:p>
                      <a:pPr algn="ctr"/>
                      <a:r>
                        <a:rPr lang="es-CL" sz="1100" b="1" noProof="0" dirty="0">
                          <a:solidFill>
                            <a:srgbClr val="FFFFFF"/>
                          </a:solidFill>
                          <a:latin typeface="Arial"/>
                        </a:rPr>
                        <a:t>Causa raíz</a:t>
                      </a:r>
                    </a:p>
                  </a:txBody>
                  <a:tcPr marL="54864" marR="54864" marT="27432" marB="27432" anchor="ctr">
                    <a:solidFill>
                      <a:srgbClr val="257CE1"/>
                    </a:solidFill>
                  </a:tcPr>
                </a:tc>
                <a:tc>
                  <a:txBody>
                    <a:bodyPr/>
                    <a:lstStyle/>
                    <a:p>
                      <a:pPr algn="ctr"/>
                      <a:r>
                        <a:rPr lang="es-CL" sz="1100" b="1" noProof="0" dirty="0">
                          <a:solidFill>
                            <a:srgbClr val="FFFFFF"/>
                          </a:solidFill>
                          <a:latin typeface="Arial"/>
                        </a:rPr>
                        <a:t>Solución</a:t>
                      </a:r>
                    </a:p>
                  </a:txBody>
                  <a:tcPr marL="54864" marR="54864" marT="27432" marB="27432" anchor="ctr">
                    <a:solidFill>
                      <a:srgbClr val="257CE1"/>
                    </a:solidFill>
                  </a:tcPr>
                </a:tc>
                <a:extLst>
                  <a:ext uri="{0D108BD9-81ED-4DB2-BD59-A6C34878D82A}">
                    <a16:rowId xmlns:a16="http://schemas.microsoft.com/office/drawing/2014/main" val="10000"/>
                  </a:ext>
                </a:extLst>
              </a:tr>
              <a:tr h="359228">
                <a:tc>
                  <a:txBody>
                    <a:bodyPr/>
                    <a:lstStyle/>
                    <a:p>
                      <a:pPr algn="l"/>
                      <a:r>
                        <a:rPr lang="es-CL" sz="1000" noProof="0" dirty="0" b="0">
                          <a:solidFill>
                            <a:srgbClr val="1A1A1A"/>
                          </a:solidFill>
                          <a:latin typeface="Arial"/>
                        </a:rPr>
                        <a:t>1</a:t>
                      </a:r>
                    </a:p>
                  </a:txBody>
                  <a:tcPr marL="54864" marR="54864" marT="27432" marB="27432" anchor="ctr">
                    <a:solidFill>
                      <a:srgbClr val="FFFFFF"/>
                    </a:solidFill>
                  </a:tcPr>
                </a:tc>
                <a:tc>
                  <a:txBody>
                    <a:bodyPr/>
                    <a:lstStyle/>
                    <a:p>
                      <a:pPr algn="l"/>
                      <a:r>
                        <a:rPr lang="es-CL" sz="1000" noProof="0" dirty="0" b="0">
                          <a:solidFill>
                            <a:srgbClr val="1A1A1A"/>
                          </a:solidFill>
                          <a:latin typeface="Arial"/>
                        </a:rPr>
                        <a:t>«Sin conexión a internet» teniendo conexión</a:t>
                      </a:r>
                    </a:p>
                  </a:txBody>
                  <a:tcPr marL="54864" marR="54864" marT="27432" marB="27432" anchor="ctr">
                    <a:solidFill>
                      <a:srgbClr val="FFFFFF"/>
                    </a:solidFill>
                  </a:tcPr>
                </a:tc>
                <a:tc>
                  <a:txBody>
                    <a:bodyPr/>
                    <a:lstStyle/>
                    <a:p>
                      <a:pPr algn="l"/>
                      <a:r>
                        <a:rPr lang="es-CL" sz="1000" noProof="0" dirty="0" b="0">
                          <a:solidFill>
                            <a:srgbClr val="1A1A1A"/>
                          </a:solidFill>
                          <a:latin typeface="Arial"/>
                        </a:rPr>
                        <a:t>Android Go no trae motor de reconocimiento sin conexión y reporta el fallo como error de red</a:t>
                      </a:r>
                    </a:p>
                  </a:txBody>
                  <a:tcPr marL="54864" marR="54864" marT="27432" marB="27432" anchor="ctr">
                    <a:solidFill>
                      <a:srgbClr val="FFFFFF"/>
                    </a:solidFill>
                  </a:tcPr>
                </a:tc>
                <a:tc>
                  <a:txBody>
                    <a:bodyPr/>
                    <a:lstStyle/>
                    <a:p>
                      <a:pPr algn="l"/>
                      <a:r>
                        <a:rPr lang="es-CL" sz="1000" b="0" noProof="0" dirty="0">
                          <a:solidFill>
                            <a:srgbClr val="1A1A1A"/>
                          </a:solidFill>
                          <a:latin typeface="Arial"/>
                        </a:rPr>
                        <a:t>Modo en línea en equipos de poca RAM, con reintento automático</a:t>
                      </a:r>
                    </a:p>
                  </a:txBody>
                  <a:tcPr marL="54864" marR="54864" marT="27432" marB="27432" anchor="ctr">
                    <a:solidFill>
                      <a:srgbClr val="FFFFFF"/>
                    </a:solidFill>
                  </a:tcPr>
                </a:tc>
                <a:extLst>
                  <a:ext uri="{0D108BD9-81ED-4DB2-BD59-A6C34878D82A}">
                    <a16:rowId xmlns:a16="http://schemas.microsoft.com/office/drawing/2014/main" val="10001"/>
                  </a:ext>
                </a:extLst>
              </a:tr>
              <a:tr h="359228">
                <a:tc>
                  <a:txBody>
                    <a:bodyPr/>
                    <a:lstStyle/>
                    <a:p>
                      <a:pPr algn="l"/>
                      <a:r>
                        <a:rPr lang="es-CL" sz="1000" noProof="0" dirty="0" b="0">
                          <a:solidFill>
                            <a:srgbClr val="1A1A1A"/>
                          </a:solidFill>
                          <a:latin typeface="Arial"/>
                        </a:rPr>
                        <a:t>2</a:t>
                      </a:r>
                    </a:p>
                  </a:txBody>
                  <a:tcPr marL="54864" marR="54864" marT="27432" marB="27432" anchor="ctr">
                    <a:solidFill>
                      <a:srgbClr val="F2F4F7"/>
                    </a:solidFill>
                  </a:tcPr>
                </a:tc>
                <a:tc>
                  <a:txBody>
                    <a:bodyPr/>
                    <a:lstStyle/>
                    <a:p>
                      <a:pPr algn="l"/>
                      <a:r>
                        <a:rPr lang="es-CL" sz="1000" noProof="0" dirty="0" b="0">
                          <a:solidFill>
                            <a:srgbClr val="1A1A1A"/>
                          </a:solidFill>
                          <a:latin typeface="Arial"/>
                        </a:rPr>
                        <a:t>La app quedaba en «Te escucho…» indefinidamente</a:t>
                      </a:r>
                    </a:p>
                  </a:txBody>
                  <a:tcPr marL="54864" marR="54864" marT="27432" marB="27432" anchor="ctr">
                    <a:solidFill>
                      <a:srgbClr val="F2F4F7"/>
                    </a:solidFill>
                  </a:tcPr>
                </a:tc>
                <a:tc>
                  <a:txBody>
                    <a:bodyPr/>
                    <a:lstStyle/>
                    <a:p>
                      <a:pPr algn="l"/>
                      <a:r>
                        <a:rPr lang="es-CL" sz="1000" noProof="0" dirty="0" b="0">
                          <a:solidFill>
                            <a:srgbClr val="1A1A1A"/>
                          </a:solidFill>
                          <a:latin typeface="Arial"/>
                        </a:rPr>
                        <a:t>El reintento reutilizaba el reconocedor y el cierre de la sesión fallida cancelaba la nueva</a:t>
                      </a:r>
                    </a:p>
                  </a:txBody>
                  <a:tcPr marL="54864" marR="54864" marT="27432" marB="27432" anchor="ctr">
                    <a:solidFill>
                      <a:srgbClr val="F2F4F7"/>
                    </a:solidFill>
                  </a:tcPr>
                </a:tc>
                <a:tc>
                  <a:txBody>
                    <a:bodyPr/>
                    <a:lstStyle/>
                    <a:p>
                      <a:pPr algn="l"/>
                      <a:r>
                        <a:rPr lang="es-CL" sz="1000" b="0" noProof="0" dirty="0">
                          <a:solidFill>
                            <a:srgbClr val="1A1A1A"/>
                          </a:solidFill>
                          <a:latin typeface="Arial"/>
                        </a:rPr>
                        <a:t>Reconocedor nuevo en cada reintento y vigilante de 10 s (RNF-07)</a:t>
                      </a:r>
                    </a:p>
                  </a:txBody>
                  <a:tcPr marL="54864" marR="54864" marT="27432" marB="27432" anchor="ctr">
                    <a:solidFill>
                      <a:srgbClr val="F2F4F7"/>
                    </a:solidFill>
                  </a:tcPr>
                </a:tc>
                <a:extLst>
                  <a:ext uri="{0D108BD9-81ED-4DB2-BD59-A6C34878D82A}">
                    <a16:rowId xmlns:a16="http://schemas.microsoft.com/office/drawing/2014/main" val="10002"/>
                  </a:ext>
                </a:extLst>
              </a:tr>
              <a:tr h="359228">
                <a:tc>
                  <a:txBody>
                    <a:bodyPr/>
                    <a:lstStyle/>
                    <a:p>
                      <a:pPr algn="l"/>
                      <a:r>
                        <a:rPr lang="es-CL" sz="1000" noProof="0" dirty="0" b="0">
                          <a:solidFill>
                            <a:srgbClr val="1A1A1A"/>
                          </a:solidFill>
                          <a:latin typeface="Arial"/>
                        </a:rPr>
                        <a:t>3</a:t>
                      </a:r>
                    </a:p>
                  </a:txBody>
                  <a:tcPr marL="54864" marR="54864" marT="27432" marB="27432" anchor="ctr">
                    <a:solidFill>
                      <a:srgbClr val="FFFFFF"/>
                    </a:solidFill>
                  </a:tcPr>
                </a:tc>
                <a:tc>
                  <a:txBody>
                    <a:bodyPr/>
                    <a:lstStyle/>
                    <a:p>
                      <a:pPr algn="l"/>
                      <a:r>
                        <a:rPr lang="es-CL" sz="1000" noProof="0" dirty="0" b="0">
                          <a:solidFill>
                            <a:srgbClr val="1A1A1A"/>
                          </a:solidFill>
                          <a:latin typeface="Arial"/>
                        </a:rPr>
                        <a:t>La app no respondía por voz</a:t>
                      </a:r>
                    </a:p>
                  </a:txBody>
                  <a:tcPr marL="54864" marR="54864" marT="27432" marB="27432" anchor="ctr">
                    <a:solidFill>
                      <a:srgbClr val="FFFFFF"/>
                    </a:solidFill>
                  </a:tcPr>
                </a:tc>
                <a:tc>
                  <a:txBody>
                    <a:bodyPr/>
                    <a:lstStyle/>
                    <a:p>
                      <a:pPr algn="l"/>
                      <a:r>
                        <a:rPr lang="es-CL" sz="1000" noProof="0" dirty="0" b="0">
                          <a:solidFill>
                            <a:srgbClr val="1A1A1A"/>
                          </a:solidFill>
                          <a:latin typeface="Arial"/>
                        </a:rPr>
                        <a:t>El motor de texto a voz de Google estaba desactivado en el teléfono</a:t>
                      </a:r>
                    </a:p>
                  </a:txBody>
                  <a:tcPr marL="54864" marR="54864" marT="27432" marB="27432" anchor="ctr">
                    <a:solidFill>
                      <a:srgbClr val="FFFFFF"/>
                    </a:solidFill>
                  </a:tcPr>
                </a:tc>
                <a:tc>
                  <a:txBody>
                    <a:bodyPr/>
                    <a:lstStyle/>
                    <a:p>
                      <a:pPr algn="l"/>
                      <a:r>
                        <a:rPr lang="es-CL" sz="1000" b="0" noProof="0" dirty="0">
                          <a:solidFill>
                            <a:srgbClr val="1A1A1A"/>
                          </a:solidFill>
                          <a:latin typeface="Arial"/>
                        </a:rPr>
                        <a:t>Se activó en Ajustes; queda como requisito de instalación</a:t>
                      </a:r>
                    </a:p>
                  </a:txBody>
                  <a:tcPr marL="54864" marR="54864"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78" name="TextBox 77"/>
          <p:cNvSpPr txBox="1"/>
          <p:nvPr/>
        </p:nvSpPr>
        <p:spPr>
          <a:xfrm>
            <a:off x="502920" y="2514600"/>
            <a:ext cx="8138160" cy="357983"/>
          </a:xfrm>
          <a:prstGeom prst="rect">
            <a:avLst/>
          </a:prstGeom>
          <a:noFill/>
        </p:spPr>
        <p:txBody>
          <a:bodyPr wrap="square" lIns="0" tIns="0" rIns="0" bIns="0" anchor="t">
            <a:spAutoFit/>
          </a:bodyPr>
          <a:lstStyle/>
          <a:p>
            <a:pPr algn="l">
              <a:lnSpc>
                <a:spcPct val="110000"/>
              </a:lnSpc>
              <a:spcAft>
                <a:spcPts val="400"/>
              </a:spcAft>
            </a:pPr>
            <a:r>
              <a:rPr lang="es-CL" sz="1100" b="0" i="1" noProof="0" dirty="0">
                <a:solidFill>
                  <a:srgbClr val="555555"/>
                </a:solidFill>
                <a:latin typeface="Arial"/>
              </a:rPr>
              <a:t>Cada error se diagnosticó con Logcat antes de cambiar el código (análisis de causa raíz).</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7"/>
          <p:cNvSpPr txBox="1">
            <a:spLocks noGrp="1"/>
          </p:cNvSpPr>
          <p:nvPr>
            <p:ph type="title"/>
          </p:nvPr>
        </p:nvSpPr>
        <p:spPr>
          <a:xfrm>
            <a:off x="1106176" y="324998"/>
            <a:ext cx="7726800" cy="338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s-CL" sz="2200" b="1" noProof="0" dirty="0">
                <a:solidFill>
                  <a:srgbClr val="1A1A1A"/>
                </a:solidFill>
                <a:latin typeface="Arial"/>
              </a:rPr>
              <a:t>Demostración en vivo</a:t>
            </a:r>
            <a:endParaRPr lang="es-CL" b="1" noProof="0" dirty="0"/>
          </a:p>
        </p:txBody>
      </p:sp>
      <p:sp>
        <p:nvSpPr>
          <p:cNvPr id="77" name="TextBox 76"/>
          <p:cNvSpPr txBox="1"/>
          <p:nvPr/>
        </p:nvSpPr>
        <p:spPr>
          <a:xfrm>
            <a:off x="502920" y="1005840"/>
            <a:ext cx="8138160" cy="553998"/>
          </a:xfrm>
          <a:prstGeom prst="rect">
            <a:avLst/>
          </a:prstGeom>
          <a:noFill/>
        </p:spPr>
        <p:txBody>
          <a:bodyPr wrap="square" lIns="0" tIns="0" rIns="0" bIns="0" anchor="t">
            <a:spAutoFit/>
          </a:bodyPr>
          <a:lstStyle/>
          <a:p>
            <a:r>
              <a:rPr lang="es-CL" sz="1200" noProof="0" dirty="0"/>
              <a:t>Demostración en el Samsung Galaxy J2 Core (Android 8.1 Go, 1 GB de RAM), el equipo de gama baja que representa al usuario objetivo.</a:t>
            </a:r>
            <a:endParaRPr lang="es-CL" sz="1350" b="1" i="0" noProof="0" dirty="0">
              <a:solidFill>
                <a:srgbClr val="143D73"/>
              </a:solidFill>
              <a:latin typeface="Arial"/>
            </a:endParaRPr>
          </a:p>
        </p:txBody>
      </p:sp>
      <p:sp>
        <p:nvSpPr>
          <p:cNvPr id="78" name="Rounded Rectangle 77"/>
          <p:cNvSpPr/>
          <p:nvPr/>
        </p:nvSpPr>
        <p:spPr>
          <a:xfrm>
            <a:off x="564797" y="1901980"/>
            <a:ext cx="8138160" cy="1783080"/>
          </a:xfrm>
          <a:prstGeom prst="roundRect">
            <a:avLst>
              <a:gd name="adj" fmla="val 8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28016" rIns="228600" bIns="128016" rtlCol="0" anchor="ctr"/>
          <a:lstStyle/>
          <a:p>
            <a:pPr algn="l">
              <a:lnSpc>
                <a:spcPct val="110000"/>
              </a:lnSpc>
              <a:spcAft>
                <a:spcPts val="400"/>
              </a:spcAft>
            </a:pPr>
            <a:r>
              <a:rPr lang="es-CL" sz="1200" b="1" i="0" noProof="0" dirty="0">
                <a:solidFill>
                  <a:srgbClr val="143D73"/>
                </a:solidFill>
                <a:latin typeface="Arial"/>
              </a:rPr>
              <a:t>1.</a:t>
            </a:r>
            <a:r>
              <a:rPr lang="es-CL" sz="1200" b="1" i="0" noProof="0" dirty="0">
                <a:solidFill>
                  <a:srgbClr val="143D73"/>
                </a:solidFill>
                <a:latin typeface="Arial"/>
              </a:rPr>
              <a:t> «¿Qué hora es?» → responde la hora por voz y en pantalla</a:t>
            </a:r>
          </a:p>
          <a:p>
            <a:pPr algn="l">
              <a:lnSpc>
                <a:spcPct val="110000"/>
              </a:lnSpc>
              <a:spcAft>
                <a:spcPts val="400"/>
              </a:spcAft>
            </a:pPr>
            <a:r>
              <a:rPr lang="es-CL" sz="1200" b="1" i="0" noProof="0" dirty="0">
                <a:solidFill>
                  <a:srgbClr val="143D73"/>
                </a:solidFill>
                <a:latin typeface="Arial"/>
              </a:rPr>
              <a:t>2.</a:t>
            </a:r>
            <a:r>
              <a:rPr lang="es-CL" sz="1200" b="1" i="0" noProof="0" dirty="0">
                <a:solidFill>
                  <a:srgbClr val="143D73"/>
                </a:solidFill>
                <a:latin typeface="Arial"/>
              </a:rPr>
              <a:t> «¿Qué día es hoy?» → responde la fecha</a:t>
            </a:r>
          </a:p>
          <a:p>
            <a:pPr algn="l">
              <a:lnSpc>
                <a:spcPct val="110000"/>
              </a:lnSpc>
              <a:spcAft>
                <a:spcPts val="400"/>
              </a:spcAft>
            </a:pPr>
            <a:r>
              <a:rPr lang="es-CL" sz="1200" b="1" i="0" noProof="0" dirty="0">
                <a:solidFill>
                  <a:srgbClr val="143D73"/>
                </a:solidFill>
                <a:latin typeface="Arial"/>
              </a:rPr>
              <a:t>3.</a:t>
            </a:r>
            <a:r>
              <a:rPr lang="es-CL" sz="1200" b="1" i="0" noProof="0" dirty="0">
                <a:solidFill>
                  <a:srgbClr val="143D73"/>
                </a:solidFill>
                <a:latin typeface="Arial"/>
              </a:rPr>
              <a:t> «Enciende la linterna» y «apaga la linterna»</a:t>
            </a:r>
          </a:p>
          <a:p>
            <a:pPr algn="l">
              <a:lnSpc>
                <a:spcPct val="110000"/>
              </a:lnSpc>
              <a:spcAft>
                <a:spcPts val="400"/>
              </a:spcAft>
            </a:pPr>
            <a:r>
              <a:rPr lang="es-CL" sz="1200" b="1" i="0" noProof="0" dirty="0">
                <a:solidFill>
                  <a:srgbClr val="143D73"/>
                </a:solidFill>
                <a:latin typeface="Arial"/>
              </a:rPr>
              <a:t>4.</a:t>
            </a:r>
            <a:r>
              <a:rPr lang="es-CL" sz="1200" b="1" i="0" noProof="0" dirty="0">
                <a:solidFill>
                  <a:srgbClr val="143D73"/>
                </a:solidFill>
                <a:latin typeface="Arial"/>
              </a:rPr>
              <a:t> «Sube el volumen» y «baja el volumen»</a:t>
            </a:r>
          </a:p>
          <a:p>
            <a:pPr algn="l">
              <a:lnSpc>
                <a:spcPct val="110000"/>
              </a:lnSpc>
              <a:spcAft>
                <a:spcPts val="400"/>
              </a:spcAft>
            </a:pPr>
            <a:r>
              <a:rPr lang="es-CL" sz="1200" b="0" i="0" noProof="0" dirty="0">
                <a:solidFill>
                  <a:srgbClr val="143D73"/>
                </a:solidFill>
                <a:latin typeface="Arial"/>
              </a:rPr>
              <a:t>Respaldo: video grabado, solo si falla la conexión a internet.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7"/>
          <p:cNvSpPr txBox="1">
            <a:spLocks noGrp="1"/>
          </p:cNvSpPr>
          <p:nvPr>
            <p:ph type="title"/>
          </p:nvPr>
        </p:nvSpPr>
        <p:spPr>
          <a:xfrm>
            <a:off x="1106176" y="324998"/>
            <a:ext cx="7726800" cy="338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s-CL" sz="2200" b="1" noProof="0" dirty="0">
                <a:solidFill>
                  <a:srgbClr val="1A1A1A"/>
                </a:solidFill>
                <a:latin typeface="Arial"/>
              </a:rPr>
              <a:t>Próximos pasos: 100 % al 20 de noviembre</a:t>
            </a:r>
            <a:endParaRPr lang="es-CL" b="1" noProof="0" dirty="0"/>
          </a:p>
        </p:txBody>
      </p:sp>
      <p:sp>
        <p:nvSpPr>
          <p:cNvPr id="77" name="TextBox 76"/>
          <p:cNvSpPr txBox="1"/>
          <p:nvPr/>
        </p:nvSpPr>
        <p:spPr>
          <a:xfrm>
            <a:off x="502920" y="1005840"/>
            <a:ext cx="3931920" cy="1783080"/>
          </a:xfrm>
          <a:prstGeom prst="rect">
            <a:avLst/>
          </a:prstGeom>
          <a:noFill/>
        </p:spPr>
        <p:txBody>
          <a:bodyPr wrap="square" lIns="0" tIns="0" rIns="0" bIns="0" anchor="t">
            <a:spAutoFit/>
          </a:bodyPr>
          <a:lstStyle/>
          <a:p>
            <a:pPr algn="l">
              <a:spcAft>
                <a:spcPts val="500"/>
              </a:spcAft>
            </a:pPr>
            <a:r>
              <a:rPr lang="es-CL" sz="1300" b="1" i="0" noProof="0" dirty="0">
                <a:solidFill>
                  <a:srgbClr val="143D73"/>
                </a:solidFill>
                <a:latin typeface="Arial"/>
              </a:rPr>
              <a:t>Paso 4 · Alarma y confirmación</a:t>
            </a:r>
          </a:p>
          <a:p>
            <a:pPr marL="182880" indent="-182880" algn="l">
              <a:lnSpc>
                <a:spcPct val="105000"/>
              </a:lnSpc>
              <a:spcAft>
                <a:spcPts val="400"/>
              </a:spcAft>
              <a:buFont typeface="Arial"/>
              <a:buChar char="•"/>
            </a:pPr>
            <a:r>
              <a:rPr lang="es-CL" sz="1030" b="0" i="0" noProof="0" dirty="0">
                <a:solidFill>
                  <a:srgbClr val="1A1A1A"/>
                </a:solidFill>
                <a:latin typeface="Arial"/>
              </a:rPr>
              <a:t>Pantallas de confirmación y de aclaración («¿Quisiste decir…?»).</a:t>
            </a:r>
          </a:p>
          <a:p>
            <a:pPr marL="182880" indent="-182880" algn="l">
              <a:lnSpc>
                <a:spcPct val="105000"/>
              </a:lnSpc>
              <a:spcAft>
                <a:spcPts val="400"/>
              </a:spcAft>
              <a:buFont typeface="Arial"/>
              <a:buChar char="•"/>
            </a:pPr>
            <a:r>
              <a:rPr lang="es-CL" sz="1030" b="0" i="0" noProof="0" dirty="0">
                <a:solidFill>
                  <a:srgbClr val="1A1A1A"/>
                </a:solidFill>
                <a:latin typeface="Arial"/>
              </a:rPr>
              <a:t>Alarma por voz con pantalla de resultado (RF-04, RF-05, RF-10).</a:t>
            </a:r>
          </a:p>
        </p:txBody>
      </p:sp>
      <p:sp>
        <p:nvSpPr>
          <p:cNvPr id="78" name="TextBox 77"/>
          <p:cNvSpPr txBox="1"/>
          <p:nvPr/>
        </p:nvSpPr>
        <p:spPr>
          <a:xfrm>
            <a:off x="4663440" y="1005840"/>
            <a:ext cx="3931920" cy="1783080"/>
          </a:xfrm>
          <a:prstGeom prst="rect">
            <a:avLst/>
          </a:prstGeom>
          <a:noFill/>
        </p:spPr>
        <p:txBody>
          <a:bodyPr wrap="square" lIns="0" tIns="0" rIns="0" bIns="0" anchor="t">
            <a:spAutoFit/>
          </a:bodyPr>
          <a:lstStyle/>
          <a:p>
            <a:pPr algn="l">
              <a:spcAft>
                <a:spcPts val="500"/>
              </a:spcAft>
            </a:pPr>
            <a:r>
              <a:rPr lang="es-CL" sz="1300" b="1" i="0" noProof="0" dirty="0">
                <a:solidFill>
                  <a:srgbClr val="143D73"/>
                </a:solidFill>
                <a:latin typeface="Arial"/>
              </a:rPr>
              <a:t>Pasos 5 y 6 · Contactos, llamadas y mensajes</a:t>
            </a:r>
          </a:p>
          <a:p>
            <a:pPr marL="182880" indent="-182880" algn="l">
              <a:lnSpc>
                <a:spcPct val="105000"/>
              </a:lnSpc>
              <a:spcAft>
                <a:spcPts val="400"/>
              </a:spcAft>
              <a:buFont typeface="Arial"/>
              <a:buChar char="•"/>
            </a:pPr>
            <a:r>
              <a:rPr lang="es-CL" sz="1030" b="0" i="0" noProof="0" dirty="0">
                <a:solidFill>
                  <a:srgbClr val="1A1A1A"/>
                </a:solidFill>
                <a:latin typeface="Arial"/>
              </a:rPr>
              <a:t>Contactos frecuentes con Room y pantalla de Contactos (RF-11).</a:t>
            </a:r>
          </a:p>
          <a:p>
            <a:pPr marL="182880" indent="-182880" algn="l">
              <a:lnSpc>
                <a:spcPct val="105000"/>
              </a:lnSpc>
              <a:spcAft>
                <a:spcPts val="400"/>
              </a:spcAft>
              <a:buFont typeface="Arial"/>
              <a:buChar char="•"/>
            </a:pPr>
            <a:r>
              <a:rPr lang="es-CL" sz="1030" b="0" i="0" noProof="0" dirty="0">
                <a:solidFill>
                  <a:srgbClr val="1A1A1A"/>
                </a:solidFill>
                <a:latin typeface="Arial"/>
              </a:rPr>
              <a:t>Llamada y mensaje por voz con confirmación (RF-06, RF-07).</a:t>
            </a:r>
          </a:p>
        </p:txBody>
      </p:sp>
      <p:sp>
        <p:nvSpPr>
          <p:cNvPr id="79" name="TextBox 78"/>
          <p:cNvSpPr txBox="1"/>
          <p:nvPr/>
        </p:nvSpPr>
        <p:spPr>
          <a:xfrm>
            <a:off x="502920" y="2926080"/>
            <a:ext cx="3931920" cy="1783080"/>
          </a:xfrm>
          <a:prstGeom prst="rect">
            <a:avLst/>
          </a:prstGeom>
          <a:noFill/>
        </p:spPr>
        <p:txBody>
          <a:bodyPr wrap="square" lIns="0" tIns="0" rIns="0" bIns="0" anchor="t">
            <a:spAutoFit/>
          </a:bodyPr>
          <a:lstStyle/>
          <a:p>
            <a:pPr algn="l">
              <a:spcAft>
                <a:spcPts val="500"/>
              </a:spcAft>
            </a:pPr>
            <a:r>
              <a:rPr lang="es-CL" sz="1300" b="1" i="0" noProof="0" dirty="0">
                <a:solidFill>
                  <a:srgbClr val="143D73"/>
                </a:solidFill>
                <a:latin typeface="Arial"/>
              </a:rPr>
              <a:t>Paso 7 · Preferencias</a:t>
            </a:r>
          </a:p>
          <a:p>
            <a:pPr marL="182880" indent="-182880" algn="l">
              <a:lnSpc>
                <a:spcPct val="105000"/>
              </a:lnSpc>
              <a:spcAft>
                <a:spcPts val="400"/>
              </a:spcAft>
              <a:buFont typeface="Arial"/>
              <a:buChar char="•"/>
            </a:pPr>
            <a:r>
              <a:rPr lang="es-CL" sz="1030" b="0" i="0" noProof="0" dirty="0">
                <a:solidFill>
                  <a:srgbClr val="1A1A1A"/>
                </a:solidFill>
                <a:latin typeface="Arial"/>
              </a:rPr>
              <a:t>Tamaño de texto y volumen de voz con DataStore (RF-12).</a:t>
            </a:r>
          </a:p>
        </p:txBody>
      </p:sp>
      <p:sp>
        <p:nvSpPr>
          <p:cNvPr id="80" name="TextBox 79"/>
          <p:cNvSpPr txBox="1"/>
          <p:nvPr/>
        </p:nvSpPr>
        <p:spPr>
          <a:xfrm>
            <a:off x="4663440" y="2926080"/>
            <a:ext cx="3931920" cy="1783080"/>
          </a:xfrm>
          <a:prstGeom prst="rect">
            <a:avLst/>
          </a:prstGeom>
          <a:noFill/>
        </p:spPr>
        <p:txBody>
          <a:bodyPr wrap="square" lIns="0" tIns="0" rIns="0" bIns="0" anchor="t">
            <a:spAutoFit/>
          </a:bodyPr>
          <a:lstStyle/>
          <a:p>
            <a:pPr algn="l">
              <a:spcAft>
                <a:spcPts val="500"/>
              </a:spcAft>
            </a:pPr>
            <a:r>
              <a:rPr lang="es-CL" sz="1300" b="1" i="0" noProof="0" dirty="0">
                <a:solidFill>
                  <a:srgbClr val="143D73"/>
                </a:solidFill>
                <a:latin typeface="Arial"/>
              </a:rPr>
              <a:t>Paso 8 · Seguridad y pruebas</a:t>
            </a:r>
          </a:p>
          <a:p>
            <a:pPr marL="182880" indent="-182880" algn="l">
              <a:lnSpc>
                <a:spcPct val="105000"/>
              </a:lnSpc>
              <a:spcAft>
                <a:spcPts val="400"/>
              </a:spcAft>
              <a:buFont typeface="Arial"/>
              <a:buChar char="•"/>
            </a:pPr>
            <a:r>
              <a:rPr lang="es-CL" sz="1030" b="0" i="0" noProof="0" dirty="0">
                <a:solidFill>
                  <a:srgbClr val="1A1A1A"/>
                </a:solidFill>
                <a:latin typeface="Arial"/>
              </a:rPr>
              <a:t>Cifrado (SQLCipher + Keystore) y PIN para Ajustes (RNF-05).</a:t>
            </a:r>
          </a:p>
          <a:p>
            <a:pPr marL="182880" indent="-182880" algn="l">
              <a:lnSpc>
                <a:spcPct val="105000"/>
              </a:lnSpc>
              <a:spcAft>
                <a:spcPts val="400"/>
              </a:spcAft>
              <a:buFont typeface="Arial"/>
              <a:buChar char="•"/>
            </a:pPr>
            <a:r>
              <a:rPr lang="es-CL" sz="1030" b="0" i="0" noProof="0" dirty="0">
                <a:solidFill>
                  <a:srgbClr val="1A1A1A"/>
                </a:solidFill>
                <a:latin typeface="Arial"/>
              </a:rPr>
              <a:t>TalkBack, Espresso y medición del tiempo de respuesta ≤ 3 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itleConclusion"/>
          <p:cNvSpPr txBox="1">
            <a:spLocks noGrp="1"/>
          </p:cNvSpPr>
          <p:nvPr>
            <p:ph type="title"/>
          </p:nvPr>
        </p:nvSpPr>
        <p:spPr>
          <a:xfrm>
            <a:off x="490220" y="1050000"/>
            <a:ext cx="5486400" cy="600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CL" sz="2800" b="1" noProof="0" dirty="0"/>
              <a:t>Conclusión</a:t>
            </a:r>
          </a:p>
        </p:txBody>
      </p:sp>
      <p:sp>
        <p:nvSpPr>
          <p:cNvPr id="91" name="BodyConclusion"/>
          <p:cNvSpPr txBox="1"/>
          <p:nvPr/>
        </p:nvSpPr>
        <p:spPr>
          <a:xfrm>
            <a:off x="490220" y="1750000"/>
            <a:ext cx="5486400" cy="3300000"/>
          </a:xfrm>
          <a:prstGeom prst="rect">
            <a:avLst/>
          </a:prstGeom>
          <a:noFill/>
          <a:ln>
            <a:noFill/>
          </a:ln>
        </p:spPr>
        <p:txBody>
          <a:bodyPr spcFirstLastPara="1" wrap="square" lIns="0" tIns="0" rIns="0" bIns="0" anchor="t" anchorCtr="0">
            <a:noAutofit/>
          </a:bodyPr>
          <a:lstStyle/>
          <a:p>
            <a:pPr marL="0" indent="0" algn="l" rtl="0">
              <a:lnSpc>
                <a:spcPct val="115000"/>
              </a:lnSpc>
              <a:spcAft>
                <a:spcPts val="1000"/>
              </a:spcAft>
              <a:buNone/>
            </a:pPr>
            <a:r>
              <a:rPr lang="es-CL" sz="1250" b="0" i="0" noProof="0" dirty="0">
                <a:solidFill>
                  <a:srgbClr val="1A1A1A"/>
                </a:solidFill>
                <a:latin typeface="Arial"/>
              </a:rPr>
              <a:t>La arquitectura MVVM definida en la Fase 1 quedó validada: la aplicación funciona de punta a punta en un teléfono de 1 GB de RAM.</a:t>
            </a:r>
          </a:p>
          <a:p>
            <a:pPr algn="l">
              <a:lnSpc>
                <a:spcPct val="115000"/>
              </a:lnSpc>
              <a:spcAft>
                <a:spcPts val="1000"/>
              </a:spcAft>
            </a:pPr>
            <a:r>
              <a:rPr lang="es-CL" sz="1250" b="0" i="0" noProof="0" dirty="0">
                <a:solidFill>
                  <a:srgbClr val="1A1A1A"/>
                </a:solidFill>
                <a:latin typeface="Arial"/>
              </a:rPr>
              <a:t>El núcleo del proyecto (escuchar, interpretar y decidir) está completo y cubierto por 61 pruebas automatizadas. Lo que falta se concentra en la interfaz y en las acciones críticas.</a:t>
            </a:r>
          </a:p>
          <a:p>
            <a:pPr algn="l">
              <a:lnSpc>
                <a:spcPct val="115000"/>
              </a:lnSpc>
              <a:spcAft>
                <a:spcPts val="0"/>
              </a:spcAft>
            </a:pPr>
            <a:r>
              <a:rPr lang="es-CL" sz="1250" b="1" i="0" noProof="0" dirty="0">
                <a:solidFill>
                  <a:srgbClr val="143D73"/>
                </a:solidFill>
                <a:latin typeface="Arial"/>
              </a:rPr>
              <a:t>Siguiente etapa: completar los pasos 4 a 8 para tener el 100 % de la aplicación el 20 de noviembre.</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TotalTime>
  <Words>1206</Words>
  <Application>Microsoft Office PowerPoint</Application>
  <PresentationFormat>Presentación en pantalla (16:9)</PresentationFormat>
  <Paragraphs>196</Paragraphs>
  <Slides>17</Slides>
  <Notes>2</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17</vt:i4>
      </vt:variant>
    </vt:vector>
  </HeadingPairs>
  <TitlesOfParts>
    <vt:vector size="19" baseType="lpstr">
      <vt:lpstr>Arial</vt:lpstr>
      <vt:lpstr>Simple Light</vt:lpstr>
      <vt:lpstr>APP de Accesibilidad Adulto Mayor  </vt:lpstr>
      <vt:lpstr>Índice</vt:lpstr>
      <vt:lpstr>Introducción</vt:lpstr>
      <vt:lpstr>Contexto</vt:lpstr>
      <vt:lpstr>Problemática</vt:lpstr>
      <vt:lpstr>Solución</vt:lpstr>
      <vt:lpstr>Metodología de Trabajo</vt:lpstr>
      <vt:lpstr>Plan de Trabajo</vt:lpstr>
      <vt:lpstr>Roles y Responsabilidades</vt:lpstr>
      <vt:lpstr>Mapa Tecnológico</vt:lpstr>
      <vt:lpstr>Competencias</vt:lpstr>
      <vt:lpstr>Arquitectura — MVVM</vt:lpstr>
      <vt:lpstr>Riesgos</vt:lpstr>
      <vt:lpstr>Seguridad</vt:lpstr>
      <vt:lpstr>Modelo de Negocio</vt:lpstr>
      <vt:lpstr>Mockup</vt:lpstr>
      <vt:lpstr>Conclusión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MIGUEL ANGEL PEREIRA PALAVICINO</cp:lastModifiedBy>
  <cp:revision>8</cp:revision>
  <dcterms:modified xsi:type="dcterms:W3CDTF">2026-09-03T02:45:34Z</dcterms:modified>
</cp:coreProperties>
</file>